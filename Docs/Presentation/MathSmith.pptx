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Inter SemiBold"/>
      <p:regular r:id="rId20"/>
      <p:bold r:id="rId21"/>
      <p:italic r:id="rId22"/>
      <p:boldItalic r:id="rId23"/>
    </p:embeddedFont>
    <p:embeddedFont>
      <p:font typeface="Fira Code Medium"/>
      <p:regular r:id="rId24"/>
      <p:bold r:id="rId25"/>
    </p:embeddedFont>
    <p:embeddedFont>
      <p:font typeface="Inter"/>
      <p:regular r:id="rId26"/>
      <p:bold r:id="rId27"/>
      <p:italic r:id="rId28"/>
      <p:boldItalic r:id="rId29"/>
    </p:embeddedFont>
    <p:embeddedFont>
      <p:font typeface="Fira Code SemiBold"/>
      <p:regular r:id="rId30"/>
      <p:bold r:id="rId31"/>
    </p:embeddedFont>
    <p:embeddedFont>
      <p:font typeface="Outfit SemiBold"/>
      <p:regular r:id="rId32"/>
      <p:bold r:id="rId33"/>
    </p:embeddedFont>
    <p:embeddedFont>
      <p:font typeface="Outfit Medium"/>
      <p:regular r:id="rId34"/>
      <p:bold r:id="rId35"/>
    </p:embeddedFont>
    <p:embeddedFont>
      <p:font typeface="Fira Code"/>
      <p:regular r:id="rId36"/>
      <p:bold r:id="rId37"/>
    </p:embeddedFont>
    <p:embeddedFont>
      <p:font typeface="Inter Medium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InterMedium-italic.fntdata"/><Relationship Id="rId20" Type="http://schemas.openxmlformats.org/officeDocument/2006/relationships/font" Target="fonts/InterSemiBold-regular.fntdata"/><Relationship Id="rId41" Type="http://schemas.openxmlformats.org/officeDocument/2006/relationships/font" Target="fonts/InterMedium-boldItalic.fntdata"/><Relationship Id="rId22" Type="http://schemas.openxmlformats.org/officeDocument/2006/relationships/font" Target="fonts/InterSemiBold-italic.fntdata"/><Relationship Id="rId21" Type="http://schemas.openxmlformats.org/officeDocument/2006/relationships/font" Target="fonts/InterSemiBold-bold.fntdata"/><Relationship Id="rId24" Type="http://schemas.openxmlformats.org/officeDocument/2006/relationships/font" Target="fonts/FiraCodeMedium-regular.fntdata"/><Relationship Id="rId23" Type="http://schemas.openxmlformats.org/officeDocument/2006/relationships/font" Target="fonts/InterSemiBold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-regular.fntdata"/><Relationship Id="rId25" Type="http://schemas.openxmlformats.org/officeDocument/2006/relationships/font" Target="fonts/FiraCodeMedium-bold.fntdata"/><Relationship Id="rId28" Type="http://schemas.openxmlformats.org/officeDocument/2006/relationships/font" Target="fonts/Inter-italic.fntdata"/><Relationship Id="rId27" Type="http://schemas.openxmlformats.org/officeDocument/2006/relationships/font" Target="fonts/Inter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Inter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FiraCodeSemiBold-bold.fntdata"/><Relationship Id="rId30" Type="http://schemas.openxmlformats.org/officeDocument/2006/relationships/font" Target="fonts/FiraCodeSemiBold-regular.fntdata"/><Relationship Id="rId11" Type="http://schemas.openxmlformats.org/officeDocument/2006/relationships/slide" Target="slides/slide6.xml"/><Relationship Id="rId33" Type="http://schemas.openxmlformats.org/officeDocument/2006/relationships/font" Target="fonts/OutfitSemiBold-bold.fntdata"/><Relationship Id="rId10" Type="http://schemas.openxmlformats.org/officeDocument/2006/relationships/slide" Target="slides/slide5.xml"/><Relationship Id="rId32" Type="http://schemas.openxmlformats.org/officeDocument/2006/relationships/font" Target="fonts/OutfitSemiBold-regular.fntdata"/><Relationship Id="rId13" Type="http://schemas.openxmlformats.org/officeDocument/2006/relationships/slide" Target="slides/slide8.xml"/><Relationship Id="rId35" Type="http://schemas.openxmlformats.org/officeDocument/2006/relationships/font" Target="fonts/OutfitMedium-bold.fntdata"/><Relationship Id="rId12" Type="http://schemas.openxmlformats.org/officeDocument/2006/relationships/slide" Target="slides/slide7.xml"/><Relationship Id="rId34" Type="http://schemas.openxmlformats.org/officeDocument/2006/relationships/font" Target="fonts/OutfitMedium-regular.fntdata"/><Relationship Id="rId15" Type="http://schemas.openxmlformats.org/officeDocument/2006/relationships/slide" Target="slides/slide10.xml"/><Relationship Id="rId37" Type="http://schemas.openxmlformats.org/officeDocument/2006/relationships/font" Target="fonts/FiraCode-bold.fntdata"/><Relationship Id="rId14" Type="http://schemas.openxmlformats.org/officeDocument/2006/relationships/slide" Target="slides/slide9.xml"/><Relationship Id="rId36" Type="http://schemas.openxmlformats.org/officeDocument/2006/relationships/font" Target="fonts/FiraCode-regular.fntdata"/><Relationship Id="rId17" Type="http://schemas.openxmlformats.org/officeDocument/2006/relationships/slide" Target="slides/slide12.xml"/><Relationship Id="rId39" Type="http://schemas.openxmlformats.org/officeDocument/2006/relationships/font" Target="fonts/InterMedium-bold.fntdata"/><Relationship Id="rId16" Type="http://schemas.openxmlformats.org/officeDocument/2006/relationships/slide" Target="slides/slide11.xml"/><Relationship Id="rId38" Type="http://schemas.openxmlformats.org/officeDocument/2006/relationships/font" Target="fonts/InterMedium-regular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9b41323cc_24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9b41323cc_2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9b41323cc_23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f9b41323cc_2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f9b41323cc_22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f9b41323cc_2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f9b41323cc_21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f9b41323cc_2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f9b41323cc_20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f9b41323cc_2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f9b41323cc_19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f9b41323cc_19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f9b41323cc_18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f9b41323cc_18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f9b41323cc_17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f9b41323cc_17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f9b41323cc_16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f9b41323cc_1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f9b41323cc_15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f9b41323cc_15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2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f9b41323cc_14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4" name="Google Shape;504;g3f9b41323cc_1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f9b41323cc_13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3f9b41323cc_1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0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3f9b41323cc_12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3f9b41323cc_1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4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f9b41323cc_11_0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6" name="Google Shape;696;g3f9b41323cc_1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9b41323cc_10_0)">
  <p:cSld name="Generated (g3f9b41323cc_10_0)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" name="Google Shape;13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5" name="Google Shape;35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4" name="Google Shape;44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1" Type="http://schemas.openxmlformats.org/officeDocument/2006/relationships/image" Target="../media/image14.png"/><Relationship Id="rId10" Type="http://schemas.openxmlformats.org/officeDocument/2006/relationships/image" Target="../media/image7.png"/><Relationship Id="rId13" Type="http://schemas.openxmlformats.org/officeDocument/2006/relationships/image" Target="../media/image16.png"/><Relationship Id="rId1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9" Type="http://schemas.openxmlformats.org/officeDocument/2006/relationships/image" Target="../media/image8.png"/><Relationship Id="rId5" Type="http://schemas.openxmlformats.org/officeDocument/2006/relationships/image" Target="../media/image4.png"/><Relationship Id="rId6" Type="http://schemas.openxmlformats.org/officeDocument/2006/relationships/image" Target="../media/image3.png"/><Relationship Id="rId7" Type="http://schemas.openxmlformats.org/officeDocument/2006/relationships/image" Target="../media/image2.png"/><Relationship Id="rId8" Type="http://schemas.openxmlformats.org/officeDocument/2006/relationships/image" Target="../media/image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1.png"/><Relationship Id="rId5" Type="http://schemas.openxmlformats.org/officeDocument/2006/relationships/image" Target="../media/image2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7.png"/><Relationship Id="rId5" Type="http://schemas.openxmlformats.org/officeDocument/2006/relationships/image" Target="../media/image20.png"/><Relationship Id="rId6" Type="http://schemas.openxmlformats.org/officeDocument/2006/relationships/image" Target="../media/image2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3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35.png"/><Relationship Id="rId5" Type="http://schemas.openxmlformats.org/officeDocument/2006/relationships/image" Target="../media/image32.png"/><Relationship Id="rId6" Type="http://schemas.openxmlformats.org/officeDocument/2006/relationships/image" Target="../media/image34.png"/><Relationship Id="rId7" Type="http://schemas.openxmlformats.org/officeDocument/2006/relationships/image" Target="../media/image36.png"/><Relationship Id="rId8" Type="http://schemas.openxmlformats.org/officeDocument/2006/relationships/image" Target="../media/image3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41.png"/><Relationship Id="rId5" Type="http://schemas.openxmlformats.org/officeDocument/2006/relationships/image" Target="../media/image4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8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34600" cy="5048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" name="Google Shape;56;p14"/>
          <p:cNvGrpSpPr/>
          <p:nvPr/>
        </p:nvGrpSpPr>
        <p:grpSpPr>
          <a:xfrm>
            <a:off x="457200" y="457200"/>
            <a:ext cx="2247900" cy="285900"/>
            <a:chOff x="0" y="0"/>
            <a:chExt cx="2247900" cy="285900"/>
          </a:xfrm>
        </p:grpSpPr>
        <p:sp>
          <p:nvSpPr>
            <p:cNvPr id="57" name="Google Shape;57;p14"/>
            <p:cNvSpPr/>
            <p:nvPr/>
          </p:nvSpPr>
          <p:spPr>
            <a:xfrm>
              <a:off x="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14"/>
            <p:cNvSpPr/>
            <p:nvPr/>
          </p:nvSpPr>
          <p:spPr>
            <a:xfrm>
              <a:off x="66675" y="66675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0"/>
                  </a:lnTo>
                  <a:lnTo>
                    <a:pt x="60000" y="60000"/>
                  </a:lnTo>
                  <a:lnTo>
                    <a:pt x="120000" y="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14"/>
            <p:cNvSpPr txBox="1"/>
            <p:nvPr/>
          </p:nvSpPr>
          <p:spPr>
            <a:xfrm>
              <a:off x="342900" y="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4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MathSmith </a:t>
              </a:r>
              <a:r>
                <a:rPr b="0" lang="en" sz="1400">
                  <a:solidFill>
                    <a:srgbClr val="334155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|</a:t>
              </a:r>
              <a:r>
                <a:rPr b="0" lang="en" sz="14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 数锻</a:t>
              </a:r>
              <a:endParaRPr b="0" sz="14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grpSp>
        <p:nvGrpSpPr>
          <p:cNvPr id="60" name="Google Shape;60;p14"/>
          <p:cNvGrpSpPr/>
          <p:nvPr/>
        </p:nvGrpSpPr>
        <p:grpSpPr>
          <a:xfrm>
            <a:off x="457200" y="1095375"/>
            <a:ext cx="3810000" cy="3514725"/>
            <a:chOff x="0" y="0"/>
            <a:chExt cx="3810000" cy="3514725"/>
          </a:xfrm>
        </p:grpSpPr>
        <p:sp>
          <p:nvSpPr>
            <p:cNvPr id="61" name="Google Shape;61;p14"/>
            <p:cNvSpPr txBox="1"/>
            <p:nvPr/>
          </p:nvSpPr>
          <p:spPr>
            <a:xfrm>
              <a:off x="0" y="0"/>
              <a:ext cx="3810000" cy="2143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Educational Game Design Case Study</a:t>
              </a:r>
              <a:endParaRPr b="0" sz="10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" sz="38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MathSmith</a:t>
              </a:r>
              <a:endParaRPr b="0" sz="38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1200"/>
                </a:spcAft>
                <a:buNone/>
              </a:pPr>
              <a:r>
                <a:rPr b="0" lang="en" sz="1400">
                  <a:solidFill>
                    <a:srgbClr val="94A3B8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A Data-Driven Educational Math Game About Understanding the Process, Not Just Entering the Answer.</a:t>
              </a:r>
              <a:endParaRPr b="0" sz="1400">
                <a:solidFill>
                  <a:srgbClr val="94A3B8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</p:txBody>
        </p:sp>
        <p:grpSp>
          <p:nvGrpSpPr>
            <p:cNvPr id="62" name="Google Shape;62;p14"/>
            <p:cNvGrpSpPr/>
            <p:nvPr/>
          </p:nvGrpSpPr>
          <p:grpSpPr>
            <a:xfrm>
              <a:off x="0" y="2143125"/>
              <a:ext cx="3810000" cy="514500"/>
              <a:chOff x="0" y="0"/>
              <a:chExt cx="3810000" cy="514500"/>
            </a:xfrm>
          </p:grpSpPr>
          <p:sp>
            <p:nvSpPr>
              <p:cNvPr id="63" name="Google Shape;63;p14"/>
              <p:cNvSpPr/>
              <p:nvPr/>
            </p:nvSpPr>
            <p:spPr>
              <a:xfrm>
                <a:off x="0" y="0"/>
                <a:ext cx="38100" cy="514500"/>
              </a:xfrm>
              <a:prstGeom prst="roundRect">
                <a:avLst>
                  <a:gd fmla="val 50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" name="Google Shape;64;p14"/>
              <p:cNvSpPr txBox="1"/>
              <p:nvPr/>
            </p:nvSpPr>
            <p:spPr>
              <a:xfrm>
                <a:off x="152400" y="0"/>
                <a:ext cx="3657600" cy="514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i="1" lang="en" sz="1200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"Understand the process, not just the answer."</a:t>
                </a:r>
                <a:endParaRPr b="0" i="1" sz="120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65" name="Google Shape;65;p14"/>
            <p:cNvGrpSpPr/>
            <p:nvPr/>
          </p:nvGrpSpPr>
          <p:grpSpPr>
            <a:xfrm>
              <a:off x="0" y="2905125"/>
              <a:ext cx="3810000" cy="609600"/>
              <a:chOff x="0" y="0"/>
              <a:chExt cx="3810000" cy="609600"/>
            </a:xfrm>
          </p:grpSpPr>
          <p:sp>
            <p:nvSpPr>
              <p:cNvPr id="66" name="Google Shape;66;p14"/>
              <p:cNvSpPr/>
              <p:nvPr/>
            </p:nvSpPr>
            <p:spPr>
              <a:xfrm>
                <a:off x="0" y="0"/>
                <a:ext cx="3810000" cy="609600"/>
              </a:xfrm>
              <a:prstGeom prst="roundRect">
                <a:avLst>
                  <a:gd fmla="val 50000" name="adj"/>
                </a:avLst>
              </a:prstGeom>
              <a:solidFill>
                <a:srgbClr val="1E293B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" name="Google Shape;67;p14"/>
              <p:cNvSpPr/>
              <p:nvPr/>
            </p:nvSpPr>
            <p:spPr>
              <a:xfrm>
                <a:off x="76200" y="76200"/>
                <a:ext cx="457200" cy="457200"/>
              </a:xfrm>
              <a:prstGeom prst="ellipse">
                <a:avLst/>
              </a:prstGeom>
              <a:solidFill>
                <a:srgbClr val="0B1121"/>
              </a:solidFill>
              <a:ln cap="flat" cmpd="sng" w="14300">
                <a:solidFill>
                  <a:srgbClr val="3B82F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" name="Google Shape;68;p14"/>
              <p:cNvSpPr txBox="1"/>
              <p:nvPr/>
            </p:nvSpPr>
            <p:spPr>
              <a:xfrm>
                <a:off x="76200" y="76200"/>
                <a:ext cx="4572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06B6D4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YH</a:t>
                </a:r>
                <a:endParaRPr/>
              </a:p>
            </p:txBody>
          </p:sp>
          <p:sp>
            <p:nvSpPr>
              <p:cNvPr id="69" name="Google Shape;69;p14"/>
              <p:cNvSpPr txBox="1"/>
              <p:nvPr/>
            </p:nvSpPr>
            <p:spPr>
              <a:xfrm>
                <a:off x="685800" y="95250"/>
                <a:ext cx="2971800" cy="4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8FAFC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Designed &amp; Developed by Yitong Hu</a:t>
                </a:r>
                <a:endParaRPr b="0" sz="11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Godot · Educational Game Design · Technical Design · Learning Systems Design</a:t>
                </a:r>
                <a:endParaRPr b="0" sz="75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</p:txBody>
          </p:sp>
        </p:grpSp>
      </p:grpSp>
      <p:grpSp>
        <p:nvGrpSpPr>
          <p:cNvPr id="70" name="Google Shape;70;p14"/>
          <p:cNvGrpSpPr/>
          <p:nvPr/>
        </p:nvGrpSpPr>
        <p:grpSpPr>
          <a:xfrm>
            <a:off x="4572000" y="1333500"/>
            <a:ext cx="4248300" cy="2314500"/>
            <a:chOff x="0" y="0"/>
            <a:chExt cx="4248300" cy="2314500"/>
          </a:xfrm>
        </p:grpSpPr>
        <p:sp>
          <p:nvSpPr>
            <p:cNvPr id="71" name="Google Shape;71;p14"/>
            <p:cNvSpPr/>
            <p:nvPr/>
          </p:nvSpPr>
          <p:spPr>
            <a:xfrm>
              <a:off x="0" y="0"/>
              <a:ext cx="4114800" cy="2314500"/>
            </a:xfrm>
            <a:prstGeom prst="roundRect">
              <a:avLst>
                <a:gd fmla="val 4938" name="adj"/>
              </a:avLst>
            </a:prstGeom>
            <a:solidFill>
              <a:srgbClr val="1E293B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72" name="Google Shape;72;p14"/>
            <p:cNvGrpSpPr/>
            <p:nvPr/>
          </p:nvGrpSpPr>
          <p:grpSpPr>
            <a:xfrm>
              <a:off x="0" y="0"/>
              <a:ext cx="4248300" cy="2314500"/>
              <a:chOff x="0" y="0"/>
              <a:chExt cx="4248300" cy="2314500"/>
            </a:xfrm>
          </p:grpSpPr>
          <p:pic>
            <p:nvPicPr>
              <p:cNvPr id="73" name="Google Shape;73;p14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0" y="376238"/>
                <a:ext cx="4076700" cy="15336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74" name="Google Shape;74;p14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023938" y="0"/>
                <a:ext cx="2067000" cy="2314500"/>
              </a:xfrm>
              <a:prstGeom prst="rect">
                <a:avLst/>
              </a:prstGeom>
              <a:noFill/>
              <a:ln>
                <a:noFill/>
              </a:ln>
            </p:spPr>
          </p:pic>
          <p:grpSp>
            <p:nvGrpSpPr>
              <p:cNvPr id="75" name="Google Shape;75;p14"/>
              <p:cNvGrpSpPr/>
              <p:nvPr/>
            </p:nvGrpSpPr>
            <p:grpSpPr>
              <a:xfrm>
                <a:off x="276225" y="800100"/>
                <a:ext cx="1066800" cy="457200"/>
                <a:chOff x="-9525" y="-9525"/>
                <a:chExt cx="1066800" cy="457200"/>
              </a:xfrm>
            </p:grpSpPr>
            <p:pic>
              <p:nvPicPr>
                <p:cNvPr id="76" name="Google Shape;76;p14"/>
                <p:cNvPicPr preferRelativeResize="0"/>
                <p:nvPr/>
              </p:nvPicPr>
              <p:blipFill rotWithShape="1">
                <a:blip r:embed="rId6">
                  <a:alphaModFix/>
                </a:blip>
                <a:srcRect b="0" l="0" r="0" t="0"/>
                <a:stretch/>
              </p:blipFill>
              <p:spPr>
                <a:xfrm>
                  <a:off x="-9525" y="-9525"/>
                  <a:ext cx="1066800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77" name="Google Shape;77;p14"/>
                <p:cNvSpPr txBox="1"/>
                <p:nvPr/>
              </p:nvSpPr>
              <p:spPr>
                <a:xfrm>
                  <a:off x="0" y="0"/>
                  <a:ext cx="1047900" cy="438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00">
                      <a:solidFill>
                        <a:srgbClr val="3B82F6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rPr>
                    <a:t>INPUT EXPR</a:t>
                  </a:r>
                  <a:endParaRPr b="0" sz="800">
                    <a:solidFill>
                      <a:srgbClr val="3B82F6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endParaRPr>
                </a:p>
                <a:p>
                  <a:pPr indent="0" lvl="0" marL="0" rtl="0" algn="ctr">
                    <a:spcBef>
                      <a:spcPts val="150"/>
                    </a:spcBef>
                    <a:spcAft>
                      <a:spcPts val="0"/>
                    </a:spcAft>
                    <a:buNone/>
                  </a:pPr>
                  <a:r>
                    <a:rPr b="0" lang="en" sz="1000">
                      <a:solidFill>
                        <a:srgbClr val="F8FAFC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7 × 8</a:t>
                  </a:r>
                  <a:endParaRPr b="0" sz="1000">
                    <a:solidFill>
                      <a:srgbClr val="F8FAFC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endParaRPr>
                </a:p>
              </p:txBody>
            </p:sp>
          </p:grpSp>
          <p:pic>
            <p:nvPicPr>
              <p:cNvPr id="78" name="Google Shape;78;p14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1476375" y="981075"/>
                <a:ext cx="252300" cy="95400"/>
              </a:xfrm>
              <a:prstGeom prst="rect">
                <a:avLst/>
              </a:prstGeom>
              <a:noFill/>
              <a:ln>
                <a:noFill/>
              </a:ln>
            </p:spPr>
          </p:pic>
          <p:grpSp>
            <p:nvGrpSpPr>
              <p:cNvPr id="79" name="Google Shape;79;p14"/>
              <p:cNvGrpSpPr/>
              <p:nvPr/>
            </p:nvGrpSpPr>
            <p:grpSpPr>
              <a:xfrm>
                <a:off x="1847850" y="609600"/>
                <a:ext cx="1352700" cy="838200"/>
                <a:chOff x="-9525" y="-9525"/>
                <a:chExt cx="1352700" cy="838200"/>
              </a:xfrm>
            </p:grpSpPr>
            <p:pic>
              <p:nvPicPr>
                <p:cNvPr id="80" name="Google Shape;80;p14"/>
                <p:cNvPicPr preferRelativeResize="0"/>
                <p:nvPr/>
              </p:nvPicPr>
              <p:blipFill rotWithShape="1">
                <a:blip r:embed="rId8">
                  <a:alphaModFix/>
                </a:blip>
                <a:srcRect b="0" l="0" r="0" t="0"/>
                <a:stretch/>
              </p:blipFill>
              <p:spPr>
                <a:xfrm>
                  <a:off x="-9525" y="-9525"/>
                  <a:ext cx="1352700" cy="8382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81" name="Google Shape;81;p14"/>
                <p:cNvSpPr txBox="1"/>
                <p:nvPr/>
              </p:nvSpPr>
              <p:spPr>
                <a:xfrm>
                  <a:off x="0" y="0"/>
                  <a:ext cx="1333500" cy="819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750">
                      <a:solidFill>
                        <a:srgbClr val="06B6D4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rPr>
                    <a:t>DECONSTRUCTION</a:t>
                  </a:r>
                  <a:endParaRPr b="0" sz="750">
                    <a:solidFill>
                      <a:srgbClr val="06B6D4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endParaRPr>
                </a:p>
                <a:p>
                  <a:pPr indent="0" lvl="0" marL="0" rtl="0" algn="ctr">
                    <a:spcBef>
                      <a:spcPts val="300"/>
                    </a:spcBef>
                    <a:spcAft>
                      <a:spcPts val="0"/>
                    </a:spcAft>
                    <a:buNone/>
                  </a:pPr>
                  <a:r>
                    <a:rPr b="0" lang="en" sz="850">
                      <a:solidFill>
                        <a:srgbClr val="94A3B8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7 × (10 - 2)</a:t>
                  </a:r>
                  <a:endParaRPr b="0" sz="85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endParaRPr>
                </a:p>
                <a:p>
                  <a:pPr indent="0" lvl="0" marL="0" rtl="0" algn="ctr">
                    <a:spcBef>
                      <a:spcPts val="150"/>
                    </a:spcBef>
                    <a:spcAft>
                      <a:spcPts val="0"/>
                    </a:spcAft>
                    <a:buNone/>
                  </a:pPr>
                  <a:r>
                    <a:rPr b="0" lang="en" sz="950">
                      <a:solidFill>
                        <a:srgbClr val="F8FAFC"/>
                      </a:solidFill>
                      <a:latin typeface="Inter SemiBold"/>
                      <a:ea typeface="Inter SemiBold"/>
                      <a:cs typeface="Inter SemiBold"/>
                      <a:sym typeface="Inter SemiBold"/>
                    </a:rPr>
                    <a:t>70 - 14 = 56</a:t>
                  </a:r>
                  <a:endParaRPr b="0" sz="950">
                    <a:solidFill>
                      <a:srgbClr val="F8FAFC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endParaRPr>
                </a:p>
              </p:txBody>
            </p:sp>
          </p:grpSp>
          <p:pic>
            <p:nvPicPr>
              <p:cNvPr id="82" name="Google Shape;82;p14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333750" y="981075"/>
                <a:ext cx="204900" cy="95400"/>
              </a:xfrm>
              <a:prstGeom prst="rect">
                <a:avLst/>
              </a:prstGeom>
              <a:noFill/>
              <a:ln>
                <a:noFill/>
              </a:ln>
            </p:spPr>
          </p:pic>
          <p:grpSp>
            <p:nvGrpSpPr>
              <p:cNvPr id="83" name="Google Shape;83;p14"/>
              <p:cNvGrpSpPr/>
              <p:nvPr/>
            </p:nvGrpSpPr>
            <p:grpSpPr>
              <a:xfrm>
                <a:off x="3657600" y="800100"/>
                <a:ext cx="590700" cy="457200"/>
                <a:chOff x="-9525" y="-9525"/>
                <a:chExt cx="590700" cy="457200"/>
              </a:xfrm>
            </p:grpSpPr>
            <p:pic>
              <p:nvPicPr>
                <p:cNvPr id="84" name="Google Shape;84;p14"/>
                <p:cNvPicPr preferRelativeResize="0"/>
                <p:nvPr/>
              </p:nvPicPr>
              <p:blipFill rotWithShape="1">
                <a:blip r:embed="rId10">
                  <a:alphaModFix/>
                </a:blip>
                <a:srcRect b="0" l="0" r="0" t="0"/>
                <a:stretch/>
              </p:blipFill>
              <p:spPr>
                <a:xfrm>
                  <a:off x="-9525" y="-9525"/>
                  <a:ext cx="590700" cy="4572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85" name="Google Shape;85;p14"/>
                <p:cNvSpPr txBox="1"/>
                <p:nvPr/>
              </p:nvSpPr>
              <p:spPr>
                <a:xfrm>
                  <a:off x="0" y="0"/>
                  <a:ext cx="571500" cy="4383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00">
                      <a:solidFill>
                        <a:srgbClr val="94A3B8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rPr>
                    <a:t>MASTER</a:t>
                  </a:r>
                  <a:endParaRPr b="0" sz="80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endParaRPr>
                </a:p>
                <a:p>
                  <a:pPr indent="0" lvl="0" marL="0" rtl="0" algn="ctr">
                    <a:spcBef>
                      <a:spcPts val="150"/>
                    </a:spcBef>
                    <a:spcAft>
                      <a:spcPts val="0"/>
                    </a:spcAft>
                    <a:buNone/>
                  </a:pPr>
                  <a:r>
                    <a:rPr b="1" lang="en" sz="1100">
                      <a:solidFill>
                        <a:srgbClr val="06B6D4"/>
                      </a:solidFill>
                      <a:latin typeface="Inter"/>
                      <a:ea typeface="Inter"/>
                      <a:cs typeface="Inter"/>
                      <a:sym typeface="Inter"/>
                    </a:rPr>
                    <a:t>56</a:t>
                  </a:r>
                  <a:endParaRPr b="1" sz="1100">
                    <a:solidFill>
                      <a:srgbClr val="06B6D4"/>
                    </a:solidFill>
                    <a:latin typeface="Inter"/>
                    <a:ea typeface="Inter"/>
                    <a:cs typeface="Inter"/>
                    <a:sym typeface="Inter"/>
                  </a:endParaRPr>
                </a:p>
              </p:txBody>
            </p:sp>
          </p:grpSp>
          <p:pic>
            <p:nvPicPr>
              <p:cNvPr id="86" name="Google Shape;86;p14"/>
              <p:cNvPicPr preferRelativeResize="0"/>
              <p:nvPr/>
            </p:nvPicPr>
            <p:blipFill rotWithShape="1">
              <a:blip r:embed="rId11">
                <a:alphaModFix/>
              </a:blip>
              <a:srcRect b="0" l="0" r="0" t="0"/>
              <a:stretch/>
            </p:blipFill>
            <p:spPr>
              <a:xfrm>
                <a:off x="276225" y="1752600"/>
                <a:ext cx="3543300" cy="5286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7" name="Google Shape;87;p14"/>
              <p:cNvPicPr preferRelativeResize="0"/>
              <p:nvPr/>
            </p:nvPicPr>
            <p:blipFill rotWithShape="1">
              <a:blip r:embed="rId12">
                <a:alphaModFix/>
              </a:blip>
              <a:srcRect b="0" l="0" r="0" t="0"/>
              <a:stretch/>
            </p:blipFill>
            <p:spPr>
              <a:xfrm>
                <a:off x="2247900" y="2057400"/>
                <a:ext cx="76200" cy="762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88" name="Google Shape;88;p14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3771900" y="1724025"/>
                <a:ext cx="76200" cy="762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9" name="Google Shape;89;p14"/>
              <p:cNvSpPr txBox="1"/>
              <p:nvPr/>
            </p:nvSpPr>
            <p:spPr>
              <a:xfrm>
                <a:off x="285750" y="177165"/>
                <a:ext cx="1130100" cy="123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600">
                    <a:solidFill>
                      <a:srgbClr val="334155"/>
                    </a:solidFill>
                    <a:latin typeface="Fira Code"/>
                    <a:ea typeface="Fira Code"/>
                    <a:cs typeface="Fira Code"/>
                    <a:sym typeface="Fira Code"/>
                  </a:rPr>
                  <a:t>PROCESS_VIEWPORT: ACTIVE</a:t>
                </a:r>
                <a:endParaRPr sz="600">
                  <a:solidFill>
                    <a:srgbClr val="334155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2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5" name="Google Shape;9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34600" cy="5048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5"/>
          <p:cNvGrpSpPr/>
          <p:nvPr/>
        </p:nvGrpSpPr>
        <p:grpSpPr>
          <a:xfrm>
            <a:off x="457200" y="381000"/>
            <a:ext cx="8267700" cy="4286400"/>
            <a:chOff x="457200" y="381000"/>
            <a:chExt cx="8267700" cy="4286400"/>
          </a:xfrm>
        </p:grpSpPr>
        <p:grpSp>
          <p:nvGrpSpPr>
            <p:cNvPr id="97" name="Google Shape;97;p15"/>
            <p:cNvGrpSpPr/>
            <p:nvPr/>
          </p:nvGrpSpPr>
          <p:grpSpPr>
            <a:xfrm>
              <a:off x="6477000" y="457200"/>
              <a:ext cx="2247900" cy="285900"/>
              <a:chOff x="0" y="0"/>
              <a:chExt cx="2247900" cy="285900"/>
            </a:xfrm>
          </p:grpSpPr>
          <p:sp>
            <p:nvSpPr>
              <p:cNvPr id="98" name="Google Shape;98;p15"/>
              <p:cNvSpPr/>
              <p:nvPr/>
            </p:nvSpPr>
            <p:spPr>
              <a:xfrm>
                <a:off x="0" y="0"/>
                <a:ext cx="228600" cy="228600"/>
              </a:xfrm>
              <a:prstGeom prst="roundRect">
                <a:avLst>
                  <a:gd fmla="val 25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99" name="Google Shape;99;p15"/>
              <p:cNvSpPr/>
              <p:nvPr/>
            </p:nvSpPr>
            <p:spPr>
              <a:xfrm>
                <a:off x="66675" y="66675"/>
                <a:ext cx="95400" cy="954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lnTo>
                      <a:pt x="0" y="0"/>
                    </a:lnTo>
                    <a:lnTo>
                      <a:pt x="60000" y="60000"/>
                    </a:lnTo>
                    <a:lnTo>
                      <a:pt x="120000" y="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rnd" cmpd="sng" w="19050">
                <a:solidFill>
                  <a:srgbClr val="0B112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0" name="Google Shape;100;p15"/>
              <p:cNvSpPr txBox="1"/>
              <p:nvPr/>
            </p:nvSpPr>
            <p:spPr>
              <a:xfrm>
                <a:off x="342900" y="0"/>
                <a:ext cx="1905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400">
                    <a:solidFill>
                      <a:srgbClr val="F8FAFC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MathSmith </a:t>
                </a:r>
                <a:r>
                  <a:rPr b="0" lang="en" sz="1400">
                    <a:solidFill>
                      <a:srgbClr val="334155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|</a:t>
                </a:r>
                <a:r>
                  <a:rPr b="0" lang="en" sz="1400">
                    <a:solidFill>
                      <a:srgbClr val="F8FAFC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 数锻</a:t>
                </a:r>
                <a:endParaRPr b="0" sz="14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</p:grpSp>
        <p:sp>
          <p:nvSpPr>
            <p:cNvPr id="101" name="Google Shape;101;p15"/>
            <p:cNvSpPr txBox="1"/>
            <p:nvPr/>
          </p:nvSpPr>
          <p:spPr>
            <a:xfrm>
              <a:off x="457200" y="381000"/>
              <a:ext cx="5715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25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Core Thesis</a:t>
              </a:r>
              <a:endParaRPr b="0" sz="925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85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Most Math Exercises Only Evaluate the Final Answer</a:t>
              </a:r>
              <a:endParaRPr b="0" sz="185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457200" y="1047750"/>
              <a:ext cx="8229600" cy="9600"/>
            </a:xfrm>
            <a:prstGeom prst="rect">
              <a:avLst/>
            </a:prstGeom>
            <a:solidFill>
              <a:srgbClr val="33415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4572000" y="1333500"/>
              <a:ext cx="9600" cy="3333900"/>
            </a:xfrm>
            <a:prstGeom prst="rect">
              <a:avLst/>
            </a:prstGeom>
            <a:solidFill>
              <a:srgbClr val="334155">
                <a:alpha val="3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4" name="Google Shape;104;p15"/>
          <p:cNvSpPr txBox="1"/>
          <p:nvPr/>
        </p:nvSpPr>
        <p:spPr>
          <a:xfrm>
            <a:off x="457200" y="1333500"/>
            <a:ext cx="3810000" cy="333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EF4444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The Problem</a:t>
            </a:r>
            <a:endParaRPr b="0" sz="1000">
              <a:solidFill>
                <a:srgbClr val="EF4444"/>
              </a:solidFill>
              <a:latin typeface="Fira Code Medium"/>
              <a:ea typeface="Fira Code Medium"/>
              <a:cs typeface="Fira Code Medium"/>
              <a:sym typeface="Fira Code Medium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0" lang="en" sz="1300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rPr>
              <a:t>Students enter answers without demonstrating reasoning.</a:t>
            </a:r>
            <a:endParaRPr b="0" sz="1300">
              <a:solidFill>
                <a:srgbClr val="F8FAFC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94A3B8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The Question</a:t>
            </a:r>
            <a:endParaRPr b="0" sz="1000">
              <a:solidFill>
                <a:srgbClr val="94A3B8"/>
              </a:solidFill>
              <a:latin typeface="Fira Code Medium"/>
              <a:ea typeface="Fira Code Medium"/>
              <a:cs typeface="Fira Code Medium"/>
              <a:sym typeface="Fira Code Medium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0" lang="en" sz="1500">
                <a:solidFill>
                  <a:srgbClr val="06B6D4"/>
                </a:solidFill>
                <a:latin typeface="Outfit Medium"/>
                <a:ea typeface="Outfit Medium"/>
                <a:cs typeface="Outfit Medium"/>
                <a:sym typeface="Outfit Medium"/>
              </a:rPr>
              <a:t>What if the reasoning process became the gameplay?</a:t>
            </a:r>
            <a:endParaRPr b="0" sz="1500">
              <a:solidFill>
                <a:srgbClr val="06B6D4"/>
              </a:solidFill>
              <a:latin typeface="Outfit Medium"/>
              <a:ea typeface="Outfit Medium"/>
              <a:cs typeface="Outfit Medium"/>
              <a:sym typeface="Outfit Medium"/>
            </a:endParaRPr>
          </a:p>
          <a:p>
            <a:pPr indent="0" lvl="0" marL="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The Solution</a:t>
            </a:r>
            <a:endParaRPr b="0" sz="1000">
              <a:solidFill>
                <a:srgbClr val="06B6D4"/>
              </a:solidFill>
              <a:latin typeface="Fira Code Medium"/>
              <a:ea typeface="Fira Code Medium"/>
              <a:cs typeface="Fira Code Medium"/>
              <a:sym typeface="Fira Code Medium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0" lang="en" sz="1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Invisible intermediate steps become </a:t>
            </a:r>
            <a:r>
              <a:rPr b="0" lang="en" sz="1100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interactive objects</a:t>
            </a:r>
            <a:r>
              <a:rPr b="0" lang="en" sz="1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to reconstruct. Math equations are built layer-by-layer as modular, spatial nodes rather than passive calculations.</a:t>
            </a:r>
            <a:endParaRPr b="0" sz="1100">
              <a:solidFill>
                <a:srgbClr val="F8FAF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05" name="Google Shape;105;p15"/>
          <p:cNvGrpSpPr/>
          <p:nvPr/>
        </p:nvGrpSpPr>
        <p:grpSpPr>
          <a:xfrm>
            <a:off x="4876800" y="1333500"/>
            <a:ext cx="3810000" cy="3333900"/>
            <a:chOff x="0" y="0"/>
            <a:chExt cx="3810000" cy="3333900"/>
          </a:xfrm>
        </p:grpSpPr>
        <p:sp>
          <p:nvSpPr>
            <p:cNvPr id="106" name="Google Shape;106;p15"/>
            <p:cNvSpPr/>
            <p:nvPr/>
          </p:nvSpPr>
          <p:spPr>
            <a:xfrm>
              <a:off x="0" y="0"/>
              <a:ext cx="3810000" cy="3333900"/>
            </a:xfrm>
            <a:prstGeom prst="roundRect">
              <a:avLst>
                <a:gd fmla="val 4571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15"/>
            <p:cNvSpPr txBox="1"/>
            <p:nvPr/>
          </p:nvSpPr>
          <p:spPr>
            <a:xfrm>
              <a:off x="228600" y="228600"/>
              <a:ext cx="3352800" cy="287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Process Comparison</a:t>
              </a:r>
              <a:endParaRPr b="0" sz="10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Traditional Evaluation</a:t>
              </a:r>
              <a:endParaRPr b="0" sz="10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  <a:t>8 + 5 + 7 = </a:t>
              </a:r>
              <a:r>
                <a:rPr b="1" lang="en" sz="1100">
                  <a:solidFill>
                    <a:srgbClr val="EF4444"/>
                  </a:solidFill>
                  <a:latin typeface="Fira Code"/>
                  <a:ea typeface="Fira Code"/>
                  <a:cs typeface="Fira Code"/>
                  <a:sym typeface="Fira Code"/>
                </a:rPr>
                <a:t>[20]</a:t>
              </a:r>
              <a:endParaRPr sz="1100">
                <a:solidFill>
                  <a:srgbClr val="94A3B8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Opaque calculation; hides cognitive missteps.</a:t>
              </a:r>
              <a:endParaRPr b="0" sz="9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06B6D4"/>
                  </a:solidFill>
                  <a:latin typeface="Inter"/>
                  <a:ea typeface="Inter"/>
                  <a:cs typeface="Inter"/>
                  <a:sym typeface="Inter"/>
                </a:rPr>
                <a:t>Interactive Process Construction</a:t>
              </a:r>
              <a:endParaRPr b="0" sz="1000">
                <a:solidFill>
                  <a:srgbClr val="06B6D4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64748B"/>
                  </a:solidFill>
                  <a:latin typeface="Fira Code"/>
                  <a:ea typeface="Fira Code"/>
                  <a:cs typeface="Fira Code"/>
                  <a:sym typeface="Fira Code"/>
                </a:rPr>
                <a:t>Step 1:</a:t>
              </a:r>
              <a:r>
                <a:rPr lang="en" sz="1100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  <a:t> 8 + 5 + 7</a:t>
              </a:r>
              <a:endParaRPr sz="1100">
                <a:solidFill>
                  <a:srgbClr val="94A3B8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06B6D4"/>
                  </a:solidFill>
                  <a:latin typeface="Fira Code"/>
                  <a:ea typeface="Fira Code"/>
                  <a:cs typeface="Fira Code"/>
                  <a:sym typeface="Fira Code"/>
                </a:rPr>
                <a:t>Step 2:</a:t>
              </a:r>
              <a:r>
                <a:rPr lang="en" sz="1100">
                  <a:solidFill>
                    <a:srgbClr val="F8FAFC"/>
                  </a:solidFill>
                  <a:latin typeface="Fira Code"/>
                  <a:ea typeface="Fira Code"/>
                  <a:cs typeface="Fira Code"/>
                  <a:sym typeface="Fira Code"/>
                </a:rPr>
                <a:t> 8 + </a:t>
              </a:r>
              <a:r>
                <a:rPr lang="en" sz="1100">
                  <a:solidFill>
                    <a:srgbClr val="06B6D4"/>
                  </a:solidFill>
                  <a:latin typeface="Fira Code"/>
                  <a:ea typeface="Fira Code"/>
                  <a:cs typeface="Fira Code"/>
                  <a:sym typeface="Fira Code"/>
                </a:rPr>
                <a:t>(2 + 3)</a:t>
              </a:r>
              <a:r>
                <a:rPr lang="en" sz="1100">
                  <a:solidFill>
                    <a:srgbClr val="F8FAFC"/>
                  </a:solidFill>
                  <a:latin typeface="Fira Code"/>
                  <a:ea typeface="Fira Code"/>
                  <a:cs typeface="Fira Code"/>
                  <a:sym typeface="Fira Code"/>
                </a:rPr>
                <a:t> + 7 </a:t>
              </a:r>
              <a:r>
                <a:rPr b="1" lang="en" sz="800">
                  <a:solidFill>
                    <a:srgbClr val="0B1121"/>
                  </a:solidFill>
                  <a:latin typeface="Fira Code"/>
                  <a:ea typeface="Fira Code"/>
                  <a:cs typeface="Fira Code"/>
                  <a:sym typeface="Fira Code"/>
                </a:rPr>
                <a:t>SPLIT</a:t>
              </a:r>
              <a:endParaRPr sz="1100">
                <a:solidFill>
                  <a:srgbClr val="F8FAFC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64748B"/>
                  </a:solidFill>
                  <a:latin typeface="Fira Code"/>
                  <a:ea typeface="Fira Code"/>
                  <a:cs typeface="Fira Code"/>
                  <a:sym typeface="Fira Code"/>
                </a:rPr>
                <a:t>Step 3:</a:t>
              </a:r>
              <a:r>
                <a:rPr lang="en" sz="1100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  <a:t> (8 + 2) + (3 + 7)</a:t>
              </a:r>
              <a:endParaRPr sz="1100">
                <a:solidFill>
                  <a:srgbClr val="94A3B8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64748B"/>
                  </a:solidFill>
                  <a:latin typeface="Fira Code"/>
                  <a:ea typeface="Fira Code"/>
                  <a:cs typeface="Fira Code"/>
                  <a:sym typeface="Fira Code"/>
                </a:rPr>
                <a:t>Step 4:</a:t>
              </a:r>
              <a:r>
                <a:rPr lang="en" sz="1100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  <a:t> 10 + 10</a:t>
              </a:r>
              <a:endParaRPr sz="1100">
                <a:solidFill>
                  <a:srgbClr val="94A3B8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450"/>
                </a:spcAft>
                <a:buNone/>
              </a:pPr>
              <a:r>
                <a:rPr lang="en" sz="1100">
                  <a:solidFill>
                    <a:srgbClr val="3B82F6"/>
                  </a:solidFill>
                  <a:latin typeface="Fira Code"/>
                  <a:ea typeface="Fira Code"/>
                  <a:cs typeface="Fira Code"/>
                  <a:sym typeface="Fira Code"/>
                </a:rPr>
                <a:t>Step 5:</a:t>
              </a:r>
              <a:r>
                <a:rPr lang="en" sz="1100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  <a:t> 20</a:t>
              </a:r>
              <a:endParaRPr sz="1100">
                <a:solidFill>
                  <a:srgbClr val="94A3B8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2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34600" cy="5048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4" name="Google Shape;114;p16"/>
          <p:cNvGrpSpPr/>
          <p:nvPr/>
        </p:nvGrpSpPr>
        <p:grpSpPr>
          <a:xfrm>
            <a:off x="457200" y="381000"/>
            <a:ext cx="2209800" cy="228600"/>
            <a:chOff x="0" y="0"/>
            <a:chExt cx="2209800" cy="228600"/>
          </a:xfrm>
        </p:grpSpPr>
        <p:sp>
          <p:nvSpPr>
            <p:cNvPr id="115" name="Google Shape;115;p16"/>
            <p:cNvSpPr/>
            <p:nvPr/>
          </p:nvSpPr>
          <p:spPr>
            <a:xfrm>
              <a:off x="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6"/>
            <p:cNvSpPr/>
            <p:nvPr/>
          </p:nvSpPr>
          <p:spPr>
            <a:xfrm>
              <a:off x="66675" y="66675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0"/>
                  </a:lnTo>
                  <a:lnTo>
                    <a:pt x="60000" y="60000"/>
                  </a:lnTo>
                  <a:lnTo>
                    <a:pt x="120000" y="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6"/>
            <p:cNvSpPr txBox="1"/>
            <p:nvPr/>
          </p:nvSpPr>
          <p:spPr>
            <a:xfrm>
              <a:off x="304800" y="0"/>
              <a:ext cx="19050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MathSmith </a:t>
              </a:r>
              <a:r>
                <a:rPr b="0" lang="en" sz="1200">
                  <a:solidFill>
                    <a:srgbClr val="334155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|</a:t>
              </a:r>
              <a:r>
                <a:rPr b="0" lang="en" sz="12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 数锻</a:t>
              </a:r>
              <a:endParaRPr b="0" sz="12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118" name="Google Shape;118;p16"/>
          <p:cNvSpPr txBox="1"/>
          <p:nvPr/>
        </p:nvSpPr>
        <p:spPr>
          <a:xfrm>
            <a:off x="457200" y="704850"/>
            <a:ext cx="82296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6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Designing Around the Reasoning Process</a:t>
            </a:r>
            <a:endParaRPr b="0" sz="2600">
              <a:solidFill>
                <a:srgbClr val="F8FAFC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</p:txBody>
      </p:sp>
      <p:grpSp>
        <p:nvGrpSpPr>
          <p:cNvPr id="119" name="Google Shape;119;p16"/>
          <p:cNvGrpSpPr/>
          <p:nvPr/>
        </p:nvGrpSpPr>
        <p:grpSpPr>
          <a:xfrm>
            <a:off x="457200" y="1276350"/>
            <a:ext cx="2638500" cy="1638300"/>
            <a:chOff x="0" y="0"/>
            <a:chExt cx="2638500" cy="1638300"/>
          </a:xfrm>
        </p:grpSpPr>
        <p:sp>
          <p:nvSpPr>
            <p:cNvPr id="120" name="Google Shape;120;p16"/>
            <p:cNvSpPr/>
            <p:nvPr/>
          </p:nvSpPr>
          <p:spPr>
            <a:xfrm>
              <a:off x="0" y="0"/>
              <a:ext cx="2638500" cy="1638300"/>
            </a:xfrm>
            <a:prstGeom prst="roundRect">
              <a:avLst>
                <a:gd fmla="val 6976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6"/>
            <p:cNvSpPr/>
            <p:nvPr/>
          </p:nvSpPr>
          <p:spPr>
            <a:xfrm>
              <a:off x="0" y="0"/>
              <a:ext cx="2638500" cy="381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6"/>
            <p:cNvSpPr txBox="1"/>
            <p:nvPr/>
          </p:nvSpPr>
          <p:spPr>
            <a:xfrm>
              <a:off x="190500" y="190500"/>
              <a:ext cx="2257500" cy="12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Interaction Design</a:t>
              </a:r>
              <a:endParaRPr b="0" sz="8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Make Reasoning Playable</a:t>
              </a:r>
              <a:endParaRPr b="0" sz="12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Transform intermediate steps directly into engaging interactions rather than passive reading.</a:t>
              </a:r>
              <a:endParaRPr b="0" sz="10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3" name="Google Shape;123;p16"/>
          <p:cNvGrpSpPr/>
          <p:nvPr/>
        </p:nvGrpSpPr>
        <p:grpSpPr>
          <a:xfrm>
            <a:off x="3248025" y="1276350"/>
            <a:ext cx="2638500" cy="1638300"/>
            <a:chOff x="0" y="0"/>
            <a:chExt cx="2638500" cy="1638300"/>
          </a:xfrm>
        </p:grpSpPr>
        <p:sp>
          <p:nvSpPr>
            <p:cNvPr id="124" name="Google Shape;124;p16"/>
            <p:cNvSpPr/>
            <p:nvPr/>
          </p:nvSpPr>
          <p:spPr>
            <a:xfrm>
              <a:off x="0" y="0"/>
              <a:ext cx="2638500" cy="1638300"/>
            </a:xfrm>
            <a:prstGeom prst="roundRect">
              <a:avLst>
                <a:gd fmla="val 6976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16"/>
            <p:cNvSpPr/>
            <p:nvPr/>
          </p:nvSpPr>
          <p:spPr>
            <a:xfrm>
              <a:off x="0" y="0"/>
              <a:ext cx="2638500" cy="38100"/>
            </a:xfrm>
            <a:prstGeom prst="roundRect">
              <a:avLst>
                <a:gd fmla="val 50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16"/>
            <p:cNvSpPr txBox="1"/>
            <p:nvPr/>
          </p:nvSpPr>
          <p:spPr>
            <a:xfrm>
              <a:off x="190500" y="190500"/>
              <a:ext cx="2257500" cy="12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Content Safety</a:t>
              </a:r>
              <a:endParaRPr b="0" sz="80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Keep Solutions Readable</a:t>
              </a:r>
              <a:endParaRPr b="0" sz="12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Generate clear, mathematically sound, and strictly school-appropriate logic steps.</a:t>
              </a:r>
              <a:endParaRPr b="0" sz="10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27" name="Google Shape;127;p16"/>
          <p:cNvGrpSpPr/>
          <p:nvPr/>
        </p:nvGrpSpPr>
        <p:grpSpPr>
          <a:xfrm>
            <a:off x="6038850" y="1276350"/>
            <a:ext cx="2648100" cy="1638300"/>
            <a:chOff x="0" y="0"/>
            <a:chExt cx="2648100" cy="1638300"/>
          </a:xfrm>
        </p:grpSpPr>
        <p:sp>
          <p:nvSpPr>
            <p:cNvPr id="128" name="Google Shape;128;p16"/>
            <p:cNvSpPr/>
            <p:nvPr/>
          </p:nvSpPr>
          <p:spPr>
            <a:xfrm>
              <a:off x="0" y="0"/>
              <a:ext cx="2648100" cy="1638300"/>
            </a:xfrm>
            <a:prstGeom prst="roundRect">
              <a:avLst>
                <a:gd fmla="val 6976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16"/>
            <p:cNvSpPr/>
            <p:nvPr/>
          </p:nvSpPr>
          <p:spPr>
            <a:xfrm>
              <a:off x="0" y="0"/>
              <a:ext cx="2648100" cy="381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16"/>
            <p:cNvSpPr txBox="1"/>
            <p:nvPr/>
          </p:nvSpPr>
          <p:spPr>
            <a:xfrm>
              <a:off x="190500" y="190500"/>
              <a:ext cx="2267100" cy="12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Architecture</a:t>
              </a:r>
              <a:endParaRPr b="0" sz="8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Build Once, Reuse</a:t>
              </a:r>
              <a:endParaRPr b="0" sz="12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Create one cohesive data source that powers multiple unique interactions and formats.</a:t>
              </a:r>
              <a:endParaRPr b="0" sz="10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1" name="Google Shape;131;p16"/>
          <p:cNvGrpSpPr/>
          <p:nvPr/>
        </p:nvGrpSpPr>
        <p:grpSpPr>
          <a:xfrm>
            <a:off x="457200" y="3067050"/>
            <a:ext cx="4038600" cy="1638300"/>
            <a:chOff x="0" y="0"/>
            <a:chExt cx="4038600" cy="1638300"/>
          </a:xfrm>
        </p:grpSpPr>
        <p:sp>
          <p:nvSpPr>
            <p:cNvPr id="132" name="Google Shape;132;p16"/>
            <p:cNvSpPr/>
            <p:nvPr/>
          </p:nvSpPr>
          <p:spPr>
            <a:xfrm>
              <a:off x="0" y="0"/>
              <a:ext cx="4038600" cy="1638300"/>
            </a:xfrm>
            <a:prstGeom prst="roundRect">
              <a:avLst>
                <a:gd fmla="val 6976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16"/>
            <p:cNvSpPr/>
            <p:nvPr/>
          </p:nvSpPr>
          <p:spPr>
            <a:xfrm>
              <a:off x="0" y="0"/>
              <a:ext cx="4038600" cy="38100"/>
            </a:xfrm>
            <a:prstGeom prst="roundRect">
              <a:avLst>
                <a:gd fmla="val 50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16"/>
            <p:cNvSpPr txBox="1"/>
            <p:nvPr/>
          </p:nvSpPr>
          <p:spPr>
            <a:xfrm>
              <a:off x="228600" y="190500"/>
              <a:ext cx="3581400" cy="12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Feedback System</a:t>
              </a:r>
              <a:endParaRPr b="0" sz="80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Connect the Learning Loop</a:t>
              </a:r>
              <a:endParaRPr b="0" sz="12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Synthesize user feedback, deep performance analytics, and dynamic adaptation mechanisms to work continuously together.</a:t>
              </a:r>
              <a:endParaRPr b="0" sz="10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5" name="Google Shape;135;p16"/>
          <p:cNvGrpSpPr/>
          <p:nvPr/>
        </p:nvGrpSpPr>
        <p:grpSpPr>
          <a:xfrm>
            <a:off x="4648200" y="3067050"/>
            <a:ext cx="4038600" cy="1638300"/>
            <a:chOff x="0" y="0"/>
            <a:chExt cx="4038600" cy="1638300"/>
          </a:xfrm>
        </p:grpSpPr>
        <p:sp>
          <p:nvSpPr>
            <p:cNvPr id="136" name="Google Shape;136;p16"/>
            <p:cNvSpPr/>
            <p:nvPr/>
          </p:nvSpPr>
          <p:spPr>
            <a:xfrm>
              <a:off x="0" y="0"/>
              <a:ext cx="4038600" cy="1638300"/>
            </a:xfrm>
            <a:prstGeom prst="roundRect">
              <a:avLst>
                <a:gd fmla="val 6976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16"/>
            <p:cNvSpPr/>
            <p:nvPr/>
          </p:nvSpPr>
          <p:spPr>
            <a:xfrm>
              <a:off x="0" y="0"/>
              <a:ext cx="4038600" cy="381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6"/>
            <p:cNvSpPr txBox="1"/>
            <p:nvPr/>
          </p:nvSpPr>
          <p:spPr>
            <a:xfrm>
              <a:off x="228600" y="190500"/>
              <a:ext cx="3581400" cy="1257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Core Engine</a:t>
              </a:r>
              <a:endParaRPr b="0" sz="8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Keep Learning Logic Deterministic</a:t>
              </a:r>
              <a:endParaRPr b="0" sz="12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Ensure underlying mathematical correctness and structural logic remain absolute, predictable, and verifiable.</a:t>
              </a:r>
              <a:endParaRPr b="0" sz="10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34600" cy="5048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7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45" name="Google Shape;145;p17"/>
          <p:cNvGrpSpPr/>
          <p:nvPr/>
        </p:nvGrpSpPr>
        <p:grpSpPr>
          <a:xfrm>
            <a:off x="7143750" y="419100"/>
            <a:ext cx="1581300" cy="228600"/>
            <a:chOff x="0" y="0"/>
            <a:chExt cx="1581300" cy="228600"/>
          </a:xfrm>
        </p:grpSpPr>
        <p:sp>
          <p:nvSpPr>
            <p:cNvPr id="146" name="Google Shape;146;p17"/>
            <p:cNvSpPr/>
            <p:nvPr/>
          </p:nvSpPr>
          <p:spPr>
            <a:xfrm>
              <a:off x="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17"/>
            <p:cNvSpPr/>
            <p:nvPr/>
          </p:nvSpPr>
          <p:spPr>
            <a:xfrm>
              <a:off x="66675" y="66675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0"/>
                  </a:lnTo>
                  <a:lnTo>
                    <a:pt x="60000" y="60000"/>
                  </a:lnTo>
                  <a:lnTo>
                    <a:pt x="120000" y="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8" name="Google Shape;148;p17"/>
            <p:cNvSpPr txBox="1"/>
            <p:nvPr/>
          </p:nvSpPr>
          <p:spPr>
            <a:xfrm>
              <a:off x="342900" y="0"/>
              <a:ext cx="1238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MathSmith</a:t>
              </a:r>
              <a:endParaRPr b="0" sz="12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149" name="Google Shape;149;p17"/>
          <p:cNvSpPr txBox="1"/>
          <p:nvPr/>
        </p:nvSpPr>
        <p:spPr>
          <a:xfrm>
            <a:off x="457200" y="304800"/>
            <a:ext cx="64770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405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Three Ways to Practice the Same Reasoning</a:t>
            </a:r>
            <a:endParaRPr b="0" sz="2405">
              <a:solidFill>
                <a:srgbClr val="F8FAFC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1203">
                <a:solidFill>
                  <a:srgbClr val="06B6D4"/>
                </a:solidFill>
                <a:latin typeface="Outfit Medium"/>
                <a:ea typeface="Outfit Medium"/>
                <a:cs typeface="Outfit Medium"/>
                <a:sym typeface="Outfit Medium"/>
              </a:rPr>
              <a:t>Shared Content, Different Interactions</a:t>
            </a:r>
            <a:endParaRPr b="0" sz="1203">
              <a:solidFill>
                <a:srgbClr val="06B6D4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150" name="Google Shape;150;p17"/>
          <p:cNvGrpSpPr/>
          <p:nvPr/>
        </p:nvGrpSpPr>
        <p:grpSpPr>
          <a:xfrm>
            <a:off x="457200" y="1238250"/>
            <a:ext cx="2590800" cy="3048000"/>
            <a:chOff x="0" y="0"/>
            <a:chExt cx="2590800" cy="3048000"/>
          </a:xfrm>
        </p:grpSpPr>
        <p:sp>
          <p:nvSpPr>
            <p:cNvPr id="151" name="Google Shape;151;p17"/>
            <p:cNvSpPr/>
            <p:nvPr/>
          </p:nvSpPr>
          <p:spPr>
            <a:xfrm>
              <a:off x="0" y="0"/>
              <a:ext cx="2590800" cy="3048000"/>
            </a:xfrm>
            <a:prstGeom prst="roundRect">
              <a:avLst>
                <a:gd fmla="val 4411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2" name="Google Shape;152;p17"/>
            <p:cNvSpPr txBox="1"/>
            <p:nvPr/>
          </p:nvSpPr>
          <p:spPr>
            <a:xfrm>
              <a:off x="190500" y="190500"/>
              <a:ext cx="22098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[ MODE_01 ]</a:t>
              </a:r>
              <a:endParaRPr b="0" sz="9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5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Step Ordering</a:t>
              </a:r>
              <a:endParaRPr b="0" sz="150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Drag complete steps into correct order.</a:t>
              </a:r>
              <a:endParaRPr b="0" sz="10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53" name="Google Shape;153;p17"/>
            <p:cNvGrpSpPr/>
            <p:nvPr/>
          </p:nvGrpSpPr>
          <p:grpSpPr>
            <a:xfrm>
              <a:off x="190500" y="1200150"/>
              <a:ext cx="2209800" cy="1657500"/>
              <a:chOff x="0" y="0"/>
              <a:chExt cx="2209800" cy="1657500"/>
            </a:xfrm>
          </p:grpSpPr>
          <p:sp>
            <p:nvSpPr>
              <p:cNvPr id="154" name="Google Shape;154;p17"/>
              <p:cNvSpPr/>
              <p:nvPr/>
            </p:nvSpPr>
            <p:spPr>
              <a:xfrm>
                <a:off x="0" y="0"/>
                <a:ext cx="2209800" cy="1657500"/>
              </a:xfrm>
              <a:prstGeom prst="roundRect">
                <a:avLst>
                  <a:gd fmla="val 4597" name="adj"/>
                </a:avLst>
              </a:prstGeom>
              <a:solidFill>
                <a:srgbClr val="0B1121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55" name="Google Shape;155;p17"/>
              <p:cNvGrpSpPr/>
              <p:nvPr/>
            </p:nvGrpSpPr>
            <p:grpSpPr>
              <a:xfrm>
                <a:off x="114300" y="114300"/>
                <a:ext cx="1981200" cy="1314600"/>
                <a:chOff x="0" y="0"/>
                <a:chExt cx="1981200" cy="1314600"/>
              </a:xfrm>
            </p:grpSpPr>
            <p:sp>
              <p:nvSpPr>
                <p:cNvPr id="156" name="Google Shape;156;p17"/>
                <p:cNvSpPr txBox="1"/>
                <p:nvPr/>
              </p:nvSpPr>
              <p:spPr>
                <a:xfrm>
                  <a:off x="0" y="0"/>
                  <a:ext cx="19812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750">
                      <a:solidFill>
                        <a:srgbClr val="94A3B8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rPr>
                    <a:t>REORGANIZE THE PROCESS:</a:t>
                  </a:r>
                  <a:endParaRPr b="0" sz="75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endParaRPr>
                </a:p>
              </p:txBody>
            </p:sp>
            <p:grpSp>
              <p:nvGrpSpPr>
                <p:cNvPr id="157" name="Google Shape;157;p17"/>
                <p:cNvGrpSpPr/>
                <p:nvPr/>
              </p:nvGrpSpPr>
              <p:grpSpPr>
                <a:xfrm>
                  <a:off x="0" y="190500"/>
                  <a:ext cx="1981200" cy="324000"/>
                  <a:chOff x="0" y="0"/>
                  <a:chExt cx="1981200" cy="324000"/>
                </a:xfrm>
              </p:grpSpPr>
              <p:sp>
                <p:nvSpPr>
                  <p:cNvPr id="158" name="Google Shape;158;p17"/>
                  <p:cNvSpPr/>
                  <p:nvPr/>
                </p:nvSpPr>
                <p:spPr>
                  <a:xfrm>
                    <a:off x="0" y="0"/>
                    <a:ext cx="1981200" cy="324000"/>
                  </a:xfrm>
                  <a:prstGeom prst="roundRect">
                    <a:avLst>
                      <a:gd fmla="val 17647" name="adj"/>
                    </a:avLst>
                  </a:prstGeom>
                  <a:solidFill>
                    <a:srgbClr val="1E293B"/>
                  </a:solidFill>
                  <a:ln cap="flat" cmpd="sng" w="9525">
                    <a:solidFill>
                      <a:srgbClr val="334155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59" name="Google Shape;159;p17"/>
                  <p:cNvSpPr/>
                  <p:nvPr/>
                </p:nvSpPr>
                <p:spPr>
                  <a:xfrm>
                    <a:off x="95250" y="123825"/>
                    <a:ext cx="76200" cy="76200"/>
                  </a:xfrm>
                  <a:prstGeom prst="ellipse">
                    <a:avLst/>
                  </a:prstGeom>
                  <a:solidFill>
                    <a:srgbClr val="334155"/>
                  </a:solidFill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cxnSp>
                <p:nvCxnSpPr>
                  <p:cNvPr id="160" name="Google Shape;160;p17"/>
                  <p:cNvCxnSpPr/>
                  <p:nvPr/>
                </p:nvCxnSpPr>
                <p:spPr>
                  <a:xfrm>
                    <a:off x="76200" y="133350"/>
                    <a:ext cx="38100" cy="0"/>
                  </a:xfrm>
                  <a:prstGeom prst="straightConnector1">
                    <a:avLst/>
                  </a:prstGeom>
                  <a:solidFill>
                    <a:srgbClr val="FFFFFF"/>
                  </a:solidFill>
                  <a:ln cap="flat" cmpd="sng" w="14300">
                    <a:solidFill>
                      <a:srgbClr val="94A3B8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</p:cxnSp>
              <p:cxnSp>
                <p:nvCxnSpPr>
                  <p:cNvPr id="161" name="Google Shape;161;p17"/>
                  <p:cNvCxnSpPr/>
                  <p:nvPr/>
                </p:nvCxnSpPr>
                <p:spPr>
                  <a:xfrm>
                    <a:off x="76200" y="161925"/>
                    <a:ext cx="38100" cy="0"/>
                  </a:xfrm>
                  <a:prstGeom prst="straightConnector1">
                    <a:avLst/>
                  </a:prstGeom>
                  <a:solidFill>
                    <a:srgbClr val="FFFFFF"/>
                  </a:solidFill>
                  <a:ln cap="flat" cmpd="sng" w="14300">
                    <a:solidFill>
                      <a:srgbClr val="94A3B8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</p:cxnSp>
              <p:cxnSp>
                <p:nvCxnSpPr>
                  <p:cNvPr id="162" name="Google Shape;162;p17"/>
                  <p:cNvCxnSpPr/>
                  <p:nvPr/>
                </p:nvCxnSpPr>
                <p:spPr>
                  <a:xfrm>
                    <a:off x="76200" y="190500"/>
                    <a:ext cx="38100" cy="0"/>
                  </a:xfrm>
                  <a:prstGeom prst="straightConnector1">
                    <a:avLst/>
                  </a:prstGeom>
                  <a:solidFill>
                    <a:srgbClr val="FFFFFF"/>
                  </a:solidFill>
                  <a:ln cap="flat" cmpd="sng" w="14300">
                    <a:solidFill>
                      <a:srgbClr val="94A3B8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</p:cxnSp>
              <p:sp>
                <p:nvSpPr>
                  <p:cNvPr id="163" name="Google Shape;163;p17"/>
                  <p:cNvSpPr txBox="1"/>
                  <p:nvPr/>
                </p:nvSpPr>
                <p:spPr>
                  <a:xfrm>
                    <a:off x="266700" y="66675"/>
                    <a:ext cx="1619100" cy="1905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1000">
                        <a:solidFill>
                          <a:srgbClr val="06B6D4"/>
                        </a:solidFill>
                        <a:latin typeface="Fira Code Medium"/>
                        <a:ea typeface="Fira Code Medium"/>
                        <a:cs typeface="Fira Code Medium"/>
                        <a:sym typeface="Fira Code Medium"/>
                      </a:rPr>
                      <a:t>3x + 12 = 27</a:t>
                    </a:r>
                    <a:endParaRPr b="0" sz="1000">
                      <a:solidFill>
                        <a:srgbClr val="06B6D4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endParaRPr>
                  </a:p>
                </p:txBody>
              </p:sp>
            </p:grpSp>
            <p:grpSp>
              <p:nvGrpSpPr>
                <p:cNvPr id="164" name="Google Shape;164;p17"/>
                <p:cNvGrpSpPr/>
                <p:nvPr/>
              </p:nvGrpSpPr>
              <p:grpSpPr>
                <a:xfrm>
                  <a:off x="0" y="590550"/>
                  <a:ext cx="1981200" cy="324000"/>
                  <a:chOff x="0" y="0"/>
                  <a:chExt cx="1981200" cy="324000"/>
                </a:xfrm>
              </p:grpSpPr>
              <p:sp>
                <p:nvSpPr>
                  <p:cNvPr id="165" name="Google Shape;165;p17"/>
                  <p:cNvSpPr/>
                  <p:nvPr/>
                </p:nvSpPr>
                <p:spPr>
                  <a:xfrm>
                    <a:off x="0" y="0"/>
                    <a:ext cx="1981200" cy="324000"/>
                  </a:xfrm>
                  <a:prstGeom prst="roundRect">
                    <a:avLst>
                      <a:gd fmla="val 17647" name="adj"/>
                    </a:avLst>
                  </a:prstGeom>
                  <a:solidFill>
                    <a:srgbClr val="1E293B"/>
                  </a:solidFill>
                  <a:ln cap="flat" cmpd="sng" w="14300">
                    <a:solidFill>
                      <a:srgbClr val="06B6D4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grpSp>
                <p:nvGrpSpPr>
                  <p:cNvPr id="166" name="Google Shape;166;p17"/>
                  <p:cNvGrpSpPr/>
                  <p:nvPr/>
                </p:nvGrpSpPr>
                <p:grpSpPr>
                  <a:xfrm>
                    <a:off x="76200" y="133350"/>
                    <a:ext cx="57300" cy="57150"/>
                    <a:chOff x="19050" y="19050"/>
                    <a:chExt cx="57300" cy="57150"/>
                  </a:xfrm>
                </p:grpSpPr>
                <p:cxnSp>
                  <p:nvCxnSpPr>
                    <p:cNvPr id="167" name="Google Shape;167;p17"/>
                    <p:cNvCxnSpPr/>
                    <p:nvPr/>
                  </p:nvCxnSpPr>
                  <p:spPr>
                    <a:xfrm>
                      <a:off x="19050" y="19050"/>
                      <a:ext cx="57300" cy="0"/>
                    </a:xfrm>
                    <a:prstGeom prst="straightConnector1">
                      <a:avLst/>
                    </a:prstGeom>
                    <a:solidFill>
                      <a:srgbClr val="FFFFFF"/>
                    </a:solidFill>
                    <a:ln cap="flat" cmpd="sng" w="14300">
                      <a:solidFill>
                        <a:srgbClr val="06B6D4"/>
                      </a:solidFill>
                      <a:prstDash val="solid"/>
                      <a:round/>
                      <a:headEnd len="sm" w="sm" type="none"/>
                      <a:tailEnd len="sm" w="sm" type="none"/>
                    </a:ln>
                  </p:spPr>
                </p:cxnSp>
                <p:cxnSp>
                  <p:nvCxnSpPr>
                    <p:cNvPr id="168" name="Google Shape;168;p17"/>
                    <p:cNvCxnSpPr/>
                    <p:nvPr/>
                  </p:nvCxnSpPr>
                  <p:spPr>
                    <a:xfrm>
                      <a:off x="19050" y="47625"/>
                      <a:ext cx="57300" cy="0"/>
                    </a:xfrm>
                    <a:prstGeom prst="straightConnector1">
                      <a:avLst/>
                    </a:prstGeom>
                    <a:solidFill>
                      <a:srgbClr val="FFFFFF"/>
                    </a:solidFill>
                    <a:ln cap="flat" cmpd="sng" w="14300">
                      <a:solidFill>
                        <a:srgbClr val="06B6D4"/>
                      </a:solidFill>
                      <a:prstDash val="solid"/>
                      <a:round/>
                      <a:headEnd len="sm" w="sm" type="none"/>
                      <a:tailEnd len="sm" w="sm" type="none"/>
                    </a:ln>
                  </p:spPr>
                </p:cxnSp>
                <p:cxnSp>
                  <p:nvCxnSpPr>
                    <p:cNvPr id="169" name="Google Shape;169;p17"/>
                    <p:cNvCxnSpPr/>
                    <p:nvPr/>
                  </p:nvCxnSpPr>
                  <p:spPr>
                    <a:xfrm>
                      <a:off x="19050" y="76200"/>
                      <a:ext cx="57300" cy="0"/>
                    </a:xfrm>
                    <a:prstGeom prst="straightConnector1">
                      <a:avLst/>
                    </a:prstGeom>
                    <a:solidFill>
                      <a:srgbClr val="FFFFFF"/>
                    </a:solidFill>
                    <a:ln cap="flat" cmpd="sng" w="14300">
                      <a:solidFill>
                        <a:srgbClr val="06B6D4"/>
                      </a:solidFill>
                      <a:prstDash val="solid"/>
                      <a:round/>
                      <a:headEnd len="sm" w="sm" type="none"/>
                      <a:tailEnd len="sm" w="sm" type="none"/>
                    </a:ln>
                  </p:spPr>
                </p:cxnSp>
              </p:grpSp>
              <p:sp>
                <p:nvSpPr>
                  <p:cNvPr id="170" name="Google Shape;170;p17"/>
                  <p:cNvSpPr txBox="1"/>
                  <p:nvPr/>
                </p:nvSpPr>
                <p:spPr>
                  <a:xfrm>
                    <a:off x="266700" y="66675"/>
                    <a:ext cx="1619100" cy="1905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1000">
                        <a:solidFill>
                          <a:srgbClr val="F8FAFC"/>
                        </a:solidFill>
                        <a:latin typeface="Fira Code Medium"/>
                        <a:ea typeface="Fira Code Medium"/>
                        <a:cs typeface="Fira Code Medium"/>
                        <a:sym typeface="Fira Code Medium"/>
                      </a:rPr>
                      <a:t>3x = 15</a:t>
                    </a:r>
                    <a:endParaRPr b="0" sz="1000">
                      <a:solidFill>
                        <a:srgbClr val="F8FAFC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endParaRPr>
                  </a:p>
                </p:txBody>
              </p:sp>
              <p:sp>
                <p:nvSpPr>
                  <p:cNvPr id="171" name="Google Shape;171;p17"/>
                  <p:cNvSpPr/>
                  <p:nvPr/>
                </p:nvSpPr>
                <p:spPr>
                  <a:xfrm>
                    <a:off x="1857375" y="171450"/>
                    <a:ext cx="85800" cy="95400"/>
                  </a:xfrm>
                  <a:custGeom>
                    <a:rect b="b" l="l" r="r" t="t"/>
                    <a:pathLst>
                      <a:path extrusionOk="0" h="120000" w="120000">
                        <a:moveTo>
                          <a:pt x="0" y="72000"/>
                        </a:moveTo>
                        <a:lnTo>
                          <a:pt x="120000" y="0"/>
                        </a:lnTo>
                        <a:lnTo>
                          <a:pt x="66667" y="120000"/>
                        </a:lnTo>
                        <a:close/>
                      </a:path>
                    </a:pathLst>
                  </a:custGeom>
                  <a:solidFill>
                    <a:srgbClr val="06B6D4"/>
                  </a:solidFill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</p:grpSp>
            <p:grpSp>
              <p:nvGrpSpPr>
                <p:cNvPr id="172" name="Google Shape;172;p17"/>
                <p:cNvGrpSpPr/>
                <p:nvPr/>
              </p:nvGrpSpPr>
              <p:grpSpPr>
                <a:xfrm>
                  <a:off x="0" y="990600"/>
                  <a:ext cx="1981200" cy="324000"/>
                  <a:chOff x="0" y="0"/>
                  <a:chExt cx="1981200" cy="324000"/>
                </a:xfrm>
              </p:grpSpPr>
              <p:sp>
                <p:nvSpPr>
                  <p:cNvPr id="173" name="Google Shape;173;p17"/>
                  <p:cNvSpPr/>
                  <p:nvPr/>
                </p:nvSpPr>
                <p:spPr>
                  <a:xfrm>
                    <a:off x="0" y="0"/>
                    <a:ext cx="1981200" cy="324000"/>
                  </a:xfrm>
                  <a:prstGeom prst="roundRect">
                    <a:avLst>
                      <a:gd fmla="val 17647" name="adj"/>
                    </a:avLst>
                  </a:prstGeom>
                  <a:solidFill>
                    <a:srgbClr val="1E293B"/>
                  </a:solidFill>
                  <a:ln cap="flat" cmpd="sng" w="9525">
                    <a:solidFill>
                      <a:srgbClr val="334155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74" name="Google Shape;174;p17"/>
                  <p:cNvSpPr/>
                  <p:nvPr/>
                </p:nvSpPr>
                <p:spPr>
                  <a:xfrm>
                    <a:off x="95250" y="123825"/>
                    <a:ext cx="76200" cy="76200"/>
                  </a:xfrm>
                  <a:prstGeom prst="ellipse">
                    <a:avLst/>
                  </a:prstGeom>
                  <a:solidFill>
                    <a:srgbClr val="334155"/>
                  </a:solidFill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cxnSp>
                <p:nvCxnSpPr>
                  <p:cNvPr id="175" name="Google Shape;175;p17"/>
                  <p:cNvCxnSpPr/>
                  <p:nvPr/>
                </p:nvCxnSpPr>
                <p:spPr>
                  <a:xfrm>
                    <a:off x="76200" y="133350"/>
                    <a:ext cx="38100" cy="0"/>
                  </a:xfrm>
                  <a:prstGeom prst="straightConnector1">
                    <a:avLst/>
                  </a:prstGeom>
                  <a:solidFill>
                    <a:srgbClr val="FFFFFF"/>
                  </a:solidFill>
                  <a:ln cap="flat" cmpd="sng" w="14300">
                    <a:solidFill>
                      <a:srgbClr val="94A3B8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</p:cxnSp>
              <p:cxnSp>
                <p:nvCxnSpPr>
                  <p:cNvPr id="176" name="Google Shape;176;p17"/>
                  <p:cNvCxnSpPr/>
                  <p:nvPr/>
                </p:nvCxnSpPr>
                <p:spPr>
                  <a:xfrm>
                    <a:off x="76200" y="161925"/>
                    <a:ext cx="38100" cy="0"/>
                  </a:xfrm>
                  <a:prstGeom prst="straightConnector1">
                    <a:avLst/>
                  </a:prstGeom>
                  <a:solidFill>
                    <a:srgbClr val="FFFFFF"/>
                  </a:solidFill>
                  <a:ln cap="flat" cmpd="sng" w="14300">
                    <a:solidFill>
                      <a:srgbClr val="94A3B8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</p:cxnSp>
              <p:cxnSp>
                <p:nvCxnSpPr>
                  <p:cNvPr id="177" name="Google Shape;177;p17"/>
                  <p:cNvCxnSpPr/>
                  <p:nvPr/>
                </p:nvCxnSpPr>
                <p:spPr>
                  <a:xfrm>
                    <a:off x="76200" y="190500"/>
                    <a:ext cx="38100" cy="0"/>
                  </a:xfrm>
                  <a:prstGeom prst="straightConnector1">
                    <a:avLst/>
                  </a:prstGeom>
                  <a:solidFill>
                    <a:srgbClr val="FFFFFF"/>
                  </a:solidFill>
                  <a:ln cap="flat" cmpd="sng" w="14300">
                    <a:solidFill>
                      <a:srgbClr val="94A3B8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</p:cxnSp>
              <p:sp>
                <p:nvSpPr>
                  <p:cNvPr id="178" name="Google Shape;178;p17"/>
                  <p:cNvSpPr txBox="1"/>
                  <p:nvPr/>
                </p:nvSpPr>
                <p:spPr>
                  <a:xfrm>
                    <a:off x="266700" y="66675"/>
                    <a:ext cx="1619100" cy="1905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1000">
                        <a:solidFill>
                          <a:srgbClr val="06B6D4"/>
                        </a:solidFill>
                        <a:latin typeface="Fira Code Medium"/>
                        <a:ea typeface="Fira Code Medium"/>
                        <a:cs typeface="Fira Code Medium"/>
                        <a:sym typeface="Fira Code Medium"/>
                      </a:rPr>
                      <a:t>x = 5</a:t>
                    </a:r>
                    <a:endParaRPr b="0" sz="1000">
                      <a:solidFill>
                        <a:srgbClr val="06B6D4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endParaRPr>
                  </a:p>
                </p:txBody>
              </p:sp>
            </p:grpSp>
          </p:grpSp>
        </p:grpSp>
      </p:grpSp>
      <p:grpSp>
        <p:nvGrpSpPr>
          <p:cNvPr id="179" name="Google Shape;179;p17"/>
          <p:cNvGrpSpPr/>
          <p:nvPr/>
        </p:nvGrpSpPr>
        <p:grpSpPr>
          <a:xfrm>
            <a:off x="3276600" y="1238250"/>
            <a:ext cx="2590800" cy="3048000"/>
            <a:chOff x="0" y="0"/>
            <a:chExt cx="2590800" cy="3048000"/>
          </a:xfrm>
        </p:grpSpPr>
        <p:sp>
          <p:nvSpPr>
            <p:cNvPr id="180" name="Google Shape;180;p17"/>
            <p:cNvSpPr/>
            <p:nvPr/>
          </p:nvSpPr>
          <p:spPr>
            <a:xfrm>
              <a:off x="0" y="0"/>
              <a:ext cx="2590800" cy="3048000"/>
            </a:xfrm>
            <a:prstGeom prst="roundRect">
              <a:avLst>
                <a:gd fmla="val 4411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17"/>
            <p:cNvSpPr txBox="1"/>
            <p:nvPr/>
          </p:nvSpPr>
          <p:spPr>
            <a:xfrm>
              <a:off x="190500" y="190500"/>
              <a:ext cx="22098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[ MODE_02 ]</a:t>
              </a:r>
              <a:endParaRPr b="0" sz="90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5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Multiple-Choice</a:t>
              </a:r>
              <a:endParaRPr b="0" sz="150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Identify correct next step among deterministic distractors.</a:t>
              </a:r>
              <a:endParaRPr b="0" sz="10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182" name="Google Shape;182;p17"/>
            <p:cNvGrpSpPr/>
            <p:nvPr/>
          </p:nvGrpSpPr>
          <p:grpSpPr>
            <a:xfrm>
              <a:off x="190500" y="1200150"/>
              <a:ext cx="2209800" cy="1657500"/>
              <a:chOff x="0" y="0"/>
              <a:chExt cx="2209800" cy="1657500"/>
            </a:xfrm>
          </p:grpSpPr>
          <p:sp>
            <p:nvSpPr>
              <p:cNvPr id="183" name="Google Shape;183;p17"/>
              <p:cNvSpPr/>
              <p:nvPr/>
            </p:nvSpPr>
            <p:spPr>
              <a:xfrm>
                <a:off x="0" y="0"/>
                <a:ext cx="2209800" cy="1657500"/>
              </a:xfrm>
              <a:prstGeom prst="roundRect">
                <a:avLst>
                  <a:gd fmla="val 4597" name="adj"/>
                </a:avLst>
              </a:prstGeom>
              <a:solidFill>
                <a:srgbClr val="0B1121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184" name="Google Shape;184;p17"/>
              <p:cNvGrpSpPr/>
              <p:nvPr/>
            </p:nvGrpSpPr>
            <p:grpSpPr>
              <a:xfrm>
                <a:off x="114300" y="114300"/>
                <a:ext cx="1981200" cy="1371600"/>
                <a:chOff x="0" y="0"/>
                <a:chExt cx="1981200" cy="1371600"/>
              </a:xfrm>
            </p:grpSpPr>
            <p:grpSp>
              <p:nvGrpSpPr>
                <p:cNvPr id="185" name="Google Shape;185;p17"/>
                <p:cNvGrpSpPr/>
                <p:nvPr/>
              </p:nvGrpSpPr>
              <p:grpSpPr>
                <a:xfrm>
                  <a:off x="0" y="0"/>
                  <a:ext cx="1981200" cy="342900"/>
                  <a:chOff x="0" y="0"/>
                  <a:chExt cx="1981200" cy="342900"/>
                </a:xfrm>
              </p:grpSpPr>
              <p:sp>
                <p:nvSpPr>
                  <p:cNvPr id="186" name="Google Shape;186;p17"/>
                  <p:cNvSpPr/>
                  <p:nvPr/>
                </p:nvSpPr>
                <p:spPr>
                  <a:xfrm>
                    <a:off x="0" y="0"/>
                    <a:ext cx="1981200" cy="342900"/>
                  </a:xfrm>
                  <a:prstGeom prst="roundRect">
                    <a:avLst>
                      <a:gd fmla="val 16666" name="adj"/>
                    </a:avLst>
                  </a:prstGeom>
                  <a:solidFill>
                    <a:srgbClr val="1E293B">
                      <a:alpha val="60000"/>
                    </a:srgbClr>
                  </a:solidFill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87" name="Google Shape;187;p17"/>
                  <p:cNvSpPr txBox="1"/>
                  <p:nvPr/>
                </p:nvSpPr>
                <p:spPr>
                  <a:xfrm>
                    <a:off x="95250" y="0"/>
                    <a:ext cx="1790700" cy="3429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750">
                        <a:solidFill>
                          <a:srgbClr val="94A3B8"/>
                        </a:solidFill>
                        <a:latin typeface="Fira Code Medium"/>
                        <a:ea typeface="Fira Code Medium"/>
                        <a:cs typeface="Fira Code Medium"/>
                        <a:sym typeface="Fira Code Medium"/>
                      </a:rPr>
                      <a:t>CURRENT STEP:</a:t>
                    </a:r>
                    <a:endParaRPr b="0" sz="750">
                      <a:solidFill>
                        <a:srgbClr val="94A3B8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endParaRPr>
                  </a:p>
                  <a:p>
                    <a:pPr indent="0" lvl="0" marL="0" rtl="0" algn="l">
                      <a:spcBef>
                        <a:spcPts val="15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950">
                        <a:solidFill>
                          <a:srgbClr val="F8FAFC"/>
                        </a:solidFill>
                        <a:latin typeface="Fira Code Medium"/>
                        <a:ea typeface="Fira Code Medium"/>
                        <a:cs typeface="Fira Code Medium"/>
                        <a:sym typeface="Fira Code Medium"/>
                      </a:rPr>
                      <a:t>(x - 3)(x + 4) = 0</a:t>
                    </a:r>
                    <a:endParaRPr b="0" sz="950">
                      <a:solidFill>
                        <a:srgbClr val="F8FAFC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endParaRPr>
                  </a:p>
                </p:txBody>
              </p:sp>
            </p:grpSp>
            <p:sp>
              <p:nvSpPr>
                <p:cNvPr id="188" name="Google Shape;188;p17"/>
                <p:cNvSpPr txBox="1"/>
                <p:nvPr/>
              </p:nvSpPr>
              <p:spPr>
                <a:xfrm>
                  <a:off x="0" y="419100"/>
                  <a:ext cx="1981200" cy="133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700">
                      <a:solidFill>
                        <a:srgbClr val="94A3B8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rPr>
                    <a:t>CHOOSE THE NEXT LOGICAL STEP:</a:t>
                  </a:r>
                  <a:endParaRPr b="0" sz="70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endParaRPr>
                </a:p>
              </p:txBody>
            </p:sp>
            <p:grpSp>
              <p:nvGrpSpPr>
                <p:cNvPr id="189" name="Google Shape;189;p17"/>
                <p:cNvGrpSpPr/>
                <p:nvPr/>
              </p:nvGrpSpPr>
              <p:grpSpPr>
                <a:xfrm>
                  <a:off x="0" y="571500"/>
                  <a:ext cx="1981200" cy="228600"/>
                  <a:chOff x="0" y="0"/>
                  <a:chExt cx="1981200" cy="228600"/>
                </a:xfrm>
              </p:grpSpPr>
              <p:sp>
                <p:nvSpPr>
                  <p:cNvPr id="190" name="Google Shape;190;p17"/>
                  <p:cNvSpPr/>
                  <p:nvPr/>
                </p:nvSpPr>
                <p:spPr>
                  <a:xfrm>
                    <a:off x="0" y="0"/>
                    <a:ext cx="1981200" cy="228600"/>
                  </a:xfrm>
                  <a:prstGeom prst="roundRect">
                    <a:avLst>
                      <a:gd fmla="val 16666" name="adj"/>
                    </a:avLst>
                  </a:prstGeom>
                  <a:solidFill>
                    <a:srgbClr val="1E293B"/>
                  </a:solidFill>
                  <a:ln cap="flat" cmpd="sng" w="9525">
                    <a:solidFill>
                      <a:srgbClr val="334155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1" name="Google Shape;191;p17"/>
                  <p:cNvSpPr/>
                  <p:nvPr/>
                </p:nvSpPr>
                <p:spPr>
                  <a:xfrm>
                    <a:off x="76200" y="76200"/>
                    <a:ext cx="76200" cy="76200"/>
                  </a:xfrm>
                  <a:prstGeom prst="ellipse">
                    <a:avLst/>
                  </a:prstGeom>
                  <a:solidFill>
                    <a:srgbClr val="000000">
                      <a:alpha val="0"/>
                    </a:srgbClr>
                  </a:solidFill>
                  <a:ln cap="flat" cmpd="sng" w="9525">
                    <a:solidFill>
                      <a:srgbClr val="94A3B8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2" name="Google Shape;192;p17"/>
                  <p:cNvSpPr txBox="1"/>
                  <p:nvPr/>
                </p:nvSpPr>
                <p:spPr>
                  <a:xfrm>
                    <a:off x="228600" y="19050"/>
                    <a:ext cx="1619100" cy="1905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850">
                        <a:solidFill>
                          <a:srgbClr val="64748B"/>
                        </a:solidFill>
                        <a:latin typeface="Fira Code"/>
                        <a:ea typeface="Fira Code"/>
                        <a:cs typeface="Fira Code"/>
                        <a:sym typeface="Fira Code"/>
                      </a:rPr>
                      <a:t>x = 3 or x = 4</a:t>
                    </a:r>
                    <a:endParaRPr b="0" sz="850">
                      <a:solidFill>
                        <a:srgbClr val="64748B"/>
                      </a:solidFill>
                      <a:latin typeface="Fira Code"/>
                      <a:ea typeface="Fira Code"/>
                      <a:cs typeface="Fira Code"/>
                      <a:sym typeface="Fira Code"/>
                    </a:endParaRPr>
                  </a:p>
                </p:txBody>
              </p:sp>
            </p:grpSp>
            <p:grpSp>
              <p:nvGrpSpPr>
                <p:cNvPr id="193" name="Google Shape;193;p17"/>
                <p:cNvGrpSpPr/>
                <p:nvPr/>
              </p:nvGrpSpPr>
              <p:grpSpPr>
                <a:xfrm>
                  <a:off x="0" y="857250"/>
                  <a:ext cx="1981200" cy="228600"/>
                  <a:chOff x="0" y="0"/>
                  <a:chExt cx="1981200" cy="228600"/>
                </a:xfrm>
              </p:grpSpPr>
              <p:sp>
                <p:nvSpPr>
                  <p:cNvPr id="194" name="Google Shape;194;p17"/>
                  <p:cNvSpPr/>
                  <p:nvPr/>
                </p:nvSpPr>
                <p:spPr>
                  <a:xfrm>
                    <a:off x="0" y="0"/>
                    <a:ext cx="1981200" cy="228600"/>
                  </a:xfrm>
                  <a:prstGeom prst="roundRect">
                    <a:avLst>
                      <a:gd fmla="val 16666" name="adj"/>
                    </a:avLst>
                  </a:prstGeom>
                  <a:solidFill>
                    <a:srgbClr val="1E293B"/>
                  </a:solidFill>
                  <a:ln cap="flat" cmpd="sng" w="14300">
                    <a:solidFill>
                      <a:srgbClr val="3B82F6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5" name="Google Shape;195;p17"/>
                  <p:cNvSpPr/>
                  <p:nvPr/>
                </p:nvSpPr>
                <p:spPr>
                  <a:xfrm>
                    <a:off x="76200" y="76200"/>
                    <a:ext cx="76200" cy="76200"/>
                  </a:xfrm>
                  <a:prstGeom prst="ellipse">
                    <a:avLst/>
                  </a:prstGeom>
                  <a:solidFill>
                    <a:srgbClr val="3B82F6"/>
                  </a:solidFill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6" name="Google Shape;196;p17"/>
                  <p:cNvSpPr txBox="1"/>
                  <p:nvPr/>
                </p:nvSpPr>
                <p:spPr>
                  <a:xfrm>
                    <a:off x="228600" y="19050"/>
                    <a:ext cx="1619100" cy="1905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850">
                        <a:solidFill>
                          <a:srgbClr val="F8FAFC"/>
                        </a:solidFill>
                        <a:latin typeface="Fira Code Medium"/>
                        <a:ea typeface="Fira Code Medium"/>
                        <a:cs typeface="Fira Code Medium"/>
                        <a:sym typeface="Fira Code Medium"/>
                      </a:rPr>
                      <a:t>x - 3 = 0 or x + 4 = 0</a:t>
                    </a:r>
                    <a:endParaRPr b="0" sz="850">
                      <a:solidFill>
                        <a:srgbClr val="F8FAFC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endParaRPr>
                  </a:p>
                </p:txBody>
              </p:sp>
            </p:grpSp>
            <p:grpSp>
              <p:nvGrpSpPr>
                <p:cNvPr id="197" name="Google Shape;197;p17"/>
                <p:cNvGrpSpPr/>
                <p:nvPr/>
              </p:nvGrpSpPr>
              <p:grpSpPr>
                <a:xfrm>
                  <a:off x="0" y="1143000"/>
                  <a:ext cx="1981200" cy="228600"/>
                  <a:chOff x="0" y="0"/>
                  <a:chExt cx="1981200" cy="228600"/>
                </a:xfrm>
              </p:grpSpPr>
              <p:sp>
                <p:nvSpPr>
                  <p:cNvPr id="198" name="Google Shape;198;p17"/>
                  <p:cNvSpPr/>
                  <p:nvPr/>
                </p:nvSpPr>
                <p:spPr>
                  <a:xfrm>
                    <a:off x="0" y="0"/>
                    <a:ext cx="1981200" cy="228600"/>
                  </a:xfrm>
                  <a:prstGeom prst="roundRect">
                    <a:avLst>
                      <a:gd fmla="val 16666" name="adj"/>
                    </a:avLst>
                  </a:prstGeom>
                  <a:solidFill>
                    <a:srgbClr val="1E293B"/>
                  </a:solidFill>
                  <a:ln cap="flat" cmpd="sng" w="9525">
                    <a:solidFill>
                      <a:srgbClr val="334155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199" name="Google Shape;199;p17"/>
                  <p:cNvSpPr/>
                  <p:nvPr/>
                </p:nvSpPr>
                <p:spPr>
                  <a:xfrm>
                    <a:off x="76200" y="76200"/>
                    <a:ext cx="76200" cy="76200"/>
                  </a:xfrm>
                  <a:prstGeom prst="ellipse">
                    <a:avLst/>
                  </a:prstGeom>
                  <a:solidFill>
                    <a:srgbClr val="000000">
                      <a:alpha val="0"/>
                    </a:srgbClr>
                  </a:solidFill>
                  <a:ln cap="flat" cmpd="sng" w="9525">
                    <a:solidFill>
                      <a:srgbClr val="94A3B8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00" name="Google Shape;200;p17"/>
                  <p:cNvSpPr txBox="1"/>
                  <p:nvPr/>
                </p:nvSpPr>
                <p:spPr>
                  <a:xfrm>
                    <a:off x="228600" y="19050"/>
                    <a:ext cx="1619100" cy="1905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850">
                        <a:solidFill>
                          <a:srgbClr val="64748B"/>
                        </a:solidFill>
                        <a:latin typeface="Fira Code"/>
                        <a:ea typeface="Fira Code"/>
                        <a:cs typeface="Fira Code"/>
                        <a:sym typeface="Fira Code"/>
                      </a:rPr>
                      <a:t>x = -3 or x = 4</a:t>
                    </a:r>
                    <a:endParaRPr b="0" sz="850">
                      <a:solidFill>
                        <a:srgbClr val="64748B"/>
                      </a:solidFill>
                      <a:latin typeface="Fira Code"/>
                      <a:ea typeface="Fira Code"/>
                      <a:cs typeface="Fira Code"/>
                      <a:sym typeface="Fira Code"/>
                    </a:endParaRPr>
                  </a:p>
                </p:txBody>
              </p:sp>
            </p:grpSp>
          </p:grpSp>
        </p:grpSp>
      </p:grpSp>
      <p:grpSp>
        <p:nvGrpSpPr>
          <p:cNvPr id="201" name="Google Shape;201;p17"/>
          <p:cNvGrpSpPr/>
          <p:nvPr/>
        </p:nvGrpSpPr>
        <p:grpSpPr>
          <a:xfrm>
            <a:off x="6096000" y="1238250"/>
            <a:ext cx="2590800" cy="3048000"/>
            <a:chOff x="0" y="0"/>
            <a:chExt cx="2590800" cy="3048000"/>
          </a:xfrm>
        </p:grpSpPr>
        <p:sp>
          <p:nvSpPr>
            <p:cNvPr id="202" name="Google Shape;202;p17"/>
            <p:cNvSpPr/>
            <p:nvPr/>
          </p:nvSpPr>
          <p:spPr>
            <a:xfrm>
              <a:off x="0" y="0"/>
              <a:ext cx="2590800" cy="3048000"/>
            </a:xfrm>
            <a:prstGeom prst="roundRect">
              <a:avLst>
                <a:gd fmla="val 4411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3" name="Google Shape;203;p17"/>
            <p:cNvSpPr txBox="1"/>
            <p:nvPr/>
          </p:nvSpPr>
          <p:spPr>
            <a:xfrm>
              <a:off x="190500" y="190500"/>
              <a:ext cx="22098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[ MODE_03 ]</a:t>
              </a:r>
              <a:endParaRPr b="0" sz="90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5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Fill in the Process</a:t>
              </a:r>
              <a:endParaRPr b="0" sz="150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Complete missing values inside generated reasoning.</a:t>
              </a:r>
              <a:endParaRPr b="0" sz="10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grpSp>
          <p:nvGrpSpPr>
            <p:cNvPr id="204" name="Google Shape;204;p17"/>
            <p:cNvGrpSpPr/>
            <p:nvPr/>
          </p:nvGrpSpPr>
          <p:grpSpPr>
            <a:xfrm>
              <a:off x="190500" y="1200150"/>
              <a:ext cx="2209800" cy="1657500"/>
              <a:chOff x="0" y="0"/>
              <a:chExt cx="2209800" cy="1657500"/>
            </a:xfrm>
          </p:grpSpPr>
          <p:sp>
            <p:nvSpPr>
              <p:cNvPr id="205" name="Google Shape;205;p17"/>
              <p:cNvSpPr/>
              <p:nvPr/>
            </p:nvSpPr>
            <p:spPr>
              <a:xfrm>
                <a:off x="0" y="0"/>
                <a:ext cx="2209800" cy="1657500"/>
              </a:xfrm>
              <a:prstGeom prst="roundRect">
                <a:avLst>
                  <a:gd fmla="val 4597" name="adj"/>
                </a:avLst>
              </a:prstGeom>
              <a:solidFill>
                <a:srgbClr val="0B1121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206" name="Google Shape;206;p17"/>
              <p:cNvGrpSpPr/>
              <p:nvPr/>
            </p:nvGrpSpPr>
            <p:grpSpPr>
              <a:xfrm>
                <a:off x="109538" y="114300"/>
                <a:ext cx="1990800" cy="1257450"/>
                <a:chOff x="-4762" y="0"/>
                <a:chExt cx="1990800" cy="1257450"/>
              </a:xfrm>
            </p:grpSpPr>
            <p:sp>
              <p:nvSpPr>
                <p:cNvPr id="207" name="Google Shape;207;p17"/>
                <p:cNvSpPr txBox="1"/>
                <p:nvPr/>
              </p:nvSpPr>
              <p:spPr>
                <a:xfrm>
                  <a:off x="0" y="0"/>
                  <a:ext cx="19812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750">
                      <a:solidFill>
                        <a:srgbClr val="94A3B8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rPr>
                    <a:t>COMPLETE THE STEPS:</a:t>
                  </a:r>
                  <a:endParaRPr b="0" sz="75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endParaRPr>
                </a:p>
              </p:txBody>
            </p:sp>
            <p:grpSp>
              <p:nvGrpSpPr>
                <p:cNvPr id="208" name="Google Shape;208;p17"/>
                <p:cNvGrpSpPr/>
                <p:nvPr/>
              </p:nvGrpSpPr>
              <p:grpSpPr>
                <a:xfrm>
                  <a:off x="0" y="190500"/>
                  <a:ext cx="1981200" cy="285900"/>
                  <a:chOff x="0" y="0"/>
                  <a:chExt cx="1981200" cy="285900"/>
                </a:xfrm>
              </p:grpSpPr>
              <p:sp>
                <p:nvSpPr>
                  <p:cNvPr id="209" name="Google Shape;209;p17"/>
                  <p:cNvSpPr/>
                  <p:nvPr/>
                </p:nvSpPr>
                <p:spPr>
                  <a:xfrm>
                    <a:off x="0" y="0"/>
                    <a:ext cx="1981200" cy="285900"/>
                  </a:xfrm>
                  <a:prstGeom prst="roundRect">
                    <a:avLst>
                      <a:gd fmla="val 13333" name="adj"/>
                    </a:avLst>
                  </a:prstGeom>
                  <a:solidFill>
                    <a:srgbClr val="1E293B">
                      <a:alpha val="60000"/>
                    </a:srgbClr>
                  </a:solidFill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0" name="Google Shape;210;p17"/>
                  <p:cNvSpPr txBox="1"/>
                  <p:nvPr/>
                </p:nvSpPr>
                <p:spPr>
                  <a:xfrm>
                    <a:off x="114300" y="0"/>
                    <a:ext cx="1752600" cy="2859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900">
                        <a:solidFill>
                          <a:srgbClr val="94A3B8"/>
                        </a:solidFill>
                        <a:latin typeface="Fira Code Medium"/>
                        <a:ea typeface="Fira Code Medium"/>
                        <a:cs typeface="Fira Code Medium"/>
                        <a:sym typeface="Fira Code Medium"/>
                      </a:rPr>
                      <a:t>Step 1: </a:t>
                    </a:r>
                    <a:r>
                      <a:rPr b="0" lang="en" sz="900">
                        <a:solidFill>
                          <a:srgbClr val="F8FAFC"/>
                        </a:solidFill>
                        <a:latin typeface="Fira Code Medium"/>
                        <a:ea typeface="Fira Code Medium"/>
                        <a:cs typeface="Fira Code Medium"/>
                        <a:sym typeface="Fira Code Medium"/>
                      </a:rPr>
                      <a:t>2(x + 5) = 16</a:t>
                    </a:r>
                    <a:endParaRPr b="0" sz="900">
                      <a:solidFill>
                        <a:srgbClr val="94A3B8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endParaRPr>
                  </a:p>
                </p:txBody>
              </p:sp>
            </p:grpSp>
            <p:grpSp>
              <p:nvGrpSpPr>
                <p:cNvPr id="211" name="Google Shape;211;p17"/>
                <p:cNvGrpSpPr/>
                <p:nvPr/>
              </p:nvGrpSpPr>
              <p:grpSpPr>
                <a:xfrm>
                  <a:off x="-4762" y="547688"/>
                  <a:ext cx="1990800" cy="352500"/>
                  <a:chOff x="-4762" y="-4762"/>
                  <a:chExt cx="1990800" cy="352500"/>
                </a:xfrm>
              </p:grpSpPr>
              <p:pic>
                <p:nvPicPr>
                  <p:cNvPr id="212" name="Google Shape;212;p1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-4762" y="-4762"/>
                    <a:ext cx="1990800" cy="3525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sp>
                <p:nvSpPr>
                  <p:cNvPr id="213" name="Google Shape;213;p17"/>
                  <p:cNvSpPr txBox="1"/>
                  <p:nvPr/>
                </p:nvSpPr>
                <p:spPr>
                  <a:xfrm>
                    <a:off x="114300" y="0"/>
                    <a:ext cx="1752600" cy="3429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900">
                        <a:solidFill>
                          <a:srgbClr val="F8FAFC"/>
                        </a:solidFill>
                        <a:latin typeface="Fira Code Medium"/>
                        <a:ea typeface="Fira Code Medium"/>
                        <a:cs typeface="Fira Code Medium"/>
                        <a:sym typeface="Fira Code Medium"/>
                      </a:rPr>
                      <a:t>Step 2: x + 5 = </a:t>
                    </a:r>
                    <a:r>
                      <a:rPr b="0" lang="en" sz="900">
                        <a:solidFill>
                          <a:srgbClr val="06B6D4"/>
                        </a:solidFill>
                        <a:latin typeface="Fira Code Medium"/>
                        <a:ea typeface="Fira Code Medium"/>
                        <a:cs typeface="Fira Code Medium"/>
                        <a:sym typeface="Fira Code Medium"/>
                      </a:rPr>
                      <a:t>?</a:t>
                    </a:r>
                    <a:endParaRPr b="0" sz="900">
                      <a:solidFill>
                        <a:srgbClr val="F8FAFC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endParaRPr>
                  </a:p>
                </p:txBody>
              </p:sp>
            </p:grpSp>
            <p:grpSp>
              <p:nvGrpSpPr>
                <p:cNvPr id="214" name="Google Shape;214;p17"/>
                <p:cNvGrpSpPr/>
                <p:nvPr/>
              </p:nvGrpSpPr>
              <p:grpSpPr>
                <a:xfrm>
                  <a:off x="0" y="971550"/>
                  <a:ext cx="1981200" cy="285900"/>
                  <a:chOff x="0" y="0"/>
                  <a:chExt cx="1981200" cy="285900"/>
                </a:xfrm>
              </p:grpSpPr>
              <p:sp>
                <p:nvSpPr>
                  <p:cNvPr id="215" name="Google Shape;215;p17"/>
                  <p:cNvSpPr/>
                  <p:nvPr/>
                </p:nvSpPr>
                <p:spPr>
                  <a:xfrm>
                    <a:off x="0" y="0"/>
                    <a:ext cx="1981200" cy="285900"/>
                  </a:xfrm>
                  <a:prstGeom prst="roundRect">
                    <a:avLst>
                      <a:gd fmla="val 13333" name="adj"/>
                    </a:avLst>
                  </a:prstGeom>
                  <a:solidFill>
                    <a:srgbClr val="1E293B">
                      <a:alpha val="60000"/>
                    </a:srgbClr>
                  </a:solidFill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t/>
                    </a:r>
                    <a:endParaRPr/>
                  </a:p>
                </p:txBody>
              </p:sp>
              <p:sp>
                <p:nvSpPr>
                  <p:cNvPr id="216" name="Google Shape;216;p17"/>
                  <p:cNvSpPr txBox="1"/>
                  <p:nvPr/>
                </p:nvSpPr>
                <p:spPr>
                  <a:xfrm>
                    <a:off x="114300" y="0"/>
                    <a:ext cx="1752600" cy="2859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anchorCtr="0" anchor="ctr" bIns="0" lIns="0" spcFirstLastPara="1" rIns="0" wrap="square" tIns="0">
                    <a:noAutofit/>
                  </a:bodyPr>
                  <a:lstStyle/>
                  <a:p>
                    <a:pPr indent="0" lvl="0" marL="0" rtl="0" algn="l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r>
                      <a:rPr b="0" lang="en" sz="900">
                        <a:solidFill>
                          <a:srgbClr val="94A3B8"/>
                        </a:solidFill>
                        <a:latin typeface="Fira Code Medium"/>
                        <a:ea typeface="Fira Code Medium"/>
                        <a:cs typeface="Fira Code Medium"/>
                        <a:sym typeface="Fira Code Medium"/>
                      </a:rPr>
                      <a:t>Step 3: x = </a:t>
                    </a:r>
                    <a:r>
                      <a:rPr b="0" lang="en" sz="900">
                        <a:solidFill>
                          <a:srgbClr val="06B6D4"/>
                        </a:solidFill>
                        <a:latin typeface="Fira Code SemiBold"/>
                        <a:ea typeface="Fira Code SemiBold"/>
                        <a:cs typeface="Fira Code SemiBold"/>
                        <a:sym typeface="Fira Code SemiBold"/>
                      </a:rPr>
                      <a:t>3</a:t>
                    </a:r>
                    <a:endParaRPr b="0" sz="900">
                      <a:solidFill>
                        <a:srgbClr val="94A3B8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endParaRPr>
                  </a:p>
                </p:txBody>
              </p:sp>
            </p:grpSp>
          </p:grpSp>
        </p:grpSp>
      </p:grpSp>
      <p:grpSp>
        <p:nvGrpSpPr>
          <p:cNvPr id="217" name="Google Shape;217;p17"/>
          <p:cNvGrpSpPr/>
          <p:nvPr/>
        </p:nvGrpSpPr>
        <p:grpSpPr>
          <a:xfrm>
            <a:off x="452438" y="4452938"/>
            <a:ext cx="8239200" cy="390600"/>
            <a:chOff x="-4762" y="-4762"/>
            <a:chExt cx="8239200" cy="390600"/>
          </a:xfrm>
        </p:grpSpPr>
        <p:pic>
          <p:nvPicPr>
            <p:cNvPr id="218" name="Google Shape;218;p17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-4762" y="-4762"/>
              <a:ext cx="8239200" cy="390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9" name="Google Shape;219;p17"/>
            <p:cNvSpPr/>
            <p:nvPr/>
          </p:nvSpPr>
          <p:spPr>
            <a:xfrm>
              <a:off x="152400" y="152400"/>
              <a:ext cx="76200" cy="7620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17"/>
            <p:cNvSpPr txBox="1"/>
            <p:nvPr/>
          </p:nvSpPr>
          <p:spPr>
            <a:xfrm>
              <a:off x="342900" y="0"/>
              <a:ext cx="7715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SYSTEM PARITY</a:t>
              </a:r>
              <a:r>
                <a:rPr b="0" lang="en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 All gameplay modes dynamically synchronize and share expressions, generated reasoning steps, Skill Tags, and feedback loops.</a:t>
              </a:r>
              <a:endParaRPr b="0" sz="10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2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26" name="Google Shape;226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34600" cy="5048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7" name="Google Shape;227;p18"/>
          <p:cNvGrpSpPr/>
          <p:nvPr/>
        </p:nvGrpSpPr>
        <p:grpSpPr>
          <a:xfrm>
            <a:off x="6972300" y="419100"/>
            <a:ext cx="1866900" cy="285900"/>
            <a:chOff x="0" y="0"/>
            <a:chExt cx="1866900" cy="285900"/>
          </a:xfrm>
        </p:grpSpPr>
        <p:sp>
          <p:nvSpPr>
            <p:cNvPr id="228" name="Google Shape;228;p18"/>
            <p:cNvSpPr/>
            <p:nvPr/>
          </p:nvSpPr>
          <p:spPr>
            <a:xfrm>
              <a:off x="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18"/>
            <p:cNvSpPr/>
            <p:nvPr/>
          </p:nvSpPr>
          <p:spPr>
            <a:xfrm>
              <a:off x="66675" y="66675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0"/>
                  </a:lnTo>
                  <a:lnTo>
                    <a:pt x="60000" y="60000"/>
                  </a:lnTo>
                  <a:lnTo>
                    <a:pt x="120000" y="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18"/>
            <p:cNvSpPr txBox="1"/>
            <p:nvPr/>
          </p:nvSpPr>
          <p:spPr>
            <a:xfrm>
              <a:off x="342900" y="0"/>
              <a:ext cx="1524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MathSmith </a:t>
              </a:r>
              <a:r>
                <a:rPr b="0" lang="en" sz="1100">
                  <a:solidFill>
                    <a:srgbClr val="334155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|</a:t>
              </a:r>
              <a:r>
                <a:rPr b="0" lang="en" sz="11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 数锻</a:t>
              </a:r>
              <a:endParaRPr b="0" sz="11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231" name="Google Shape;231;p18"/>
          <p:cNvSpPr txBox="1"/>
          <p:nvPr/>
        </p:nvSpPr>
        <p:spPr>
          <a:xfrm>
            <a:off x="457200" y="304800"/>
            <a:ext cx="61914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4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From Expression to Gameplay</a:t>
            </a:r>
            <a:endParaRPr b="0" sz="2400">
              <a:solidFill>
                <a:srgbClr val="F8FAFC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1200">
                <a:solidFill>
                  <a:srgbClr val="06B6D4"/>
                </a:solidFill>
                <a:latin typeface="Outfit Medium"/>
                <a:ea typeface="Outfit Medium"/>
                <a:cs typeface="Outfit Medium"/>
                <a:sym typeface="Outfit Medium"/>
              </a:rPr>
              <a:t>One Mathematical Pipeline Powers Multiple Experiences</a:t>
            </a:r>
            <a:endParaRPr b="0" sz="1200">
              <a:solidFill>
                <a:srgbClr val="06B6D4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232" name="Google Shape;232;p18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33" name="Google Shape;233;p18"/>
          <p:cNvGrpSpPr/>
          <p:nvPr/>
        </p:nvGrpSpPr>
        <p:grpSpPr>
          <a:xfrm>
            <a:off x="457200" y="1285875"/>
            <a:ext cx="8229675" cy="952500"/>
            <a:chOff x="0" y="0"/>
            <a:chExt cx="8229675" cy="952500"/>
          </a:xfrm>
        </p:grpSpPr>
        <p:grpSp>
          <p:nvGrpSpPr>
            <p:cNvPr id="234" name="Google Shape;234;p18"/>
            <p:cNvGrpSpPr/>
            <p:nvPr/>
          </p:nvGrpSpPr>
          <p:grpSpPr>
            <a:xfrm>
              <a:off x="0" y="0"/>
              <a:ext cx="1714500" cy="952500"/>
              <a:chOff x="0" y="0"/>
              <a:chExt cx="1714500" cy="952500"/>
            </a:xfrm>
          </p:grpSpPr>
          <p:sp>
            <p:nvSpPr>
              <p:cNvPr id="235" name="Google Shape;235;p18"/>
              <p:cNvSpPr/>
              <p:nvPr/>
            </p:nvSpPr>
            <p:spPr>
              <a:xfrm>
                <a:off x="0" y="0"/>
                <a:ext cx="1714500" cy="952500"/>
              </a:xfrm>
              <a:prstGeom prst="roundRect">
                <a:avLst>
                  <a:gd fmla="val 12000" name="adj"/>
                </a:avLst>
              </a:prstGeom>
              <a:solidFill>
                <a:srgbClr val="1E293B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8"/>
              <p:cNvSpPr/>
              <p:nvPr/>
            </p:nvSpPr>
            <p:spPr>
              <a:xfrm>
                <a:off x="0" y="0"/>
                <a:ext cx="57300" cy="952500"/>
              </a:xfrm>
              <a:prstGeom prst="roundRect">
                <a:avLst>
                  <a:gd fmla="val 50000" name="adj"/>
                </a:avLst>
              </a:pr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18"/>
              <p:cNvSpPr txBox="1"/>
              <p:nvPr/>
            </p:nvSpPr>
            <p:spPr>
              <a:xfrm>
                <a:off x="171450" y="133350"/>
                <a:ext cx="1428900" cy="68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STAGE 01</a:t>
                </a:r>
                <a:endParaRPr b="0" sz="80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8FAFC"/>
                    </a:solidFill>
                    <a:latin typeface="Outfit Medium"/>
                    <a:ea typeface="Outfit Medium"/>
                    <a:cs typeface="Outfit Medium"/>
                    <a:sym typeface="Outfit Medium"/>
                  </a:rPr>
                  <a:t>Authored Expression</a:t>
                </a:r>
                <a:endParaRPr b="0" sz="11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Initial input math formula.</a:t>
                </a:r>
                <a:endParaRPr b="0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238" name="Google Shape;238;p18"/>
            <p:cNvSpPr/>
            <p:nvPr/>
          </p:nvSpPr>
          <p:spPr>
            <a:xfrm>
              <a:off x="1847850" y="419100"/>
              <a:ext cx="209700" cy="1143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09091" y="60000"/>
                  </a:lnTo>
                  <a:moveTo>
                    <a:pt x="76364" y="0"/>
                  </a:moveTo>
                  <a:lnTo>
                    <a:pt x="120000" y="60000"/>
                  </a:lnTo>
                  <a:lnTo>
                    <a:pt x="76364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9" name="Google Shape;239;p18"/>
            <p:cNvGrpSpPr/>
            <p:nvPr/>
          </p:nvGrpSpPr>
          <p:grpSpPr>
            <a:xfrm>
              <a:off x="2190750" y="0"/>
              <a:ext cx="1762200" cy="952500"/>
              <a:chOff x="0" y="0"/>
              <a:chExt cx="1762200" cy="952500"/>
            </a:xfrm>
          </p:grpSpPr>
          <p:sp>
            <p:nvSpPr>
              <p:cNvPr id="240" name="Google Shape;240;p18"/>
              <p:cNvSpPr/>
              <p:nvPr/>
            </p:nvSpPr>
            <p:spPr>
              <a:xfrm>
                <a:off x="0" y="0"/>
                <a:ext cx="1762200" cy="952500"/>
              </a:xfrm>
              <a:prstGeom prst="roundRect">
                <a:avLst>
                  <a:gd fmla="val 12000" name="adj"/>
                </a:avLst>
              </a:prstGeom>
              <a:solidFill>
                <a:srgbClr val="1E293B"/>
              </a:solidFill>
              <a:ln cap="flat" cmpd="sng" w="14300">
                <a:solidFill>
                  <a:srgbClr val="3B82F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18"/>
              <p:cNvSpPr/>
              <p:nvPr/>
            </p:nvSpPr>
            <p:spPr>
              <a:xfrm>
                <a:off x="0" y="0"/>
                <a:ext cx="57300" cy="952500"/>
              </a:xfrm>
              <a:prstGeom prst="roundRect">
                <a:avLst>
                  <a:gd fmla="val 50000" name="adj"/>
                </a:avLst>
              </a:prstGeom>
              <a:solidFill>
                <a:srgbClr val="3B82F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8"/>
              <p:cNvSpPr txBox="1"/>
              <p:nvPr/>
            </p:nvSpPr>
            <p:spPr>
              <a:xfrm>
                <a:off x="171450" y="133350"/>
                <a:ext cx="1476300" cy="68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3B82F6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STAGE 02</a:t>
                </a:r>
                <a:endParaRPr b="0" sz="8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8FAFC"/>
                    </a:solidFill>
                    <a:latin typeface="Outfit Medium"/>
                    <a:ea typeface="Outfit Medium"/>
                    <a:cs typeface="Outfit Medium"/>
                    <a:sym typeface="Outfit Medium"/>
                  </a:rPr>
                  <a:t>ExpressionParser</a:t>
                </a:r>
                <a:endParaRPr b="0" sz="11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E2E8F0"/>
                    </a:solidFill>
                    <a:latin typeface="Inter"/>
                    <a:ea typeface="Inter"/>
                    <a:cs typeface="Inter"/>
                    <a:sym typeface="Inter"/>
                  </a:rPr>
                  <a:t>StepGenerator backend processes structure.</a:t>
                </a:r>
                <a:endParaRPr b="0" sz="900">
                  <a:solidFill>
                    <a:srgbClr val="E2E8F0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243" name="Google Shape;243;p18"/>
            <p:cNvSpPr/>
            <p:nvPr/>
          </p:nvSpPr>
          <p:spPr>
            <a:xfrm>
              <a:off x="4086225" y="419100"/>
              <a:ext cx="209700" cy="1143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09091" y="60000"/>
                  </a:lnTo>
                  <a:moveTo>
                    <a:pt x="76364" y="0"/>
                  </a:moveTo>
                  <a:lnTo>
                    <a:pt x="120000" y="60000"/>
                  </a:lnTo>
                  <a:lnTo>
                    <a:pt x="76364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44" name="Google Shape;244;p18"/>
            <p:cNvGrpSpPr/>
            <p:nvPr/>
          </p:nvGrpSpPr>
          <p:grpSpPr>
            <a:xfrm>
              <a:off x="4429125" y="0"/>
              <a:ext cx="1714500" cy="952500"/>
              <a:chOff x="0" y="0"/>
              <a:chExt cx="1714500" cy="952500"/>
            </a:xfrm>
          </p:grpSpPr>
          <p:sp>
            <p:nvSpPr>
              <p:cNvPr id="245" name="Google Shape;245;p18"/>
              <p:cNvSpPr/>
              <p:nvPr/>
            </p:nvSpPr>
            <p:spPr>
              <a:xfrm>
                <a:off x="0" y="0"/>
                <a:ext cx="1714500" cy="952500"/>
              </a:xfrm>
              <a:prstGeom prst="roundRect">
                <a:avLst>
                  <a:gd fmla="val 12000" name="adj"/>
                </a:avLst>
              </a:prstGeom>
              <a:solidFill>
                <a:srgbClr val="1E293B"/>
              </a:solidFill>
              <a:ln cap="flat" cmpd="sng" w="14300">
                <a:solidFill>
                  <a:srgbClr val="06B6D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18"/>
              <p:cNvSpPr/>
              <p:nvPr/>
            </p:nvSpPr>
            <p:spPr>
              <a:xfrm>
                <a:off x="0" y="0"/>
                <a:ext cx="57300" cy="952500"/>
              </a:xfrm>
              <a:prstGeom prst="roundRect">
                <a:avLst>
                  <a:gd fmla="val 50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18"/>
              <p:cNvSpPr txBox="1"/>
              <p:nvPr/>
            </p:nvSpPr>
            <p:spPr>
              <a:xfrm>
                <a:off x="171450" y="133350"/>
                <a:ext cx="1428900" cy="68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06B6D4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STAGE 03</a:t>
                </a:r>
                <a:endParaRPr b="0" sz="8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8FAFC"/>
                    </a:solidFill>
                    <a:latin typeface="Outfit Medium"/>
                    <a:ea typeface="Outfit Medium"/>
                    <a:cs typeface="Outfit Medium"/>
                    <a:sym typeface="Outfit Medium"/>
                  </a:rPr>
                  <a:t>Human Solution</a:t>
                </a:r>
                <a:endParaRPr b="0" sz="11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E2E8F0"/>
                    </a:solidFill>
                    <a:latin typeface="Inter"/>
                    <a:ea typeface="Inter"/>
                    <a:cs typeface="Inter"/>
                    <a:sym typeface="Inter"/>
                  </a:rPr>
                  <a:t>Intermediate step generation details.</a:t>
                </a:r>
                <a:endParaRPr b="0" sz="900">
                  <a:solidFill>
                    <a:srgbClr val="E2E8F0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248" name="Google Shape;248;p18"/>
            <p:cNvSpPr/>
            <p:nvPr/>
          </p:nvSpPr>
          <p:spPr>
            <a:xfrm>
              <a:off x="6276975" y="419100"/>
              <a:ext cx="209700" cy="1143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09091" y="60000"/>
                  </a:lnTo>
                  <a:moveTo>
                    <a:pt x="76364" y="0"/>
                  </a:moveTo>
                  <a:lnTo>
                    <a:pt x="120000" y="60000"/>
                  </a:lnTo>
                  <a:lnTo>
                    <a:pt x="76364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49" name="Google Shape;249;p18"/>
            <p:cNvGrpSpPr/>
            <p:nvPr/>
          </p:nvGrpSpPr>
          <p:grpSpPr>
            <a:xfrm>
              <a:off x="6619875" y="0"/>
              <a:ext cx="1609800" cy="952500"/>
              <a:chOff x="0" y="0"/>
              <a:chExt cx="1609800" cy="952500"/>
            </a:xfrm>
          </p:grpSpPr>
          <p:sp>
            <p:nvSpPr>
              <p:cNvPr id="250" name="Google Shape;250;p18"/>
              <p:cNvSpPr/>
              <p:nvPr/>
            </p:nvSpPr>
            <p:spPr>
              <a:xfrm>
                <a:off x="0" y="0"/>
                <a:ext cx="1609800" cy="952500"/>
              </a:xfrm>
              <a:prstGeom prst="roundRect">
                <a:avLst>
                  <a:gd fmla="val 12000" name="adj"/>
                </a:avLst>
              </a:prstGeom>
              <a:solidFill>
                <a:srgbClr val="1E293B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8"/>
              <p:cNvSpPr/>
              <p:nvPr/>
            </p:nvSpPr>
            <p:spPr>
              <a:xfrm>
                <a:off x="0" y="0"/>
                <a:ext cx="57300" cy="952500"/>
              </a:xfrm>
              <a:prstGeom prst="roundRect">
                <a:avLst>
                  <a:gd fmla="val 50000" name="adj"/>
                </a:avLst>
              </a:prstGeom>
              <a:solidFill>
                <a:srgbClr val="F8FAFC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18"/>
              <p:cNvSpPr txBox="1"/>
              <p:nvPr/>
            </p:nvSpPr>
            <p:spPr>
              <a:xfrm>
                <a:off x="171450" y="133350"/>
                <a:ext cx="1323900" cy="68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F8FAFC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STAGE 04</a:t>
                </a:r>
                <a:endParaRPr b="0" sz="800">
                  <a:solidFill>
                    <a:srgbClr val="F8FAFC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1100">
                    <a:solidFill>
                      <a:srgbClr val="F8FAFC"/>
                    </a:solidFill>
                    <a:latin typeface="Outfit Medium"/>
                    <a:ea typeface="Outfit Medium"/>
                    <a:cs typeface="Outfit Medium"/>
                    <a:sym typeface="Outfit Medium"/>
                  </a:rPr>
                  <a:t>Gameplay Modes</a:t>
                </a:r>
                <a:endParaRPr b="0" sz="11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Outputs mapped to interactive states.</a:t>
                </a:r>
                <a:endParaRPr b="0" sz="9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253" name="Google Shape;253;p18"/>
          <p:cNvGrpSpPr/>
          <p:nvPr/>
        </p:nvGrpSpPr>
        <p:grpSpPr>
          <a:xfrm>
            <a:off x="457200" y="2524125"/>
            <a:ext cx="3962400" cy="2095500"/>
            <a:chOff x="0" y="0"/>
            <a:chExt cx="3962400" cy="2095500"/>
          </a:xfrm>
        </p:grpSpPr>
        <p:sp>
          <p:nvSpPr>
            <p:cNvPr id="254" name="Google Shape;254;p18"/>
            <p:cNvSpPr/>
            <p:nvPr/>
          </p:nvSpPr>
          <p:spPr>
            <a:xfrm>
              <a:off x="0" y="0"/>
              <a:ext cx="3962400" cy="20955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18"/>
            <p:cNvSpPr txBox="1"/>
            <p:nvPr/>
          </p:nvSpPr>
          <p:spPr>
            <a:xfrm>
              <a:off x="228600" y="228600"/>
              <a:ext cx="3505200" cy="163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25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CORE ARITHMETIC PIPELINE</a:t>
              </a:r>
              <a:endParaRPr b="0" sz="925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388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Decomposition &amp; Core Logic</a:t>
              </a:r>
              <a:endParaRPr b="0" sz="1388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71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Systematically generates sequential visual milestones of target arithmetic breakdowns.</a:t>
              </a:r>
              <a:endParaRPr b="0" sz="97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1295">
                  <a:solidFill>
                    <a:srgbClr val="06B6D4"/>
                  </a:solidFill>
                </a:rPr>
                <a:t>•</a:t>
              </a:r>
              <a:r>
                <a:rPr lang="en" sz="1295"/>
                <a:t> </a:t>
              </a:r>
              <a:r>
                <a:rPr b="0" lang="en" sz="879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MAKE-TEN DECOMPOSITION:</a:t>
              </a:r>
              <a:r>
                <a:rPr b="0" lang="en" sz="97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 Step-by-step place-value structures.</a:t>
              </a:r>
              <a:endParaRPr sz="1295"/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1295">
                  <a:solidFill>
                    <a:srgbClr val="06B6D4"/>
                  </a:solidFill>
                </a:rPr>
                <a:t>•</a:t>
              </a:r>
              <a:r>
                <a:rPr lang="en" sz="1295"/>
                <a:t> </a:t>
              </a:r>
              <a:r>
                <a:rPr b="0" lang="en" sz="879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DIVISION DECOMPOSITION:</a:t>
              </a:r>
              <a:r>
                <a:rPr b="0" lang="en" sz="97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 Synthesized dividends mapped to dynamic arrays.</a:t>
              </a:r>
              <a:endParaRPr sz="1295"/>
            </a:p>
          </p:txBody>
        </p:sp>
      </p:grpSp>
      <p:grpSp>
        <p:nvGrpSpPr>
          <p:cNvPr id="256" name="Google Shape;256;p18"/>
          <p:cNvGrpSpPr/>
          <p:nvPr/>
        </p:nvGrpSpPr>
        <p:grpSpPr>
          <a:xfrm>
            <a:off x="4724400" y="2524125"/>
            <a:ext cx="3962400" cy="2095500"/>
            <a:chOff x="0" y="0"/>
            <a:chExt cx="3962400" cy="2095500"/>
          </a:xfrm>
        </p:grpSpPr>
        <p:sp>
          <p:nvSpPr>
            <p:cNvPr id="257" name="Google Shape;257;p18"/>
            <p:cNvSpPr/>
            <p:nvPr/>
          </p:nvSpPr>
          <p:spPr>
            <a:xfrm>
              <a:off x="0" y="0"/>
              <a:ext cx="3962400" cy="20955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8" name="Google Shape;258;p18"/>
            <p:cNvSpPr txBox="1"/>
            <p:nvPr/>
          </p:nvSpPr>
          <p:spPr>
            <a:xfrm>
              <a:off x="228600" y="228600"/>
              <a:ext cx="3505200" cy="1638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25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OPERATIONAL ENGINE FEATURES</a:t>
              </a:r>
              <a:endParaRPr b="0" sz="925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388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Precedence &amp; Dynamic Steps</a:t>
              </a:r>
              <a:endParaRPr b="0" sz="1388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71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Powers advanced expression tree resolution and multiple gameplay loops simultaneously.</a:t>
              </a:r>
              <a:endParaRPr b="0" sz="97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" sz="1295">
                  <a:solidFill>
                    <a:srgbClr val="3B82F6"/>
                  </a:solidFill>
                </a:rPr>
                <a:t>•</a:t>
              </a:r>
              <a:r>
                <a:rPr lang="en" sz="1295"/>
                <a:t> </a:t>
              </a:r>
              <a:r>
                <a:rPr b="0" lang="en" sz="879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REGROUPING &amp; PARTIAL PRODUCTS:</a:t>
              </a:r>
              <a:r>
                <a:rPr b="0" lang="en" sz="97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 Interactive grid structures.</a:t>
              </a:r>
              <a:endParaRPr sz="1295"/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1" lang="en" sz="1295">
                  <a:solidFill>
                    <a:srgbClr val="3B82F6"/>
                  </a:solidFill>
                </a:rPr>
                <a:t>•</a:t>
              </a:r>
              <a:r>
                <a:rPr lang="en" sz="1295"/>
                <a:t> </a:t>
              </a:r>
              <a:r>
                <a:rPr b="0" lang="en" sz="879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PARENTHESES PRECEDENCE:</a:t>
              </a:r>
              <a:r>
                <a:rPr b="0" lang="en" sz="97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 Tree parsing of nested algebraic levels.</a:t>
              </a:r>
              <a:endParaRPr sz="1295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1"/>
        </a:solid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34600" cy="5048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4" name="Google Shape;264;p19"/>
          <p:cNvGrpSpPr/>
          <p:nvPr/>
        </p:nvGrpSpPr>
        <p:grpSpPr>
          <a:xfrm>
            <a:off x="6858000" y="342900"/>
            <a:ext cx="2247900" cy="285900"/>
            <a:chOff x="0" y="0"/>
            <a:chExt cx="2247900" cy="285900"/>
          </a:xfrm>
        </p:grpSpPr>
        <p:sp>
          <p:nvSpPr>
            <p:cNvPr id="265" name="Google Shape;265;p19"/>
            <p:cNvSpPr/>
            <p:nvPr/>
          </p:nvSpPr>
          <p:spPr>
            <a:xfrm>
              <a:off x="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6" name="Google Shape;266;p19"/>
            <p:cNvSpPr/>
            <p:nvPr/>
          </p:nvSpPr>
          <p:spPr>
            <a:xfrm>
              <a:off x="66675" y="66675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0"/>
                  </a:lnTo>
                  <a:lnTo>
                    <a:pt x="60000" y="60000"/>
                  </a:lnTo>
                  <a:lnTo>
                    <a:pt x="120000" y="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7" name="Google Shape;267;p19"/>
            <p:cNvSpPr txBox="1"/>
            <p:nvPr/>
          </p:nvSpPr>
          <p:spPr>
            <a:xfrm>
              <a:off x="342900" y="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4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MathSmith </a:t>
              </a:r>
              <a:r>
                <a:rPr b="0" lang="en" sz="1400">
                  <a:solidFill>
                    <a:srgbClr val="334155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|</a:t>
              </a:r>
              <a:r>
                <a:rPr b="0" lang="en" sz="14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 数锻</a:t>
              </a:r>
              <a:endParaRPr b="0" sz="14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268" name="Google Shape;268;p19"/>
          <p:cNvSpPr/>
          <p:nvPr/>
        </p:nvSpPr>
        <p:spPr>
          <a:xfrm>
            <a:off x="457200" y="1000125"/>
            <a:ext cx="8229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9"/>
          <p:cNvSpPr txBox="1"/>
          <p:nvPr/>
        </p:nvSpPr>
        <p:spPr>
          <a:xfrm>
            <a:off x="457200" y="285750"/>
            <a:ext cx="61914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04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Mathematically Correct ≠ Pedagogically Useful</a:t>
            </a:r>
            <a:endParaRPr b="0" sz="2040">
              <a:solidFill>
                <a:srgbClr val="F8FAFC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1105">
                <a:solidFill>
                  <a:srgbClr val="06B6D4"/>
                </a:solidFill>
                <a:latin typeface="Outfit Medium"/>
                <a:ea typeface="Outfit Medium"/>
                <a:cs typeface="Outfit Medium"/>
                <a:sym typeface="Outfit Medium"/>
              </a:rPr>
              <a:t>Finding: Early generated solutions had redundant transformations and unnatural decomposition.</a:t>
            </a:r>
            <a:endParaRPr b="0" sz="1105">
              <a:solidFill>
                <a:srgbClr val="06B6D4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270" name="Google Shape;270;p19"/>
          <p:cNvSpPr/>
          <p:nvPr/>
        </p:nvSpPr>
        <p:spPr>
          <a:xfrm>
            <a:off x="4572000" y="1238250"/>
            <a:ext cx="9600" cy="3333900"/>
          </a:xfrm>
          <a:prstGeom prst="rect">
            <a:avLst/>
          </a:prstGeom>
          <a:solidFill>
            <a:srgbClr val="334155">
              <a:alpha val="50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71" name="Google Shape;271;p19"/>
          <p:cNvGrpSpPr/>
          <p:nvPr/>
        </p:nvGrpSpPr>
        <p:grpSpPr>
          <a:xfrm>
            <a:off x="457200" y="1238250"/>
            <a:ext cx="3810000" cy="1571700"/>
            <a:chOff x="0" y="0"/>
            <a:chExt cx="3810000" cy="1571700"/>
          </a:xfrm>
        </p:grpSpPr>
        <p:sp>
          <p:nvSpPr>
            <p:cNvPr id="272" name="Google Shape;272;p19"/>
            <p:cNvSpPr/>
            <p:nvPr/>
          </p:nvSpPr>
          <p:spPr>
            <a:xfrm>
              <a:off x="0" y="0"/>
              <a:ext cx="3810000" cy="15717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3" name="Google Shape;273;p19"/>
            <p:cNvSpPr/>
            <p:nvPr/>
          </p:nvSpPr>
          <p:spPr>
            <a:xfrm>
              <a:off x="0" y="0"/>
              <a:ext cx="3810000" cy="342900"/>
            </a:xfrm>
            <a:custGeom>
              <a:rect b="b" l="l" r="r" t="t"/>
              <a:pathLst>
                <a:path extrusionOk="0" h="120000" w="120000">
                  <a:moveTo>
                    <a:pt x="0" y="40000"/>
                  </a:moveTo>
                  <a:cubicBezTo>
                    <a:pt x="0" y="17900"/>
                    <a:pt x="1611" y="0"/>
                    <a:pt x="3600" y="0"/>
                  </a:cubicBezTo>
                  <a:lnTo>
                    <a:pt x="116400" y="0"/>
                  </a:lnTo>
                  <a:cubicBezTo>
                    <a:pt x="118389" y="0"/>
                    <a:pt x="120000" y="17900"/>
                    <a:pt x="120000" y="40000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B1121">
                <a:alpha val="5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4" name="Google Shape;274;p19"/>
            <p:cNvSpPr txBox="1"/>
            <p:nvPr/>
          </p:nvSpPr>
          <p:spPr>
            <a:xfrm>
              <a:off x="228600" y="76200"/>
              <a:ext cx="33528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BEFORE: ARBITRARY MECHANICAL STEPS</a:t>
              </a:r>
              <a:endParaRPr b="0" sz="1000">
                <a:solidFill>
                  <a:srgbClr val="94A3B8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</p:txBody>
        </p:sp>
        <p:sp>
          <p:nvSpPr>
            <p:cNvPr id="275" name="Google Shape;275;p19"/>
            <p:cNvSpPr txBox="1"/>
            <p:nvPr/>
          </p:nvSpPr>
          <p:spPr>
            <a:xfrm>
              <a:off x="228600" y="495300"/>
              <a:ext cx="33528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18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Redundant Steps &amp; Unnatural Flow:</a:t>
              </a:r>
              <a:endParaRPr b="0" sz="1018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925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  <a:t>3x + 5 = 20 </a:t>
              </a:r>
              <a:br>
                <a:rPr b="0" lang="en" sz="925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</a:br>
              <a:r>
                <a:rPr b="0" lang="en" sz="925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  <a:t>3x + 5 - 5 = 20 - 5 </a:t>
              </a:r>
              <a:r>
                <a:rPr b="0" lang="en" sz="925">
                  <a:solidFill>
                    <a:srgbClr val="EF4444"/>
                  </a:solidFill>
                  <a:latin typeface="Fira Code"/>
                  <a:ea typeface="Fira Code"/>
                  <a:cs typeface="Fira Code"/>
                  <a:sym typeface="Fira Code"/>
                </a:rPr>
                <a:t>[Redundant]</a:t>
              </a:r>
              <a:br>
                <a:rPr b="0" lang="en" sz="925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</a:br>
              <a:r>
                <a:rPr b="0" lang="en" sz="925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  <a:t>3x + 0 = 15 </a:t>
              </a:r>
              <a:r>
                <a:rPr b="0" lang="en" sz="925">
                  <a:solidFill>
                    <a:srgbClr val="EF4444"/>
                  </a:solidFill>
                  <a:latin typeface="Fira Code"/>
                  <a:ea typeface="Fira Code"/>
                  <a:cs typeface="Fira Code"/>
                  <a:sym typeface="Fira Code"/>
                </a:rPr>
                <a:t>[Unnatural]</a:t>
              </a:r>
              <a:br>
                <a:rPr b="0" lang="en" sz="925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</a:br>
              <a:r>
                <a:rPr b="0" lang="en" sz="925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  <a:t>3x = 15 </a:t>
              </a:r>
              <a:br>
                <a:rPr b="0" lang="en" sz="925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</a:br>
              <a:r>
                <a:rPr b="0" lang="en" sz="925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  <a:t>x = 5</a:t>
              </a:r>
              <a:endParaRPr b="0" sz="925">
                <a:solidFill>
                  <a:srgbClr val="94A3B8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grpSp>
        <p:nvGrpSpPr>
          <p:cNvPr id="276" name="Google Shape;276;p19"/>
          <p:cNvGrpSpPr/>
          <p:nvPr/>
        </p:nvGrpSpPr>
        <p:grpSpPr>
          <a:xfrm>
            <a:off x="457200" y="3000375"/>
            <a:ext cx="3810000" cy="1571700"/>
            <a:chOff x="0" y="0"/>
            <a:chExt cx="3810000" cy="1571700"/>
          </a:xfrm>
        </p:grpSpPr>
        <p:sp>
          <p:nvSpPr>
            <p:cNvPr id="277" name="Google Shape;277;p19"/>
            <p:cNvSpPr/>
            <p:nvPr/>
          </p:nvSpPr>
          <p:spPr>
            <a:xfrm>
              <a:off x="0" y="0"/>
              <a:ext cx="3810000" cy="1571700"/>
            </a:xfrm>
            <a:prstGeom prst="roundRect">
              <a:avLst>
                <a:gd fmla="val 7272" name="adj"/>
              </a:avLst>
            </a:prstGeom>
            <a:solidFill>
              <a:srgbClr val="1E293B"/>
            </a:solidFill>
            <a:ln cap="flat" cmpd="sng" w="14300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8" name="Google Shape;278;p19"/>
            <p:cNvSpPr/>
            <p:nvPr/>
          </p:nvSpPr>
          <p:spPr>
            <a:xfrm>
              <a:off x="0" y="0"/>
              <a:ext cx="3810000" cy="342900"/>
            </a:xfrm>
            <a:custGeom>
              <a:rect b="b" l="l" r="r" t="t"/>
              <a:pathLst>
                <a:path extrusionOk="0" h="120000" w="120000">
                  <a:moveTo>
                    <a:pt x="0" y="40000"/>
                  </a:moveTo>
                  <a:cubicBezTo>
                    <a:pt x="0" y="17900"/>
                    <a:pt x="1611" y="0"/>
                    <a:pt x="3600" y="0"/>
                  </a:cubicBezTo>
                  <a:lnTo>
                    <a:pt x="116400" y="0"/>
                  </a:lnTo>
                  <a:cubicBezTo>
                    <a:pt x="118389" y="0"/>
                    <a:pt x="120000" y="17900"/>
                    <a:pt x="120000" y="40000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6B6D4">
                <a:alpha val="1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9" name="Google Shape;279;p19"/>
            <p:cNvSpPr txBox="1"/>
            <p:nvPr/>
          </p:nvSpPr>
          <p:spPr>
            <a:xfrm>
              <a:off x="228600" y="76200"/>
              <a:ext cx="33528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AFTER: PEDAGOGICAL DECOMPOSITION</a:t>
              </a:r>
              <a:endParaRPr b="0" sz="100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</p:txBody>
        </p:sp>
        <p:sp>
          <p:nvSpPr>
            <p:cNvPr id="280" name="Google Shape;280;p19"/>
            <p:cNvSpPr txBox="1"/>
            <p:nvPr/>
          </p:nvSpPr>
          <p:spPr>
            <a:xfrm>
              <a:off x="228600" y="495300"/>
              <a:ext cx="33528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06B6D4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Minimum Meaningful Reasoning Steps:</a:t>
              </a:r>
              <a:endParaRPr b="0" sz="1100">
                <a:solidFill>
                  <a:srgbClr val="06B6D4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8FAFC"/>
                  </a:solidFill>
                  <a:latin typeface="Fira Code"/>
                  <a:ea typeface="Fira Code"/>
                  <a:cs typeface="Fira Code"/>
                  <a:sym typeface="Fira Code"/>
                </a:rPr>
                <a:t>3x + 5 = 20 </a:t>
              </a:r>
              <a:br>
                <a:rPr b="0" lang="en" sz="1000">
                  <a:solidFill>
                    <a:srgbClr val="F8FAFC"/>
                  </a:solidFill>
                  <a:latin typeface="Fira Code"/>
                  <a:ea typeface="Fira Code"/>
                  <a:cs typeface="Fira Code"/>
                  <a:sym typeface="Fira Code"/>
                </a:rPr>
              </a:br>
              <a:r>
                <a:rPr b="0" lang="en" sz="1000">
                  <a:solidFill>
                    <a:srgbClr val="F8FAFC"/>
                  </a:solidFill>
                  <a:latin typeface="Fira Code"/>
                  <a:ea typeface="Fira Code"/>
                  <a:cs typeface="Fira Code"/>
                  <a:sym typeface="Fira Code"/>
                </a:rPr>
                <a:t>3x = 15 </a:t>
              </a:r>
              <a:r>
                <a:rPr b="0" lang="en" sz="1000">
                  <a:solidFill>
                    <a:srgbClr val="06B6D4"/>
                  </a:solidFill>
                  <a:latin typeface="Fira Code"/>
                  <a:ea typeface="Fira Code"/>
                  <a:cs typeface="Fira Code"/>
                  <a:sym typeface="Fira Code"/>
                </a:rPr>
                <a:t>[Intuitive Grouping]</a:t>
              </a:r>
              <a:br>
                <a:rPr b="0" lang="en" sz="1000">
                  <a:solidFill>
                    <a:srgbClr val="F8FAFC"/>
                  </a:solidFill>
                  <a:latin typeface="Fira Code"/>
                  <a:ea typeface="Fira Code"/>
                  <a:cs typeface="Fira Code"/>
                  <a:sym typeface="Fira Code"/>
                </a:rPr>
              </a:br>
              <a:r>
                <a:rPr b="0" lang="en" sz="1000">
                  <a:solidFill>
                    <a:srgbClr val="F8FAFC"/>
                  </a:solidFill>
                  <a:latin typeface="Fira Code"/>
                  <a:ea typeface="Fira Code"/>
                  <a:cs typeface="Fira Code"/>
                  <a:sym typeface="Fira Code"/>
                </a:rPr>
                <a:t>x = 5 </a:t>
              </a:r>
              <a:r>
                <a:rPr b="0" lang="en" sz="1000">
                  <a:solidFill>
                    <a:srgbClr val="06B6D4"/>
                  </a:solidFill>
                  <a:latin typeface="Fira Code"/>
                  <a:ea typeface="Fira Code"/>
                  <a:cs typeface="Fira Code"/>
                  <a:sym typeface="Fira Code"/>
                </a:rPr>
                <a:t>[Direct Division]</a:t>
              </a:r>
              <a:endParaRPr b="0" sz="1000">
                <a:solidFill>
                  <a:srgbClr val="F8FAFC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grpSp>
        <p:nvGrpSpPr>
          <p:cNvPr id="281" name="Google Shape;281;p19"/>
          <p:cNvGrpSpPr/>
          <p:nvPr/>
        </p:nvGrpSpPr>
        <p:grpSpPr>
          <a:xfrm>
            <a:off x="4876800" y="1238250"/>
            <a:ext cx="3810000" cy="3333900"/>
            <a:chOff x="0" y="0"/>
            <a:chExt cx="3810000" cy="3333900"/>
          </a:xfrm>
        </p:grpSpPr>
        <p:sp>
          <p:nvSpPr>
            <p:cNvPr id="282" name="Google Shape;282;p19"/>
            <p:cNvSpPr/>
            <p:nvPr/>
          </p:nvSpPr>
          <p:spPr>
            <a:xfrm>
              <a:off x="0" y="0"/>
              <a:ext cx="57300" cy="3333900"/>
            </a:xfrm>
            <a:custGeom>
              <a:rect b="b" l="l" r="r" t="t"/>
              <a:pathLst>
                <a:path extrusionOk="0" h="120000" w="120000">
                  <a:moveTo>
                    <a:pt x="0" y="0"/>
                  </a:moveTo>
                  <a:lnTo>
                    <a:pt x="120000" y="0"/>
                  </a:ln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3" name="Google Shape;283;p19"/>
            <p:cNvSpPr txBox="1"/>
            <p:nvPr/>
          </p:nvSpPr>
          <p:spPr>
            <a:xfrm>
              <a:off x="304800" y="0"/>
              <a:ext cx="3505200" cy="333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THE STRUCTURAL BREAKTHROUGH</a:t>
              </a:r>
              <a:endParaRPr b="0" sz="10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rPr b="0" lang="en" sz="20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"Solved via systemic changes to </a:t>
              </a:r>
              <a:r>
                <a:rPr b="0" lang="en" sz="2000">
                  <a:solidFill>
                    <a:srgbClr val="06B6D4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StepGenerator</a:t>
              </a:r>
              <a:r>
                <a:rPr b="0" lang="en" sz="20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, avoiding hand-fixing individual questions."</a:t>
              </a:r>
              <a:endParaRPr b="0" sz="200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l">
                <a:spcBef>
                  <a:spcPts val="18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Instead of manually patching edge cases level-by-level, we re-engineered the core generator engine. Repeated manual playtesting guided a unified, rule-based approach that enforces clean visual milestones for all equations dynamically.</a:t>
              </a:r>
              <a:endParaRPr b="0" sz="11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2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89" name="Google Shape;28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34600" cy="50484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20"/>
          <p:cNvSpPr txBox="1"/>
          <p:nvPr/>
        </p:nvSpPr>
        <p:spPr>
          <a:xfrm>
            <a:off x="457200" y="342900"/>
            <a:ext cx="6667500" cy="61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405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Building a Complete Learning Loop</a:t>
            </a:r>
            <a:endParaRPr b="0" sz="2405">
              <a:solidFill>
                <a:srgbClr val="F8FAFC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  <a:p>
            <a:pPr indent="0" lvl="0" marL="0" rtl="0" algn="l">
              <a:spcBef>
                <a:spcPts val="150"/>
              </a:spcBef>
              <a:spcAft>
                <a:spcPts val="0"/>
              </a:spcAft>
              <a:buNone/>
            </a:pPr>
            <a:r>
              <a:rPr b="0" lang="en" sz="1295">
                <a:solidFill>
                  <a:srgbClr val="06B6D4"/>
                </a:solidFill>
                <a:latin typeface="Outfit Medium"/>
                <a:ea typeface="Outfit Medium"/>
                <a:cs typeface="Outfit Medium"/>
                <a:sym typeface="Outfit Medium"/>
              </a:rPr>
              <a:t>More Than Correct or Incorrect</a:t>
            </a:r>
            <a:endParaRPr b="0" sz="1295">
              <a:solidFill>
                <a:srgbClr val="06B6D4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291" name="Google Shape;291;p20"/>
          <p:cNvGrpSpPr/>
          <p:nvPr/>
        </p:nvGrpSpPr>
        <p:grpSpPr>
          <a:xfrm>
            <a:off x="7239000" y="419100"/>
            <a:ext cx="1543200" cy="228600"/>
            <a:chOff x="0" y="0"/>
            <a:chExt cx="1543200" cy="228600"/>
          </a:xfrm>
        </p:grpSpPr>
        <p:sp>
          <p:nvSpPr>
            <p:cNvPr id="292" name="Google Shape;292;p20"/>
            <p:cNvSpPr/>
            <p:nvPr/>
          </p:nvSpPr>
          <p:spPr>
            <a:xfrm>
              <a:off x="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20"/>
            <p:cNvSpPr/>
            <p:nvPr/>
          </p:nvSpPr>
          <p:spPr>
            <a:xfrm>
              <a:off x="66675" y="66675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0"/>
                  </a:lnTo>
                  <a:lnTo>
                    <a:pt x="60000" y="60000"/>
                  </a:lnTo>
                  <a:lnTo>
                    <a:pt x="120000" y="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20"/>
            <p:cNvSpPr txBox="1"/>
            <p:nvPr/>
          </p:nvSpPr>
          <p:spPr>
            <a:xfrm>
              <a:off x="304800" y="0"/>
              <a:ext cx="1238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MathSmith</a:t>
              </a:r>
              <a:endParaRPr b="0" sz="11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295" name="Google Shape;295;p20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0"/>
          <p:cNvSpPr/>
          <p:nvPr/>
        </p:nvSpPr>
        <p:spPr>
          <a:xfrm>
            <a:off x="4524375" y="1333500"/>
            <a:ext cx="9600" cy="3333900"/>
          </a:xfrm>
          <a:prstGeom prst="rect">
            <a:avLst/>
          </a:prstGeom>
          <a:solidFill>
            <a:srgbClr val="334155">
              <a:alpha val="50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97" name="Google Shape;297;p20"/>
          <p:cNvGrpSpPr/>
          <p:nvPr/>
        </p:nvGrpSpPr>
        <p:grpSpPr>
          <a:xfrm>
            <a:off x="571500" y="1428750"/>
            <a:ext cx="3428925" cy="2428800"/>
            <a:chOff x="571500" y="1428750"/>
            <a:chExt cx="3428925" cy="2428800"/>
          </a:xfrm>
        </p:grpSpPr>
        <p:grpSp>
          <p:nvGrpSpPr>
            <p:cNvPr id="298" name="Google Shape;298;p20"/>
            <p:cNvGrpSpPr/>
            <p:nvPr/>
          </p:nvGrpSpPr>
          <p:grpSpPr>
            <a:xfrm>
              <a:off x="571500" y="1428750"/>
              <a:ext cx="1476300" cy="523800"/>
              <a:chOff x="0" y="0"/>
              <a:chExt cx="1476300" cy="523800"/>
            </a:xfrm>
          </p:grpSpPr>
          <p:sp>
            <p:nvSpPr>
              <p:cNvPr id="299" name="Google Shape;299;p20"/>
              <p:cNvSpPr/>
              <p:nvPr/>
            </p:nvSpPr>
            <p:spPr>
              <a:xfrm>
                <a:off x="0" y="0"/>
                <a:ext cx="1476300" cy="523800"/>
              </a:xfrm>
              <a:prstGeom prst="roundRect">
                <a:avLst>
                  <a:gd fmla="val 18181" name="adj"/>
                </a:avLst>
              </a:prstGeom>
              <a:solidFill>
                <a:srgbClr val="1E293B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0" name="Google Shape;300;p20"/>
              <p:cNvSpPr txBox="1"/>
              <p:nvPr/>
            </p:nvSpPr>
            <p:spPr>
              <a:xfrm>
                <a:off x="0" y="0"/>
                <a:ext cx="1476300" cy="523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76200" spcFirstLastPara="1" rIns="7620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01. SELECT</a:t>
                </a:r>
                <a:endParaRPr b="0" sz="85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ctr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950">
                    <a:solidFill>
                      <a:srgbClr val="F8FAFC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Choose Content</a:t>
                </a:r>
                <a:endParaRPr b="0" sz="950">
                  <a:solidFill>
                    <a:srgbClr val="F8FAFC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  <p:grpSp>
          <p:nvGrpSpPr>
            <p:cNvPr id="301" name="Google Shape;301;p20"/>
            <p:cNvGrpSpPr/>
            <p:nvPr/>
          </p:nvGrpSpPr>
          <p:grpSpPr>
            <a:xfrm>
              <a:off x="2524125" y="1428750"/>
              <a:ext cx="1476300" cy="523800"/>
              <a:chOff x="0" y="0"/>
              <a:chExt cx="1476300" cy="523800"/>
            </a:xfrm>
          </p:grpSpPr>
          <p:sp>
            <p:nvSpPr>
              <p:cNvPr id="302" name="Google Shape;302;p20"/>
              <p:cNvSpPr/>
              <p:nvPr/>
            </p:nvSpPr>
            <p:spPr>
              <a:xfrm>
                <a:off x="0" y="0"/>
                <a:ext cx="1476300" cy="523800"/>
              </a:xfrm>
              <a:prstGeom prst="roundRect">
                <a:avLst>
                  <a:gd fmla="val 18181" name="adj"/>
                </a:avLst>
              </a:prstGeom>
              <a:solidFill>
                <a:srgbClr val="1E293B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3" name="Google Shape;303;p20"/>
              <p:cNvSpPr txBox="1"/>
              <p:nvPr/>
            </p:nvSpPr>
            <p:spPr>
              <a:xfrm>
                <a:off x="0" y="0"/>
                <a:ext cx="1476300" cy="523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76200" spcFirstLastPara="1" rIns="7620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02. CONSTRUCT</a:t>
                </a:r>
                <a:endParaRPr b="0" sz="85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ctr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950">
                    <a:solidFill>
                      <a:srgbClr val="F8FAFC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Rebuild Process</a:t>
                </a:r>
                <a:endParaRPr b="0" sz="950">
                  <a:solidFill>
                    <a:srgbClr val="F8FAFC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  <p:grpSp>
          <p:nvGrpSpPr>
            <p:cNvPr id="304" name="Google Shape;304;p20"/>
            <p:cNvGrpSpPr/>
            <p:nvPr/>
          </p:nvGrpSpPr>
          <p:grpSpPr>
            <a:xfrm>
              <a:off x="2524125" y="2381250"/>
              <a:ext cx="1476300" cy="523800"/>
              <a:chOff x="0" y="0"/>
              <a:chExt cx="1476300" cy="523800"/>
            </a:xfrm>
          </p:grpSpPr>
          <p:sp>
            <p:nvSpPr>
              <p:cNvPr id="305" name="Google Shape;305;p20"/>
              <p:cNvSpPr/>
              <p:nvPr/>
            </p:nvSpPr>
            <p:spPr>
              <a:xfrm>
                <a:off x="0" y="0"/>
                <a:ext cx="1476300" cy="523800"/>
              </a:xfrm>
              <a:prstGeom prst="roundRect">
                <a:avLst>
                  <a:gd fmla="val 18181" name="adj"/>
                </a:avLst>
              </a:prstGeom>
              <a:solidFill>
                <a:srgbClr val="1E293B"/>
              </a:solidFill>
              <a:ln cap="flat" cmpd="sng" w="19050">
                <a:solidFill>
                  <a:srgbClr val="3B82F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6" name="Google Shape;306;p20"/>
              <p:cNvSpPr txBox="1"/>
              <p:nvPr/>
            </p:nvSpPr>
            <p:spPr>
              <a:xfrm>
                <a:off x="0" y="0"/>
                <a:ext cx="1476300" cy="523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76200" spcFirstLastPara="1" rIns="7620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3B82F6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03. DIAGNOSE</a:t>
                </a:r>
                <a:endParaRPr b="0" sz="85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ctr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950">
                    <a:solidFill>
                      <a:srgbClr val="F8FAFC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Adaptive Feedback</a:t>
                </a:r>
                <a:endParaRPr b="0" sz="950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grpSp>
          <p:nvGrpSpPr>
            <p:cNvPr id="307" name="Google Shape;307;p20"/>
            <p:cNvGrpSpPr/>
            <p:nvPr/>
          </p:nvGrpSpPr>
          <p:grpSpPr>
            <a:xfrm>
              <a:off x="2524125" y="3333750"/>
              <a:ext cx="1476300" cy="523800"/>
              <a:chOff x="0" y="0"/>
              <a:chExt cx="1476300" cy="523800"/>
            </a:xfrm>
          </p:grpSpPr>
          <p:sp>
            <p:nvSpPr>
              <p:cNvPr id="308" name="Google Shape;308;p20"/>
              <p:cNvSpPr/>
              <p:nvPr/>
            </p:nvSpPr>
            <p:spPr>
              <a:xfrm>
                <a:off x="0" y="0"/>
                <a:ext cx="1476300" cy="523800"/>
              </a:xfrm>
              <a:prstGeom prst="roundRect">
                <a:avLst>
                  <a:gd fmla="val 18181" name="adj"/>
                </a:avLst>
              </a:prstGeom>
              <a:solidFill>
                <a:srgbClr val="1E293B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09" name="Google Shape;309;p20"/>
              <p:cNvSpPr txBox="1"/>
              <p:nvPr/>
            </p:nvSpPr>
            <p:spPr>
              <a:xfrm>
                <a:off x="0" y="0"/>
                <a:ext cx="1476300" cy="523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76200" spcFirstLastPara="1" rIns="7620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04. ANALYZE</a:t>
                </a:r>
                <a:endParaRPr b="0" sz="85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ctr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950">
                    <a:solidFill>
                      <a:srgbClr val="F8FAFC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Review Mistakes</a:t>
                </a:r>
                <a:endParaRPr b="0" sz="950">
                  <a:solidFill>
                    <a:srgbClr val="F8FAFC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  <p:grpSp>
          <p:nvGrpSpPr>
            <p:cNvPr id="310" name="Google Shape;310;p20"/>
            <p:cNvGrpSpPr/>
            <p:nvPr/>
          </p:nvGrpSpPr>
          <p:grpSpPr>
            <a:xfrm>
              <a:off x="571500" y="3333750"/>
              <a:ext cx="1476300" cy="523800"/>
              <a:chOff x="0" y="0"/>
              <a:chExt cx="1476300" cy="523800"/>
            </a:xfrm>
          </p:grpSpPr>
          <p:sp>
            <p:nvSpPr>
              <p:cNvPr id="311" name="Google Shape;311;p20"/>
              <p:cNvSpPr/>
              <p:nvPr/>
            </p:nvSpPr>
            <p:spPr>
              <a:xfrm>
                <a:off x="0" y="0"/>
                <a:ext cx="1476300" cy="523800"/>
              </a:xfrm>
              <a:prstGeom prst="roundRect">
                <a:avLst>
                  <a:gd fmla="val 18181" name="adj"/>
                </a:avLst>
              </a:prstGeom>
              <a:solidFill>
                <a:srgbClr val="1E293B"/>
              </a:solidFill>
              <a:ln cap="flat" cmpd="sng" w="19050">
                <a:solidFill>
                  <a:srgbClr val="06B6D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2" name="Google Shape;312;p20"/>
              <p:cNvSpPr txBox="1"/>
              <p:nvPr/>
            </p:nvSpPr>
            <p:spPr>
              <a:xfrm>
                <a:off x="0" y="0"/>
                <a:ext cx="1476300" cy="523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76200" spcFirstLastPara="1" rIns="7620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06B6D4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05. MASTER</a:t>
                </a:r>
                <a:endParaRPr b="0" sz="85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ctr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950">
                    <a:solidFill>
                      <a:srgbClr val="F8FAFC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Adaptive Practice</a:t>
                </a:r>
                <a:endParaRPr b="0" sz="950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</p:grpSp>
        <p:sp>
          <p:nvSpPr>
            <p:cNvPr id="313" name="Google Shape;313;p20"/>
            <p:cNvSpPr txBox="1"/>
            <p:nvPr/>
          </p:nvSpPr>
          <p:spPr>
            <a:xfrm>
              <a:off x="762000" y="2381250"/>
              <a:ext cx="1095300" cy="52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334155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INTELLIGENT</a:t>
              </a:r>
              <a:endParaRPr b="0" sz="750">
                <a:solidFill>
                  <a:srgbClr val="334155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ctr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94A3B8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Learning Loop</a:t>
              </a:r>
              <a:endParaRPr b="0" sz="1100">
                <a:solidFill>
                  <a:srgbClr val="94A3B8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</p:txBody>
        </p:sp>
      </p:grpSp>
      <p:grpSp>
        <p:nvGrpSpPr>
          <p:cNvPr id="314" name="Google Shape;314;p20"/>
          <p:cNvGrpSpPr/>
          <p:nvPr/>
        </p:nvGrpSpPr>
        <p:grpSpPr>
          <a:xfrm>
            <a:off x="4876800" y="1333500"/>
            <a:ext cx="3810000" cy="3048075"/>
            <a:chOff x="4876800" y="1333500"/>
            <a:chExt cx="3810000" cy="3048075"/>
          </a:xfrm>
        </p:grpSpPr>
        <p:sp>
          <p:nvSpPr>
            <p:cNvPr id="315" name="Google Shape;315;p20"/>
            <p:cNvSpPr txBox="1"/>
            <p:nvPr/>
          </p:nvSpPr>
          <p:spPr>
            <a:xfrm>
              <a:off x="4876800" y="1333500"/>
              <a:ext cx="38100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PROGRESSIVE ERROR FEEDBACK SYSTEM</a:t>
              </a:r>
              <a:endParaRPr b="0" sz="85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</p:txBody>
        </p:sp>
        <p:grpSp>
          <p:nvGrpSpPr>
            <p:cNvPr id="316" name="Google Shape;316;p20"/>
            <p:cNvGrpSpPr/>
            <p:nvPr/>
          </p:nvGrpSpPr>
          <p:grpSpPr>
            <a:xfrm>
              <a:off x="4876800" y="1666875"/>
              <a:ext cx="3810000" cy="809700"/>
              <a:chOff x="0" y="0"/>
              <a:chExt cx="3810000" cy="809700"/>
            </a:xfrm>
          </p:grpSpPr>
          <p:sp>
            <p:nvSpPr>
              <p:cNvPr id="317" name="Google Shape;317;p20"/>
              <p:cNvSpPr/>
              <p:nvPr/>
            </p:nvSpPr>
            <p:spPr>
              <a:xfrm>
                <a:off x="0" y="0"/>
                <a:ext cx="3810000" cy="809700"/>
              </a:xfrm>
              <a:prstGeom prst="roundRect">
                <a:avLst>
                  <a:gd fmla="val 11764" name="adj"/>
                </a:avLst>
              </a:prstGeom>
              <a:solidFill>
                <a:srgbClr val="1E293B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8" name="Google Shape;318;p20"/>
              <p:cNvSpPr/>
              <p:nvPr/>
            </p:nvSpPr>
            <p:spPr>
              <a:xfrm>
                <a:off x="0" y="0"/>
                <a:ext cx="57300" cy="809700"/>
              </a:xfrm>
              <a:prstGeom prst="roundRect">
                <a:avLst>
                  <a:gd fmla="val 50000" name="adj"/>
                </a:avLst>
              </a:pr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19" name="Google Shape;319;p20"/>
              <p:cNvSpPr txBox="1"/>
              <p:nvPr/>
            </p:nvSpPr>
            <p:spPr>
              <a:xfrm>
                <a:off x="228600" y="95250"/>
                <a:ext cx="34290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4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1ST ATTEMPT</a:t>
                </a:r>
                <a:endParaRPr b="0" sz="74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1018">
                    <a:solidFill>
                      <a:srgbClr val="F8FAFC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Generic Retry Indicator</a:t>
                </a:r>
                <a:endParaRPr b="0" sz="1018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879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Signals that an error occurred, prompting the student to reconsider the step independently.</a:t>
                </a:r>
                <a:endParaRPr b="0" sz="879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20" name="Google Shape;320;p20"/>
            <p:cNvGrpSpPr/>
            <p:nvPr/>
          </p:nvGrpSpPr>
          <p:grpSpPr>
            <a:xfrm>
              <a:off x="4876800" y="2619375"/>
              <a:ext cx="3810000" cy="809700"/>
              <a:chOff x="0" y="0"/>
              <a:chExt cx="3810000" cy="809700"/>
            </a:xfrm>
          </p:grpSpPr>
          <p:sp>
            <p:nvSpPr>
              <p:cNvPr id="321" name="Google Shape;321;p20"/>
              <p:cNvSpPr/>
              <p:nvPr/>
            </p:nvSpPr>
            <p:spPr>
              <a:xfrm>
                <a:off x="0" y="0"/>
                <a:ext cx="3810000" cy="809700"/>
              </a:xfrm>
              <a:prstGeom prst="roundRect">
                <a:avLst>
                  <a:gd fmla="val 11764" name="adj"/>
                </a:avLst>
              </a:prstGeom>
              <a:solidFill>
                <a:srgbClr val="1E293B"/>
              </a:solidFill>
              <a:ln cap="flat" cmpd="sng" w="14300">
                <a:solidFill>
                  <a:srgbClr val="3B82F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2" name="Google Shape;322;p20"/>
              <p:cNvSpPr/>
              <p:nvPr/>
            </p:nvSpPr>
            <p:spPr>
              <a:xfrm>
                <a:off x="0" y="0"/>
                <a:ext cx="57300" cy="809700"/>
              </a:xfrm>
              <a:prstGeom prst="roundRect">
                <a:avLst>
                  <a:gd fmla="val 50000" name="adj"/>
                </a:avLst>
              </a:prstGeom>
              <a:solidFill>
                <a:srgbClr val="3B82F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3" name="Google Shape;323;p20"/>
              <p:cNvSpPr txBox="1"/>
              <p:nvPr/>
            </p:nvSpPr>
            <p:spPr>
              <a:xfrm>
                <a:off x="228600" y="95250"/>
                <a:ext cx="34290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40">
                    <a:solidFill>
                      <a:srgbClr val="3B82F6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2ND ATTEMPT</a:t>
                </a:r>
                <a:endParaRPr b="0" sz="74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1018">
                    <a:solidFill>
                      <a:srgbClr val="F8FAFC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Directional Feedback Cues</a:t>
                </a:r>
                <a:endParaRPr b="0" sz="1018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879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Isolates the error location and provides clues highlighting the specific math rule violated.</a:t>
                </a:r>
                <a:endParaRPr b="0" sz="879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24" name="Google Shape;324;p20"/>
            <p:cNvGrpSpPr/>
            <p:nvPr/>
          </p:nvGrpSpPr>
          <p:grpSpPr>
            <a:xfrm>
              <a:off x="4876800" y="3571875"/>
              <a:ext cx="3810000" cy="809700"/>
              <a:chOff x="0" y="0"/>
              <a:chExt cx="3810000" cy="809700"/>
            </a:xfrm>
          </p:grpSpPr>
          <p:sp>
            <p:nvSpPr>
              <p:cNvPr id="325" name="Google Shape;325;p20"/>
              <p:cNvSpPr/>
              <p:nvPr/>
            </p:nvSpPr>
            <p:spPr>
              <a:xfrm>
                <a:off x="0" y="0"/>
                <a:ext cx="3810000" cy="809700"/>
              </a:xfrm>
              <a:prstGeom prst="roundRect">
                <a:avLst>
                  <a:gd fmla="val 11764" name="adj"/>
                </a:avLst>
              </a:prstGeom>
              <a:solidFill>
                <a:srgbClr val="1E293B"/>
              </a:solidFill>
              <a:ln cap="flat" cmpd="sng" w="19050">
                <a:solidFill>
                  <a:srgbClr val="06B6D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6" name="Google Shape;326;p20"/>
              <p:cNvSpPr/>
              <p:nvPr/>
            </p:nvSpPr>
            <p:spPr>
              <a:xfrm>
                <a:off x="0" y="0"/>
                <a:ext cx="57300" cy="809700"/>
              </a:xfrm>
              <a:prstGeom prst="roundRect">
                <a:avLst>
                  <a:gd fmla="val 50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27" name="Google Shape;327;p20"/>
              <p:cNvSpPr txBox="1"/>
              <p:nvPr/>
            </p:nvSpPr>
            <p:spPr>
              <a:xfrm>
                <a:off x="228600" y="95250"/>
                <a:ext cx="3429000" cy="61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40">
                    <a:solidFill>
                      <a:srgbClr val="06B6D4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3RD+ ATTEMPT</a:t>
                </a:r>
                <a:endParaRPr b="0" sz="74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1018">
                    <a:solidFill>
                      <a:srgbClr val="06B6D4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Contextual Rule Explanation</a:t>
                </a:r>
                <a:endParaRPr b="0" sz="1018">
                  <a:solidFill>
                    <a:srgbClr val="06B6D4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879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Breaks down execution steps and maps the precise mathematical rule into targeted remediations.</a:t>
                </a:r>
                <a:endParaRPr b="0" sz="879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2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33" name="Google Shape;33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34600" cy="5048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34" name="Google Shape;334;p21"/>
          <p:cNvGrpSpPr/>
          <p:nvPr/>
        </p:nvGrpSpPr>
        <p:grpSpPr>
          <a:xfrm>
            <a:off x="7239000" y="419100"/>
            <a:ext cx="1676400" cy="285900"/>
            <a:chOff x="0" y="0"/>
            <a:chExt cx="1676400" cy="285900"/>
          </a:xfrm>
        </p:grpSpPr>
        <p:sp>
          <p:nvSpPr>
            <p:cNvPr id="335" name="Google Shape;335;p21"/>
            <p:cNvSpPr/>
            <p:nvPr/>
          </p:nvSpPr>
          <p:spPr>
            <a:xfrm>
              <a:off x="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" name="Google Shape;336;p21"/>
            <p:cNvSpPr/>
            <p:nvPr/>
          </p:nvSpPr>
          <p:spPr>
            <a:xfrm>
              <a:off x="66675" y="66675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0"/>
                  </a:lnTo>
                  <a:lnTo>
                    <a:pt x="60000" y="60000"/>
                  </a:lnTo>
                  <a:lnTo>
                    <a:pt x="120000" y="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21"/>
            <p:cNvSpPr txBox="1"/>
            <p:nvPr/>
          </p:nvSpPr>
          <p:spPr>
            <a:xfrm>
              <a:off x="342900" y="0"/>
              <a:ext cx="1333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MathSmith </a:t>
              </a:r>
              <a:r>
                <a:rPr b="0" lang="en" sz="1200">
                  <a:solidFill>
                    <a:srgbClr val="334155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|</a:t>
              </a:r>
              <a:r>
                <a:rPr b="0" lang="en" sz="12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 数锻</a:t>
              </a:r>
              <a:endParaRPr b="0" sz="12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338" name="Google Shape;338;p21"/>
          <p:cNvSpPr txBox="1"/>
          <p:nvPr/>
        </p:nvSpPr>
        <p:spPr>
          <a:xfrm>
            <a:off x="457200" y="342900"/>
            <a:ext cx="66675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6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From Player Behavior to Adaptive Practice</a:t>
            </a:r>
            <a:endParaRPr b="0" sz="2600">
              <a:solidFill>
                <a:srgbClr val="F8FAFC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6B6D4"/>
                </a:solidFill>
                <a:latin typeface="Outfit Medium"/>
                <a:ea typeface="Outfit Medium"/>
                <a:cs typeface="Outfit Medium"/>
                <a:sym typeface="Outfit Medium"/>
              </a:rPr>
              <a:t>Observe Behavior Without Guessing Psychology</a:t>
            </a:r>
            <a:endParaRPr b="0" sz="1400">
              <a:solidFill>
                <a:srgbClr val="06B6D4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339" name="Google Shape;339;p21"/>
          <p:cNvSpPr/>
          <p:nvPr/>
        </p:nvSpPr>
        <p:spPr>
          <a:xfrm>
            <a:off x="457200" y="1095375"/>
            <a:ext cx="8229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21"/>
          <p:cNvSpPr/>
          <p:nvPr/>
        </p:nvSpPr>
        <p:spPr>
          <a:xfrm>
            <a:off x="4572000" y="1381125"/>
            <a:ext cx="9600" cy="3286200"/>
          </a:xfrm>
          <a:prstGeom prst="rect">
            <a:avLst/>
          </a:prstGeom>
          <a:solidFill>
            <a:srgbClr val="334155">
              <a:alpha val="40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41" name="Google Shape;34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0075" y="1571625"/>
            <a:ext cx="19200" cy="2457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42" name="Google Shape;342;p21"/>
          <p:cNvGrpSpPr/>
          <p:nvPr/>
        </p:nvGrpSpPr>
        <p:grpSpPr>
          <a:xfrm>
            <a:off x="571500" y="1381125"/>
            <a:ext cx="3714900" cy="476400"/>
            <a:chOff x="114300" y="0"/>
            <a:chExt cx="3714900" cy="476400"/>
          </a:xfrm>
        </p:grpSpPr>
        <p:sp>
          <p:nvSpPr>
            <p:cNvPr id="343" name="Google Shape;343;p21"/>
            <p:cNvSpPr/>
            <p:nvPr/>
          </p:nvSpPr>
          <p:spPr>
            <a:xfrm>
              <a:off x="114300" y="38100"/>
              <a:ext cx="76200" cy="7620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4" name="Google Shape;344;p21"/>
            <p:cNvSpPr txBox="1"/>
            <p:nvPr/>
          </p:nvSpPr>
          <p:spPr>
            <a:xfrm>
              <a:off x="304800" y="0"/>
              <a:ext cx="3524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01 / BEHAVIOR</a:t>
              </a:r>
              <a:endParaRPr b="0" sz="90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Time, actions, attempts, Hints</a:t>
              </a:r>
              <a:endParaRPr b="0" sz="1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45" name="Google Shape;345;p21"/>
          <p:cNvGrpSpPr/>
          <p:nvPr/>
        </p:nvGrpSpPr>
        <p:grpSpPr>
          <a:xfrm>
            <a:off x="571500" y="2000250"/>
            <a:ext cx="3714900" cy="476400"/>
            <a:chOff x="114300" y="0"/>
            <a:chExt cx="3714900" cy="476400"/>
          </a:xfrm>
        </p:grpSpPr>
        <p:sp>
          <p:nvSpPr>
            <p:cNvPr id="346" name="Google Shape;346;p21"/>
            <p:cNvSpPr/>
            <p:nvPr/>
          </p:nvSpPr>
          <p:spPr>
            <a:xfrm>
              <a:off x="114300" y="38100"/>
              <a:ext cx="76200" cy="76200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7" name="Google Shape;347;p21"/>
            <p:cNvSpPr txBox="1"/>
            <p:nvPr/>
          </p:nvSpPr>
          <p:spPr>
            <a:xfrm>
              <a:off x="304800" y="0"/>
              <a:ext cx="3524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02 / ANALYTICS</a:t>
              </a:r>
              <a:endParaRPr b="0" sz="9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Historical question performance</a:t>
              </a:r>
              <a:endParaRPr b="0" sz="1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48" name="Google Shape;348;p21"/>
          <p:cNvGrpSpPr/>
          <p:nvPr/>
        </p:nvGrpSpPr>
        <p:grpSpPr>
          <a:xfrm>
            <a:off x="571500" y="2619375"/>
            <a:ext cx="3714900" cy="476400"/>
            <a:chOff x="114300" y="0"/>
            <a:chExt cx="3714900" cy="476400"/>
          </a:xfrm>
        </p:grpSpPr>
        <p:sp>
          <p:nvSpPr>
            <p:cNvPr id="349" name="Google Shape;349;p21"/>
            <p:cNvSpPr/>
            <p:nvPr/>
          </p:nvSpPr>
          <p:spPr>
            <a:xfrm>
              <a:off x="114300" y="38100"/>
              <a:ext cx="76200" cy="76200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0" name="Google Shape;350;p21"/>
            <p:cNvSpPr txBox="1"/>
            <p:nvPr/>
          </p:nvSpPr>
          <p:spPr>
            <a:xfrm>
              <a:off x="304800" y="0"/>
              <a:ext cx="3524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03 / MASTERY</a:t>
              </a:r>
              <a:endParaRPr b="0" sz="9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Progressive skill-level estimates</a:t>
              </a:r>
              <a:endParaRPr b="0" sz="1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51" name="Google Shape;351;p21"/>
          <p:cNvGrpSpPr/>
          <p:nvPr/>
        </p:nvGrpSpPr>
        <p:grpSpPr>
          <a:xfrm>
            <a:off x="571500" y="3238500"/>
            <a:ext cx="3714900" cy="476400"/>
            <a:chOff x="114300" y="0"/>
            <a:chExt cx="3714900" cy="476400"/>
          </a:xfrm>
        </p:grpSpPr>
        <p:sp>
          <p:nvSpPr>
            <p:cNvPr id="352" name="Google Shape;352;p21"/>
            <p:cNvSpPr/>
            <p:nvPr/>
          </p:nvSpPr>
          <p:spPr>
            <a:xfrm>
              <a:off x="114300" y="38100"/>
              <a:ext cx="76200" cy="76200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3" name="Google Shape;353;p21"/>
            <p:cNvSpPr txBox="1"/>
            <p:nvPr/>
          </p:nvSpPr>
          <p:spPr>
            <a:xfrm>
              <a:off x="304800" y="0"/>
              <a:ext cx="3524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04 / RECOMMENDATION</a:t>
              </a:r>
              <a:endParaRPr b="0" sz="9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Identify weaker Skills</a:t>
              </a:r>
              <a:endParaRPr b="0" sz="1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54" name="Google Shape;354;p21"/>
          <p:cNvGrpSpPr/>
          <p:nvPr/>
        </p:nvGrpSpPr>
        <p:grpSpPr>
          <a:xfrm>
            <a:off x="571500" y="3857625"/>
            <a:ext cx="3714900" cy="523800"/>
            <a:chOff x="114300" y="0"/>
            <a:chExt cx="3714900" cy="523800"/>
          </a:xfrm>
        </p:grpSpPr>
        <p:sp>
          <p:nvSpPr>
            <p:cNvPr id="355" name="Google Shape;355;p21"/>
            <p:cNvSpPr/>
            <p:nvPr/>
          </p:nvSpPr>
          <p:spPr>
            <a:xfrm>
              <a:off x="114300" y="38100"/>
              <a:ext cx="76200" cy="7620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6" name="Google Shape;356;p21"/>
            <p:cNvSpPr txBox="1"/>
            <p:nvPr/>
          </p:nvSpPr>
          <p:spPr>
            <a:xfrm>
              <a:off x="304800" y="0"/>
              <a:ext cx="3524400" cy="523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05 / ADAPTIVE PRACTICE</a:t>
              </a:r>
              <a:endParaRPr b="0" sz="90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Increase relevant question weights while preserving variety</a:t>
              </a:r>
              <a:endParaRPr b="0" sz="110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357" name="Google Shape;357;p21"/>
          <p:cNvSpPr txBox="1"/>
          <p:nvPr/>
        </p:nvSpPr>
        <p:spPr>
          <a:xfrm>
            <a:off x="762000" y="4476750"/>
            <a:ext cx="352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00">
                <a:solidFill>
                  <a:srgbClr val="EF4444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■</a:t>
            </a:r>
            <a:r>
              <a:rPr b="0" lang="en" sz="800">
                <a:solidFill>
                  <a:srgbClr val="94A3B8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Note: No runtime generative AI required.</a:t>
            </a:r>
            <a:endParaRPr/>
          </a:p>
        </p:txBody>
      </p:sp>
      <p:grpSp>
        <p:nvGrpSpPr>
          <p:cNvPr id="358" name="Google Shape;358;p21"/>
          <p:cNvGrpSpPr/>
          <p:nvPr/>
        </p:nvGrpSpPr>
        <p:grpSpPr>
          <a:xfrm>
            <a:off x="4876800" y="1381125"/>
            <a:ext cx="3810000" cy="2857500"/>
            <a:chOff x="0" y="0"/>
            <a:chExt cx="3810000" cy="2857500"/>
          </a:xfrm>
        </p:grpSpPr>
        <p:sp>
          <p:nvSpPr>
            <p:cNvPr id="359" name="Google Shape;359;p21"/>
            <p:cNvSpPr/>
            <p:nvPr/>
          </p:nvSpPr>
          <p:spPr>
            <a:xfrm>
              <a:off x="0" y="0"/>
              <a:ext cx="3810000" cy="2857500"/>
            </a:xfrm>
            <a:prstGeom prst="roundRect">
              <a:avLst>
                <a:gd fmla="val 4000" name="adj"/>
              </a:avLst>
            </a:prstGeom>
            <a:solidFill>
              <a:srgbClr val="1E293B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21"/>
            <p:cNvSpPr/>
            <p:nvPr/>
          </p:nvSpPr>
          <p:spPr>
            <a:xfrm>
              <a:off x="0" y="0"/>
              <a:ext cx="3810000" cy="342900"/>
            </a:xfrm>
            <a:prstGeom prst="roundRect">
              <a:avLst>
                <a:gd fmla="val 33333" name="adj"/>
              </a:avLst>
            </a:prstGeom>
            <a:solidFill>
              <a:srgbClr val="0B1121">
                <a:alpha val="6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21"/>
            <p:cNvSpPr txBox="1"/>
            <p:nvPr/>
          </p:nvSpPr>
          <p:spPr>
            <a:xfrm>
              <a:off x="152400" y="76200"/>
              <a:ext cx="35052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638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ANALYTICS OVERLAY // LIVE SKILL MASTERY</a:t>
              </a:r>
              <a:r>
                <a:rPr lang="en" sz="1190"/>
                <a:t> </a:t>
              </a:r>
              <a:r>
                <a:rPr b="0" lang="en" sz="638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SESSION_ID: 982A</a:t>
              </a:r>
              <a:endParaRPr sz="1190"/>
            </a:p>
          </p:txBody>
        </p:sp>
        <p:grpSp>
          <p:nvGrpSpPr>
            <p:cNvPr id="362" name="Google Shape;362;p21"/>
            <p:cNvGrpSpPr/>
            <p:nvPr/>
          </p:nvGrpSpPr>
          <p:grpSpPr>
            <a:xfrm>
              <a:off x="152400" y="533400"/>
              <a:ext cx="3524400" cy="171600"/>
              <a:chOff x="0" y="0"/>
              <a:chExt cx="3524400" cy="171600"/>
            </a:xfrm>
          </p:grpSpPr>
          <p:sp>
            <p:nvSpPr>
              <p:cNvPr id="363" name="Google Shape;363;p21"/>
              <p:cNvSpPr txBox="1"/>
              <p:nvPr/>
            </p:nvSpPr>
            <p:spPr>
              <a:xfrm>
                <a:off x="0" y="0"/>
                <a:ext cx="10479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ALGEBRAIC_REAS</a:t>
                </a:r>
                <a:endParaRPr b="0" sz="75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</p:txBody>
          </p:sp>
          <p:sp>
            <p:nvSpPr>
              <p:cNvPr id="364" name="Google Shape;364;p21"/>
              <p:cNvSpPr/>
              <p:nvPr/>
            </p:nvSpPr>
            <p:spPr>
              <a:xfrm>
                <a:off x="1238250" y="38100"/>
                <a:ext cx="1905000" cy="76200"/>
              </a:xfrm>
              <a:prstGeom prst="roundRect">
                <a:avLst>
                  <a:gd fmla="val 50000" name="adj"/>
                </a:avLst>
              </a:prstGeom>
              <a:solidFill>
                <a:srgbClr val="0B112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5" name="Google Shape;365;p21"/>
              <p:cNvSpPr/>
              <p:nvPr/>
            </p:nvSpPr>
            <p:spPr>
              <a:xfrm>
                <a:off x="1238250" y="38100"/>
                <a:ext cx="1524000" cy="76200"/>
              </a:xfrm>
              <a:prstGeom prst="roundRect">
                <a:avLst>
                  <a:gd fmla="val 50000" name="adj"/>
                </a:avLst>
              </a:prstGeom>
              <a:solidFill>
                <a:srgbClr val="3B82F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66" name="Google Shape;366;p21"/>
              <p:cNvSpPr txBox="1"/>
              <p:nvPr/>
            </p:nvSpPr>
            <p:spPr>
              <a:xfrm>
                <a:off x="3238500" y="0"/>
                <a:ext cx="2859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3B82F6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80%</a:t>
                </a:r>
                <a:endParaRPr b="0" sz="75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</p:txBody>
          </p:sp>
        </p:grpSp>
        <p:grpSp>
          <p:nvGrpSpPr>
            <p:cNvPr id="367" name="Google Shape;367;p21"/>
            <p:cNvGrpSpPr/>
            <p:nvPr/>
          </p:nvGrpSpPr>
          <p:grpSpPr>
            <a:xfrm>
              <a:off x="152400" y="819150"/>
              <a:ext cx="3524400" cy="171600"/>
              <a:chOff x="0" y="0"/>
              <a:chExt cx="3524400" cy="171600"/>
            </a:xfrm>
          </p:grpSpPr>
          <p:sp>
            <p:nvSpPr>
              <p:cNvPr id="368" name="Google Shape;368;p21"/>
              <p:cNvSpPr txBox="1"/>
              <p:nvPr/>
            </p:nvSpPr>
            <p:spPr>
              <a:xfrm>
                <a:off x="0" y="0"/>
                <a:ext cx="10479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SPATIAL_LOGIC</a:t>
                </a:r>
                <a:endParaRPr b="0" sz="75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</p:txBody>
          </p:sp>
          <p:sp>
            <p:nvSpPr>
              <p:cNvPr id="369" name="Google Shape;369;p21"/>
              <p:cNvSpPr/>
              <p:nvPr/>
            </p:nvSpPr>
            <p:spPr>
              <a:xfrm>
                <a:off x="1238250" y="38100"/>
                <a:ext cx="1905000" cy="76200"/>
              </a:xfrm>
              <a:prstGeom prst="roundRect">
                <a:avLst>
                  <a:gd fmla="val 50000" name="adj"/>
                </a:avLst>
              </a:prstGeom>
              <a:solidFill>
                <a:srgbClr val="0B112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1238250" y="38100"/>
                <a:ext cx="952500" cy="76200"/>
              </a:xfrm>
              <a:prstGeom prst="roundRect">
                <a:avLst>
                  <a:gd fmla="val 50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1" name="Google Shape;371;p21"/>
              <p:cNvSpPr txBox="1"/>
              <p:nvPr/>
            </p:nvSpPr>
            <p:spPr>
              <a:xfrm>
                <a:off x="3238500" y="0"/>
                <a:ext cx="2859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06B6D4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50%</a:t>
                </a:r>
                <a:endParaRPr b="0" sz="75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</p:txBody>
          </p:sp>
        </p:grpSp>
        <p:grpSp>
          <p:nvGrpSpPr>
            <p:cNvPr id="372" name="Google Shape;372;p21"/>
            <p:cNvGrpSpPr/>
            <p:nvPr/>
          </p:nvGrpSpPr>
          <p:grpSpPr>
            <a:xfrm>
              <a:off x="152400" y="1104900"/>
              <a:ext cx="3524400" cy="171600"/>
              <a:chOff x="0" y="0"/>
              <a:chExt cx="3524400" cy="171600"/>
            </a:xfrm>
          </p:grpSpPr>
          <p:sp>
            <p:nvSpPr>
              <p:cNvPr id="373" name="Google Shape;373;p21"/>
              <p:cNvSpPr txBox="1"/>
              <p:nvPr/>
            </p:nvSpPr>
            <p:spPr>
              <a:xfrm>
                <a:off x="0" y="0"/>
                <a:ext cx="10479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ARITH_SPEED</a:t>
                </a:r>
                <a:endParaRPr b="0" sz="75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</p:txBody>
          </p:sp>
          <p:sp>
            <p:nvSpPr>
              <p:cNvPr id="374" name="Google Shape;374;p21"/>
              <p:cNvSpPr/>
              <p:nvPr/>
            </p:nvSpPr>
            <p:spPr>
              <a:xfrm>
                <a:off x="1238250" y="38100"/>
                <a:ext cx="1905000" cy="76200"/>
              </a:xfrm>
              <a:prstGeom prst="roundRect">
                <a:avLst>
                  <a:gd fmla="val 50000" name="adj"/>
                </a:avLst>
              </a:prstGeom>
              <a:solidFill>
                <a:srgbClr val="0B112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5" name="Google Shape;375;p21"/>
              <p:cNvSpPr/>
              <p:nvPr/>
            </p:nvSpPr>
            <p:spPr>
              <a:xfrm>
                <a:off x="1238250" y="38100"/>
                <a:ext cx="1714500" cy="76200"/>
              </a:xfrm>
              <a:prstGeom prst="roundRect">
                <a:avLst>
                  <a:gd fmla="val 50000" name="adj"/>
                </a:avLst>
              </a:prstGeom>
              <a:solidFill>
                <a:srgbClr val="3B82F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76" name="Google Shape;376;p21"/>
              <p:cNvSpPr txBox="1"/>
              <p:nvPr/>
            </p:nvSpPr>
            <p:spPr>
              <a:xfrm>
                <a:off x="3238500" y="0"/>
                <a:ext cx="2859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3B82F6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90%</a:t>
                </a:r>
                <a:endParaRPr b="0" sz="75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</p:txBody>
          </p:sp>
        </p:grpSp>
        <p:sp>
          <p:nvSpPr>
            <p:cNvPr id="377" name="Google Shape;377;p21"/>
            <p:cNvSpPr/>
            <p:nvPr/>
          </p:nvSpPr>
          <p:spPr>
            <a:xfrm>
              <a:off x="152400" y="1390650"/>
              <a:ext cx="3505200" cy="9600"/>
            </a:xfrm>
            <a:prstGeom prst="rect">
              <a:avLst/>
            </a:prstGeom>
            <a:solidFill>
              <a:srgbClr val="334155">
                <a:alpha val="5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21"/>
            <p:cNvSpPr txBox="1"/>
            <p:nvPr/>
          </p:nvSpPr>
          <p:spPr>
            <a:xfrm>
              <a:off x="152400" y="1504950"/>
              <a:ext cx="35052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BEHAVIORAL TELEMETRY LOOP // TIME &amp; ATTEMPTS</a:t>
              </a:r>
              <a:endParaRPr b="0" sz="750">
                <a:solidFill>
                  <a:srgbClr val="94A3B8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</p:txBody>
        </p:sp>
        <p:grpSp>
          <p:nvGrpSpPr>
            <p:cNvPr id="379" name="Google Shape;379;p21"/>
            <p:cNvGrpSpPr/>
            <p:nvPr/>
          </p:nvGrpSpPr>
          <p:grpSpPr>
            <a:xfrm>
              <a:off x="300038" y="1762125"/>
              <a:ext cx="3357563" cy="857400"/>
              <a:chOff x="147638" y="0"/>
              <a:chExt cx="3357563" cy="857400"/>
            </a:xfrm>
          </p:grpSpPr>
          <p:pic>
            <p:nvPicPr>
              <p:cNvPr id="380" name="Google Shape;380;p21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52400" y="185738"/>
                <a:ext cx="3333900" cy="96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81" name="Google Shape;381;p21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52400" y="471488"/>
                <a:ext cx="3333900" cy="960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82" name="Google Shape;382;p21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152400" y="757238"/>
                <a:ext cx="3333900" cy="9600"/>
              </a:xfrm>
              <a:prstGeom prst="rect">
                <a:avLst/>
              </a:prstGeom>
              <a:noFill/>
              <a:ln>
                <a:noFill/>
              </a:ln>
            </p:spPr>
          </p:pic>
          <p:cxnSp>
            <p:nvCxnSpPr>
              <p:cNvPr id="383" name="Google Shape;383;p21"/>
              <p:cNvCxnSpPr/>
              <p:nvPr/>
            </p:nvCxnSpPr>
            <p:spPr>
              <a:xfrm>
                <a:off x="152400" y="0"/>
                <a:ext cx="0" cy="85740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84" name="Google Shape;384;p21"/>
              <p:cNvCxnSpPr/>
              <p:nvPr/>
            </p:nvCxnSpPr>
            <p:spPr>
              <a:xfrm>
                <a:off x="152400" y="857250"/>
                <a:ext cx="3352800" cy="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pic>
            <p:nvPicPr>
              <p:cNvPr id="385" name="Google Shape;385;p21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47638" y="323850"/>
                <a:ext cx="3343200" cy="4476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86" name="Google Shape;386;p21"/>
              <p:cNvSpPr/>
              <p:nvPr/>
            </p:nvSpPr>
            <p:spPr>
              <a:xfrm>
                <a:off x="152400" y="238125"/>
                <a:ext cx="3333900" cy="6192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lnTo>
                      <a:pt x="17143" y="101538"/>
                    </a:lnTo>
                    <a:lnTo>
                      <a:pt x="34286" y="27692"/>
                    </a:lnTo>
                    <a:lnTo>
                      <a:pt x="51429" y="64615"/>
                    </a:lnTo>
                    <a:lnTo>
                      <a:pt x="68571" y="18462"/>
                    </a:lnTo>
                    <a:lnTo>
                      <a:pt x="85714" y="46154"/>
                    </a:lnTo>
                    <a:lnTo>
                      <a:pt x="102857" y="0"/>
                    </a:lnTo>
                    <a:lnTo>
                      <a:pt x="120000" y="9231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23825">
                <a:solidFill>
                  <a:srgbClr val="06B6D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7" name="Google Shape;387;p21"/>
              <p:cNvSpPr/>
              <p:nvPr/>
            </p:nvSpPr>
            <p:spPr>
              <a:xfrm>
                <a:off x="1062038" y="338138"/>
                <a:ext cx="85800" cy="85800"/>
              </a:xfrm>
              <a:prstGeom prst="ellipse">
                <a:avLst/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88" name="Google Shape;388;p21"/>
              <p:cNvSpPr/>
              <p:nvPr/>
            </p:nvSpPr>
            <p:spPr>
              <a:xfrm>
                <a:off x="2967038" y="195263"/>
                <a:ext cx="85800" cy="85800"/>
              </a:xfrm>
              <a:prstGeom prst="ellipse">
                <a:avLst/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389" name="Google Shape;389;p21"/>
              <p:cNvGrpSpPr/>
              <p:nvPr/>
            </p:nvGrpSpPr>
            <p:grpSpPr>
              <a:xfrm>
                <a:off x="1200150" y="190500"/>
                <a:ext cx="400200" cy="142800"/>
                <a:chOff x="0" y="0"/>
                <a:chExt cx="400200" cy="142800"/>
              </a:xfrm>
            </p:grpSpPr>
            <p:sp>
              <p:nvSpPr>
                <p:cNvPr id="390" name="Google Shape;390;p21"/>
                <p:cNvSpPr/>
                <p:nvPr/>
              </p:nvSpPr>
              <p:spPr>
                <a:xfrm>
                  <a:off x="0" y="0"/>
                  <a:ext cx="400200" cy="142800"/>
                </a:xfrm>
                <a:prstGeom prst="roundRect">
                  <a:avLst>
                    <a:gd fmla="val 20000" name="adj"/>
                  </a:avLst>
                </a:prstGeom>
                <a:solidFill>
                  <a:srgbClr val="3B82F6">
                    <a:alpha val="95000"/>
                  </a:srgbClr>
                </a:solidFill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391" name="Google Shape;391;p21"/>
                <p:cNvSpPr txBox="1"/>
                <p:nvPr/>
              </p:nvSpPr>
              <p:spPr>
                <a:xfrm>
                  <a:off x="0" y="0"/>
                  <a:ext cx="400200" cy="142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600">
                      <a:solidFill>
                        <a:srgbClr val="F8FAFC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rPr>
                    <a:t>HINT_RQ</a:t>
                  </a:r>
                  <a:endParaRPr/>
                </a:p>
              </p:txBody>
            </p:sp>
          </p:grpSp>
        </p:grpSp>
      </p:grpSp>
      <p:sp>
        <p:nvSpPr>
          <p:cNvPr id="392" name="Google Shape;392;p21"/>
          <p:cNvSpPr txBox="1"/>
          <p:nvPr/>
        </p:nvSpPr>
        <p:spPr>
          <a:xfrm>
            <a:off x="4876800" y="43815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800">
                <a:solidFill>
                  <a:srgbClr val="94A3B8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FIG 2.4: EVIDENCE-BASED CLASS MATRIX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2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2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98" name="Google Shape;398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34600" cy="5048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99" name="Google Shape;399;p22"/>
          <p:cNvGrpSpPr/>
          <p:nvPr/>
        </p:nvGrpSpPr>
        <p:grpSpPr>
          <a:xfrm>
            <a:off x="6953250" y="381000"/>
            <a:ext cx="2247900" cy="285900"/>
            <a:chOff x="0" y="0"/>
            <a:chExt cx="2247900" cy="285900"/>
          </a:xfrm>
        </p:grpSpPr>
        <p:sp>
          <p:nvSpPr>
            <p:cNvPr id="400" name="Google Shape;400;p22"/>
            <p:cNvSpPr/>
            <p:nvPr/>
          </p:nvSpPr>
          <p:spPr>
            <a:xfrm>
              <a:off x="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" name="Google Shape;401;p22"/>
            <p:cNvSpPr/>
            <p:nvPr/>
          </p:nvSpPr>
          <p:spPr>
            <a:xfrm>
              <a:off x="66675" y="66675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0"/>
                  </a:lnTo>
                  <a:lnTo>
                    <a:pt x="60000" y="60000"/>
                  </a:lnTo>
                  <a:lnTo>
                    <a:pt x="120000" y="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2" name="Google Shape;402;p22"/>
            <p:cNvSpPr txBox="1"/>
            <p:nvPr/>
          </p:nvSpPr>
          <p:spPr>
            <a:xfrm>
              <a:off x="342900" y="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4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MathSmith </a:t>
              </a:r>
              <a:r>
                <a:rPr b="0" lang="en" sz="1400">
                  <a:solidFill>
                    <a:srgbClr val="334155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|</a:t>
              </a:r>
              <a:r>
                <a:rPr b="0" lang="en" sz="14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 数锻</a:t>
              </a:r>
              <a:endParaRPr b="0" sz="14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403" name="Google Shape;403;p22"/>
          <p:cNvSpPr txBox="1"/>
          <p:nvPr/>
        </p:nvSpPr>
        <p:spPr>
          <a:xfrm>
            <a:off x="457200" y="304800"/>
            <a:ext cx="6191400" cy="66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6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From Game to Content Platform</a:t>
            </a:r>
            <a:endParaRPr b="0" sz="2600">
              <a:solidFill>
                <a:srgbClr val="F8FAFC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6B6D4"/>
                </a:solidFill>
                <a:latin typeface="Outfit Medium"/>
                <a:ea typeface="Outfit Medium"/>
                <a:cs typeface="Outfit Medium"/>
                <a:sym typeface="Outfit Medium"/>
              </a:rPr>
              <a:t>Teachers Should Not Need to Edit Game Code.</a:t>
            </a:r>
            <a:endParaRPr b="0" sz="1400">
              <a:solidFill>
                <a:srgbClr val="06B6D4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404" name="Google Shape;404;p22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05" name="Google Shape;405;p22"/>
          <p:cNvGrpSpPr/>
          <p:nvPr/>
        </p:nvGrpSpPr>
        <p:grpSpPr>
          <a:xfrm>
            <a:off x="457200" y="1238250"/>
            <a:ext cx="5143650" cy="247800"/>
            <a:chOff x="457200" y="1238250"/>
            <a:chExt cx="5143650" cy="247800"/>
          </a:xfrm>
        </p:grpSpPr>
        <p:sp>
          <p:nvSpPr>
            <p:cNvPr id="406" name="Google Shape;406;p22"/>
            <p:cNvSpPr/>
            <p:nvPr/>
          </p:nvSpPr>
          <p:spPr>
            <a:xfrm>
              <a:off x="457200" y="1238250"/>
              <a:ext cx="666900" cy="247800"/>
            </a:xfrm>
            <a:prstGeom prst="roundRect">
              <a:avLst>
                <a:gd fmla="val 15384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7" name="Google Shape;407;p22"/>
            <p:cNvSpPr txBox="1"/>
            <p:nvPr/>
          </p:nvSpPr>
          <p:spPr>
            <a:xfrm>
              <a:off x="457200" y="1238250"/>
              <a:ext cx="6669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Author</a:t>
              </a:r>
              <a:endParaRPr/>
            </a:p>
          </p:txBody>
        </p:sp>
        <p:sp>
          <p:nvSpPr>
            <p:cNvPr id="408" name="Google Shape;408;p22"/>
            <p:cNvSpPr/>
            <p:nvPr/>
          </p:nvSpPr>
          <p:spPr>
            <a:xfrm>
              <a:off x="1181100" y="1323975"/>
              <a:ext cx="114300" cy="762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20000" y="60000"/>
                  </a:lnTo>
                  <a:moveTo>
                    <a:pt x="80000" y="0"/>
                  </a:moveTo>
                  <a:lnTo>
                    <a:pt x="120000" y="60000"/>
                  </a:lnTo>
                  <a:lnTo>
                    <a:pt x="8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4300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9" name="Google Shape;409;p22"/>
            <p:cNvSpPr/>
            <p:nvPr/>
          </p:nvSpPr>
          <p:spPr>
            <a:xfrm>
              <a:off x="1352550" y="1238250"/>
              <a:ext cx="666900" cy="247800"/>
            </a:xfrm>
            <a:prstGeom prst="roundRect">
              <a:avLst>
                <a:gd fmla="val 15384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0" name="Google Shape;410;p22"/>
            <p:cNvSpPr txBox="1"/>
            <p:nvPr/>
          </p:nvSpPr>
          <p:spPr>
            <a:xfrm>
              <a:off x="1352550" y="1238250"/>
              <a:ext cx="6669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Validate</a:t>
              </a:r>
              <a:endParaRPr/>
            </a:p>
          </p:txBody>
        </p:sp>
        <p:sp>
          <p:nvSpPr>
            <p:cNvPr id="411" name="Google Shape;411;p22"/>
            <p:cNvSpPr/>
            <p:nvPr/>
          </p:nvSpPr>
          <p:spPr>
            <a:xfrm>
              <a:off x="2076450" y="1323975"/>
              <a:ext cx="114300" cy="762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20000" y="60000"/>
                  </a:lnTo>
                  <a:moveTo>
                    <a:pt x="80000" y="0"/>
                  </a:moveTo>
                  <a:lnTo>
                    <a:pt x="120000" y="60000"/>
                  </a:lnTo>
                  <a:lnTo>
                    <a:pt x="8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4300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2" name="Google Shape;412;p22"/>
            <p:cNvSpPr/>
            <p:nvPr/>
          </p:nvSpPr>
          <p:spPr>
            <a:xfrm>
              <a:off x="2247900" y="1238250"/>
              <a:ext cx="666900" cy="247800"/>
            </a:xfrm>
            <a:prstGeom prst="roundRect">
              <a:avLst>
                <a:gd fmla="val 15384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3" name="Google Shape;413;p22"/>
            <p:cNvSpPr txBox="1"/>
            <p:nvPr/>
          </p:nvSpPr>
          <p:spPr>
            <a:xfrm>
              <a:off x="2247900" y="1238250"/>
              <a:ext cx="6669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8FAFC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Preview</a:t>
              </a:r>
              <a:endParaRPr/>
            </a:p>
          </p:txBody>
        </p:sp>
        <p:sp>
          <p:nvSpPr>
            <p:cNvPr id="414" name="Google Shape;414;p22"/>
            <p:cNvSpPr/>
            <p:nvPr/>
          </p:nvSpPr>
          <p:spPr>
            <a:xfrm>
              <a:off x="2971800" y="1323975"/>
              <a:ext cx="114300" cy="762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20000" y="60000"/>
                  </a:lnTo>
                  <a:moveTo>
                    <a:pt x="80000" y="0"/>
                  </a:moveTo>
                  <a:lnTo>
                    <a:pt x="120000" y="60000"/>
                  </a:lnTo>
                  <a:lnTo>
                    <a:pt x="8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4300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5" name="Google Shape;415;p22"/>
            <p:cNvSpPr/>
            <p:nvPr/>
          </p:nvSpPr>
          <p:spPr>
            <a:xfrm>
              <a:off x="3143250" y="1238250"/>
              <a:ext cx="666900" cy="247800"/>
            </a:xfrm>
            <a:prstGeom prst="roundRect">
              <a:avLst>
                <a:gd fmla="val 15384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6" name="Google Shape;416;p22"/>
            <p:cNvSpPr txBox="1"/>
            <p:nvPr/>
          </p:nvSpPr>
          <p:spPr>
            <a:xfrm>
              <a:off x="3143250" y="1238250"/>
              <a:ext cx="6669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8FAFC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Play</a:t>
              </a:r>
              <a:endParaRPr/>
            </a:p>
          </p:txBody>
        </p:sp>
        <p:sp>
          <p:nvSpPr>
            <p:cNvPr id="417" name="Google Shape;417;p22"/>
            <p:cNvSpPr/>
            <p:nvPr/>
          </p:nvSpPr>
          <p:spPr>
            <a:xfrm>
              <a:off x="3867150" y="1323975"/>
              <a:ext cx="114300" cy="762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20000" y="60000"/>
                  </a:lnTo>
                  <a:moveTo>
                    <a:pt x="80000" y="0"/>
                  </a:moveTo>
                  <a:lnTo>
                    <a:pt x="120000" y="60000"/>
                  </a:lnTo>
                  <a:lnTo>
                    <a:pt x="8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4300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8" name="Google Shape;418;p22"/>
            <p:cNvSpPr/>
            <p:nvPr/>
          </p:nvSpPr>
          <p:spPr>
            <a:xfrm>
              <a:off x="4038600" y="1238250"/>
              <a:ext cx="666900" cy="247800"/>
            </a:xfrm>
            <a:prstGeom prst="roundRect">
              <a:avLst>
                <a:gd fmla="val 15384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" name="Google Shape;419;p22"/>
            <p:cNvSpPr txBox="1"/>
            <p:nvPr/>
          </p:nvSpPr>
          <p:spPr>
            <a:xfrm>
              <a:off x="4038600" y="1238250"/>
              <a:ext cx="6669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8FAFC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Revise</a:t>
              </a:r>
              <a:endParaRPr/>
            </a:p>
          </p:txBody>
        </p:sp>
        <p:sp>
          <p:nvSpPr>
            <p:cNvPr id="420" name="Google Shape;420;p22"/>
            <p:cNvSpPr/>
            <p:nvPr/>
          </p:nvSpPr>
          <p:spPr>
            <a:xfrm>
              <a:off x="4762500" y="1323975"/>
              <a:ext cx="114300" cy="762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20000" y="60000"/>
                  </a:lnTo>
                  <a:moveTo>
                    <a:pt x="80000" y="0"/>
                  </a:moveTo>
                  <a:lnTo>
                    <a:pt x="120000" y="60000"/>
                  </a:lnTo>
                  <a:lnTo>
                    <a:pt x="8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4300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1" name="Google Shape;421;p22"/>
            <p:cNvSpPr/>
            <p:nvPr/>
          </p:nvSpPr>
          <p:spPr>
            <a:xfrm>
              <a:off x="4933950" y="1238250"/>
              <a:ext cx="666900" cy="247800"/>
            </a:xfrm>
            <a:prstGeom prst="roundRect">
              <a:avLst>
                <a:gd fmla="val 15384" name="adj"/>
              </a:avLst>
            </a:prstGeom>
            <a:solidFill>
              <a:srgbClr val="1E293B"/>
            </a:solidFill>
            <a:ln cap="flat" cmpd="sng" w="9525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22"/>
            <p:cNvSpPr txBox="1"/>
            <p:nvPr/>
          </p:nvSpPr>
          <p:spPr>
            <a:xfrm>
              <a:off x="4933950" y="1238250"/>
              <a:ext cx="6669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8FAFC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Export</a:t>
              </a:r>
              <a:endParaRPr/>
            </a:p>
          </p:txBody>
        </p:sp>
      </p:grpSp>
      <p:grpSp>
        <p:nvGrpSpPr>
          <p:cNvPr id="423" name="Google Shape;423;p22"/>
          <p:cNvGrpSpPr/>
          <p:nvPr/>
        </p:nvGrpSpPr>
        <p:grpSpPr>
          <a:xfrm>
            <a:off x="457200" y="1714500"/>
            <a:ext cx="1619100" cy="2571900"/>
            <a:chOff x="0" y="0"/>
            <a:chExt cx="1619100" cy="2571900"/>
          </a:xfrm>
        </p:grpSpPr>
        <p:sp>
          <p:nvSpPr>
            <p:cNvPr id="424" name="Google Shape;424;p22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7058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22"/>
            <p:cNvSpPr/>
            <p:nvPr/>
          </p:nvSpPr>
          <p:spPr>
            <a:xfrm>
              <a:off x="114300" y="114300"/>
              <a:ext cx="304800" cy="38100"/>
            </a:xfrm>
            <a:prstGeom prst="roundRect">
              <a:avLst>
                <a:gd fmla="val 50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6" name="Google Shape;426;p22"/>
            <p:cNvSpPr txBox="1"/>
            <p:nvPr/>
          </p:nvSpPr>
          <p:spPr>
            <a:xfrm>
              <a:off x="114300" y="266700"/>
              <a:ext cx="13908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BUILT-IN</a:t>
              </a:r>
              <a:endParaRPr b="0" sz="80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25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Core Curriculum</a:t>
              </a:r>
              <a:endParaRPr b="0" sz="125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Standardized, built-in courses crafted by game designers. Out-of-the-box progression structure ensuring pedagogical alignment.</a:t>
              </a:r>
              <a:endParaRPr b="0" sz="9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27" name="Google Shape;427;p22"/>
          <p:cNvGrpSpPr/>
          <p:nvPr/>
        </p:nvGrpSpPr>
        <p:grpSpPr>
          <a:xfrm>
            <a:off x="2266950" y="1714500"/>
            <a:ext cx="1619100" cy="2571900"/>
            <a:chOff x="0" y="0"/>
            <a:chExt cx="1619100" cy="2571900"/>
          </a:xfrm>
        </p:grpSpPr>
        <p:sp>
          <p:nvSpPr>
            <p:cNvPr id="428" name="Google Shape;428;p22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7058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9" name="Google Shape;429;p22"/>
            <p:cNvSpPr/>
            <p:nvPr/>
          </p:nvSpPr>
          <p:spPr>
            <a:xfrm>
              <a:off x="114300" y="114300"/>
              <a:ext cx="304800" cy="381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0" name="Google Shape;430;p22"/>
            <p:cNvSpPr txBox="1"/>
            <p:nvPr/>
          </p:nvSpPr>
          <p:spPr>
            <a:xfrm>
              <a:off x="114300" y="266700"/>
              <a:ext cx="13908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SPREADSHEET</a:t>
              </a:r>
              <a:endParaRPr b="0" sz="8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25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Imported Course</a:t>
              </a:r>
              <a:endParaRPr b="0" sz="125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Teacher-authored CSV spreadsheets. Rapid upload translates standard table rows directly into active gameplay stages.</a:t>
              </a:r>
              <a:endParaRPr b="0" sz="9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31" name="Google Shape;431;p22"/>
          <p:cNvGrpSpPr/>
          <p:nvPr/>
        </p:nvGrpSpPr>
        <p:grpSpPr>
          <a:xfrm>
            <a:off x="4076700" y="1714500"/>
            <a:ext cx="1619100" cy="2571900"/>
            <a:chOff x="0" y="0"/>
            <a:chExt cx="1619100" cy="2571900"/>
          </a:xfrm>
        </p:grpSpPr>
        <p:sp>
          <p:nvSpPr>
            <p:cNvPr id="432" name="Google Shape;432;p22"/>
            <p:cNvSpPr/>
            <p:nvPr/>
          </p:nvSpPr>
          <p:spPr>
            <a:xfrm>
              <a:off x="0" y="0"/>
              <a:ext cx="1619100" cy="2571900"/>
            </a:xfrm>
            <a:prstGeom prst="roundRect">
              <a:avLst>
                <a:gd fmla="val 7058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3" name="Google Shape;433;p22"/>
            <p:cNvSpPr/>
            <p:nvPr/>
          </p:nvSpPr>
          <p:spPr>
            <a:xfrm>
              <a:off x="114300" y="114300"/>
              <a:ext cx="304800" cy="38100"/>
            </a:xfrm>
            <a:prstGeom prst="roundRect">
              <a:avLst>
                <a:gd fmla="val 50000" name="adj"/>
              </a:avLst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4" name="Google Shape;434;p22"/>
            <p:cNvSpPr txBox="1"/>
            <p:nvPr/>
          </p:nvSpPr>
          <p:spPr>
            <a:xfrm>
              <a:off x="114300" y="266700"/>
              <a:ext cx="13908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VISUAL SUITE</a:t>
              </a:r>
              <a:endParaRPr b="0" sz="800">
                <a:solidFill>
                  <a:srgbClr val="94A3B8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125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Studio Course</a:t>
              </a:r>
              <a:endParaRPr b="0" sz="125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Fully customized modules designed within the MathSmith Studio visual editor. Offers fine-grained control over layout and rules.</a:t>
              </a:r>
              <a:endParaRPr b="0" sz="9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35" name="Google Shape;435;p22"/>
          <p:cNvGrpSpPr/>
          <p:nvPr/>
        </p:nvGrpSpPr>
        <p:grpSpPr>
          <a:xfrm>
            <a:off x="452438" y="4395788"/>
            <a:ext cx="5248200" cy="342900"/>
            <a:chOff x="-4762" y="-4762"/>
            <a:chExt cx="5248200" cy="342900"/>
          </a:xfrm>
        </p:grpSpPr>
        <p:pic>
          <p:nvPicPr>
            <p:cNvPr id="436" name="Google Shape;436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-4762" y="-4762"/>
              <a:ext cx="5248200" cy="342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37" name="Google Shape;437;p22"/>
            <p:cNvSpPr/>
            <p:nvPr/>
          </p:nvSpPr>
          <p:spPr>
            <a:xfrm>
              <a:off x="114300" y="123825"/>
              <a:ext cx="76200" cy="7620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" name="Google Shape;438;p22"/>
            <p:cNvSpPr txBox="1"/>
            <p:nvPr/>
          </p:nvSpPr>
          <p:spPr>
            <a:xfrm>
              <a:off x="304800" y="0"/>
              <a:ext cx="47625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5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Record Keeping:</a:t>
              </a:r>
              <a:r>
                <a:rPr b="0" lang="en" sz="9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 Independent player progress is automatically recorded per course source.</a:t>
              </a:r>
              <a:endParaRPr b="0" sz="9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39" name="Google Shape;439;p22"/>
          <p:cNvGrpSpPr/>
          <p:nvPr/>
        </p:nvGrpSpPr>
        <p:grpSpPr>
          <a:xfrm>
            <a:off x="6019800" y="1238250"/>
            <a:ext cx="2667000" cy="2000100"/>
            <a:chOff x="0" y="0"/>
            <a:chExt cx="2667000" cy="2000100"/>
          </a:xfrm>
        </p:grpSpPr>
        <p:sp>
          <p:nvSpPr>
            <p:cNvPr id="440" name="Google Shape;440;p22"/>
            <p:cNvSpPr/>
            <p:nvPr/>
          </p:nvSpPr>
          <p:spPr>
            <a:xfrm>
              <a:off x="0" y="0"/>
              <a:ext cx="2667000" cy="2000100"/>
            </a:xfrm>
            <a:prstGeom prst="roundRect">
              <a:avLst>
                <a:gd fmla="val 3809" name="adj"/>
              </a:avLst>
            </a:prstGeom>
            <a:solidFill>
              <a:srgbClr val="0B1121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22"/>
            <p:cNvSpPr/>
            <p:nvPr/>
          </p:nvSpPr>
          <p:spPr>
            <a:xfrm>
              <a:off x="0" y="0"/>
              <a:ext cx="2667000" cy="266700"/>
            </a:xfrm>
            <a:prstGeom prst="roundRect">
              <a:avLst>
                <a:gd fmla="val 28571" name="adj"/>
              </a:avLst>
            </a:prstGeom>
            <a:solidFill>
              <a:srgbClr val="1E293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2" name="Google Shape;442;p22"/>
            <p:cNvSpPr/>
            <p:nvPr/>
          </p:nvSpPr>
          <p:spPr>
            <a:xfrm>
              <a:off x="0" y="152400"/>
              <a:ext cx="2667000" cy="114300"/>
            </a:xfrm>
            <a:prstGeom prst="rect">
              <a:avLst/>
            </a:prstGeom>
            <a:solidFill>
              <a:srgbClr val="1E293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cxnSp>
          <p:nvCxnSpPr>
            <p:cNvPr id="443" name="Google Shape;443;p22"/>
            <p:cNvCxnSpPr/>
            <p:nvPr/>
          </p:nvCxnSpPr>
          <p:spPr>
            <a:xfrm>
              <a:off x="0" y="266700"/>
              <a:ext cx="26670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444" name="Google Shape;444;p22"/>
            <p:cNvSpPr/>
            <p:nvPr/>
          </p:nvSpPr>
          <p:spPr>
            <a:xfrm>
              <a:off x="85725" y="104775"/>
              <a:ext cx="57300" cy="573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22"/>
            <p:cNvSpPr/>
            <p:nvPr/>
          </p:nvSpPr>
          <p:spPr>
            <a:xfrm>
              <a:off x="180975" y="104775"/>
              <a:ext cx="57300" cy="573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6" name="Google Shape;446;p22"/>
            <p:cNvSpPr/>
            <p:nvPr/>
          </p:nvSpPr>
          <p:spPr>
            <a:xfrm>
              <a:off x="276225" y="104775"/>
              <a:ext cx="57300" cy="573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7" name="Google Shape;447;p22"/>
            <p:cNvSpPr txBox="1"/>
            <p:nvPr/>
          </p:nvSpPr>
          <p:spPr>
            <a:xfrm>
              <a:off x="476250" y="0"/>
              <a:ext cx="20955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MATHSMITH UI // SELECT_COURSE</a:t>
              </a:r>
              <a:endParaRPr/>
            </a:p>
          </p:txBody>
        </p:sp>
        <p:sp>
          <p:nvSpPr>
            <p:cNvPr id="448" name="Google Shape;448;p22"/>
            <p:cNvSpPr/>
            <p:nvPr/>
          </p:nvSpPr>
          <p:spPr>
            <a:xfrm>
              <a:off x="114300" y="381000"/>
              <a:ext cx="2438400" cy="419100"/>
            </a:xfrm>
            <a:prstGeom prst="roundRect">
              <a:avLst>
                <a:gd fmla="val 9090" name="adj"/>
              </a:avLst>
            </a:prstGeom>
            <a:solidFill>
              <a:srgbClr val="1E293B"/>
            </a:solidFill>
            <a:ln cap="flat" cmpd="sng" w="9525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9" name="Google Shape;449;p22"/>
            <p:cNvSpPr/>
            <p:nvPr/>
          </p:nvSpPr>
          <p:spPr>
            <a:xfrm>
              <a:off x="171450" y="495300"/>
              <a:ext cx="190500" cy="190500"/>
            </a:xfrm>
            <a:prstGeom prst="ellipse">
              <a:avLst/>
            </a:prstGeom>
            <a:solidFill>
              <a:srgbClr val="06B6D4">
                <a:alpha val="2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0" name="Google Shape;450;p22"/>
            <p:cNvSpPr/>
            <p:nvPr/>
          </p:nvSpPr>
          <p:spPr>
            <a:xfrm>
              <a:off x="228600" y="571500"/>
              <a:ext cx="76200" cy="47700"/>
            </a:xfrm>
            <a:custGeom>
              <a:rect b="b" l="l" r="r" t="t"/>
              <a:pathLst>
                <a:path extrusionOk="0" h="120000" w="120000">
                  <a:moveTo>
                    <a:pt x="0" y="48000"/>
                  </a:moveTo>
                  <a:lnTo>
                    <a:pt x="45000" y="120000"/>
                  </a:ln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4300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22"/>
            <p:cNvSpPr txBox="1"/>
            <p:nvPr/>
          </p:nvSpPr>
          <p:spPr>
            <a:xfrm>
              <a:off x="457200" y="419100"/>
              <a:ext cx="19050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F8FAFC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01_CORE_CURRICULUM</a:t>
              </a:r>
              <a:endParaRPr b="0" sz="750">
                <a:solidFill>
                  <a:srgbClr val="F8FAFC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Standard math suite active</a:t>
              </a:r>
              <a:endParaRPr b="0" sz="7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52" name="Google Shape;452;p22"/>
            <p:cNvSpPr/>
            <p:nvPr/>
          </p:nvSpPr>
          <p:spPr>
            <a:xfrm>
              <a:off x="114300" y="876300"/>
              <a:ext cx="2438400" cy="419100"/>
            </a:xfrm>
            <a:prstGeom prst="roundRect">
              <a:avLst>
                <a:gd fmla="val 9090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3" name="Google Shape;453;p22"/>
            <p:cNvSpPr/>
            <p:nvPr/>
          </p:nvSpPr>
          <p:spPr>
            <a:xfrm>
              <a:off x="171450" y="990600"/>
              <a:ext cx="190500" cy="190500"/>
            </a:xfrm>
            <a:prstGeom prst="ellipse">
              <a:avLst/>
            </a:prstGeom>
            <a:solidFill>
              <a:srgbClr val="000000">
                <a:alpha val="0"/>
              </a:srgbClr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22"/>
            <p:cNvSpPr/>
            <p:nvPr/>
          </p:nvSpPr>
          <p:spPr>
            <a:xfrm>
              <a:off x="238125" y="1047750"/>
              <a:ext cx="57300" cy="76200"/>
            </a:xfrm>
            <a:custGeom>
              <a:rect b="b" l="l" r="r" t="t"/>
              <a:pathLst>
                <a:path extrusionOk="0" h="120000" w="120000">
                  <a:moveTo>
                    <a:pt x="60000" y="0"/>
                  </a:moveTo>
                  <a:lnTo>
                    <a:pt x="60000" y="120000"/>
                  </a:lnTo>
                  <a:moveTo>
                    <a:pt x="0" y="75000"/>
                  </a:moveTo>
                  <a:lnTo>
                    <a:pt x="60000" y="120000"/>
                  </a:lnTo>
                  <a:lnTo>
                    <a:pt x="120000" y="75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1425">
              <a:solidFill>
                <a:srgbClr val="94A3B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5" name="Google Shape;455;p22"/>
            <p:cNvSpPr txBox="1"/>
            <p:nvPr/>
          </p:nvSpPr>
          <p:spPr>
            <a:xfrm>
              <a:off x="457200" y="914400"/>
              <a:ext cx="19050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02_IMPORTED_CSV</a:t>
              </a:r>
              <a:endParaRPr b="0" sz="750">
                <a:solidFill>
                  <a:srgbClr val="94A3B8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Click to upload customized dataset</a:t>
              </a:r>
              <a:endParaRPr b="0" sz="7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456" name="Google Shape;456;p22"/>
            <p:cNvSpPr/>
            <p:nvPr/>
          </p:nvSpPr>
          <p:spPr>
            <a:xfrm>
              <a:off x="114300" y="1371600"/>
              <a:ext cx="2438400" cy="419100"/>
            </a:xfrm>
            <a:prstGeom prst="roundRect">
              <a:avLst>
                <a:gd fmla="val 9090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7" name="Google Shape;457;p22"/>
            <p:cNvSpPr/>
            <p:nvPr/>
          </p:nvSpPr>
          <p:spPr>
            <a:xfrm>
              <a:off x="171450" y="1485900"/>
              <a:ext cx="190500" cy="190500"/>
            </a:xfrm>
            <a:prstGeom prst="ellipse">
              <a:avLst/>
            </a:prstGeom>
            <a:solidFill>
              <a:srgbClr val="000000">
                <a:alpha val="0"/>
              </a:srgbClr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" name="Google Shape;458;p22"/>
            <p:cNvSpPr/>
            <p:nvPr/>
          </p:nvSpPr>
          <p:spPr>
            <a:xfrm>
              <a:off x="238125" y="1552575"/>
              <a:ext cx="57300" cy="573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120000" y="60000"/>
                  </a:lnTo>
                  <a:moveTo>
                    <a:pt x="60000" y="0"/>
                  </a:moveTo>
                  <a:lnTo>
                    <a:pt x="6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1425">
              <a:solidFill>
                <a:srgbClr val="94A3B8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9" name="Google Shape;459;p22"/>
            <p:cNvSpPr txBox="1"/>
            <p:nvPr/>
          </p:nvSpPr>
          <p:spPr>
            <a:xfrm>
              <a:off x="457200" y="1409700"/>
              <a:ext cx="19050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5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03_STUDIO_BUILDER</a:t>
              </a:r>
              <a:endParaRPr b="0" sz="750">
                <a:solidFill>
                  <a:srgbClr val="94A3B8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7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Create and publish via visual node editor</a:t>
              </a:r>
              <a:endParaRPr b="0" sz="7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60" name="Google Shape;460;p22"/>
          <p:cNvGrpSpPr/>
          <p:nvPr/>
        </p:nvGrpSpPr>
        <p:grpSpPr>
          <a:xfrm>
            <a:off x="6019800" y="3429000"/>
            <a:ext cx="2667000" cy="1305000"/>
            <a:chOff x="0" y="0"/>
            <a:chExt cx="2667000" cy="1305000"/>
          </a:xfrm>
        </p:grpSpPr>
        <p:sp>
          <p:nvSpPr>
            <p:cNvPr id="461" name="Google Shape;461;p22"/>
            <p:cNvSpPr/>
            <p:nvPr/>
          </p:nvSpPr>
          <p:spPr>
            <a:xfrm>
              <a:off x="0" y="0"/>
              <a:ext cx="2667000" cy="1305000"/>
            </a:xfrm>
            <a:prstGeom prst="roundRect">
              <a:avLst>
                <a:gd fmla="val 8759" name="adj"/>
              </a:avLst>
            </a:prstGeom>
            <a:solidFill>
              <a:srgbClr val="1E293B"/>
            </a:solidFill>
            <a:ln cap="flat" cmpd="sng" w="14300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2" name="Google Shape;462;p22"/>
            <p:cNvSpPr/>
            <p:nvPr/>
          </p:nvSpPr>
          <p:spPr>
            <a:xfrm>
              <a:off x="152400" y="152400"/>
              <a:ext cx="304800" cy="381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3" name="Google Shape;463;p22"/>
            <p:cNvSpPr txBox="1"/>
            <p:nvPr/>
          </p:nvSpPr>
          <p:spPr>
            <a:xfrm>
              <a:off x="152400" y="266700"/>
              <a:ext cx="23622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TEACHER INTERFACE</a:t>
              </a:r>
              <a:endParaRPr b="0" sz="8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No-code workspace designed specifically for educators. Seamlessly manage learning pathways, import curriculum spreadsheets, or visually edit interactive game elements.</a:t>
              </a:r>
              <a:endParaRPr b="0" sz="9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1"/>
        </a:solidFill>
      </p:bgPr>
    </p:bg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8" name="Google Shape;46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34600" cy="5048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69" name="Google Shape;469;p23"/>
          <p:cNvGrpSpPr/>
          <p:nvPr/>
        </p:nvGrpSpPr>
        <p:grpSpPr>
          <a:xfrm>
            <a:off x="457200" y="304800"/>
            <a:ext cx="8382000" cy="752550"/>
            <a:chOff x="457200" y="304800"/>
            <a:chExt cx="8382000" cy="752550"/>
          </a:xfrm>
        </p:grpSpPr>
        <p:sp>
          <p:nvSpPr>
            <p:cNvPr id="470" name="Google Shape;470;p23"/>
            <p:cNvSpPr txBox="1"/>
            <p:nvPr/>
          </p:nvSpPr>
          <p:spPr>
            <a:xfrm>
              <a:off x="457200" y="304800"/>
              <a:ext cx="61914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26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MathSmith Studio</a:t>
              </a:r>
              <a:endParaRPr b="0" sz="26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400">
                  <a:solidFill>
                    <a:srgbClr val="06B6D4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Visual Authoring Without Touching Code</a:t>
              </a:r>
              <a:endParaRPr b="0" sz="1400">
                <a:solidFill>
                  <a:srgbClr val="06B6D4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</p:txBody>
        </p:sp>
        <p:grpSp>
          <p:nvGrpSpPr>
            <p:cNvPr id="471" name="Google Shape;471;p23"/>
            <p:cNvGrpSpPr/>
            <p:nvPr/>
          </p:nvGrpSpPr>
          <p:grpSpPr>
            <a:xfrm>
              <a:off x="6972300" y="419100"/>
              <a:ext cx="1866900" cy="285900"/>
              <a:chOff x="0" y="0"/>
              <a:chExt cx="1866900" cy="285900"/>
            </a:xfrm>
          </p:grpSpPr>
          <p:sp>
            <p:nvSpPr>
              <p:cNvPr id="472" name="Google Shape;472;p23"/>
              <p:cNvSpPr/>
              <p:nvPr/>
            </p:nvSpPr>
            <p:spPr>
              <a:xfrm>
                <a:off x="0" y="0"/>
                <a:ext cx="228600" cy="228600"/>
              </a:xfrm>
              <a:prstGeom prst="roundRect">
                <a:avLst>
                  <a:gd fmla="val 25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3" name="Google Shape;473;p23"/>
              <p:cNvSpPr/>
              <p:nvPr/>
            </p:nvSpPr>
            <p:spPr>
              <a:xfrm>
                <a:off x="66675" y="66675"/>
                <a:ext cx="95400" cy="954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lnTo>
                      <a:pt x="0" y="0"/>
                    </a:lnTo>
                    <a:lnTo>
                      <a:pt x="60000" y="60000"/>
                    </a:lnTo>
                    <a:lnTo>
                      <a:pt x="120000" y="0"/>
                    </a:lnTo>
                    <a:lnTo>
                      <a:pt x="12000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rnd" cmpd="sng" w="19050">
                <a:solidFill>
                  <a:srgbClr val="0B112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4" name="Google Shape;474;p23"/>
              <p:cNvSpPr txBox="1"/>
              <p:nvPr/>
            </p:nvSpPr>
            <p:spPr>
              <a:xfrm>
                <a:off x="342900" y="0"/>
                <a:ext cx="1524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1200">
                    <a:solidFill>
                      <a:srgbClr val="F8FAFC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MathSmith </a:t>
                </a:r>
                <a:r>
                  <a:rPr b="0" lang="en" sz="1200">
                    <a:solidFill>
                      <a:srgbClr val="334155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|</a:t>
                </a:r>
                <a:r>
                  <a:rPr b="0" lang="en" sz="1200">
                    <a:solidFill>
                      <a:srgbClr val="F8FAFC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 数锻</a:t>
                </a:r>
                <a:endParaRPr b="0" sz="12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</p:txBody>
          </p:sp>
        </p:grpSp>
        <p:sp>
          <p:nvSpPr>
            <p:cNvPr id="475" name="Google Shape;475;p23"/>
            <p:cNvSpPr/>
            <p:nvPr/>
          </p:nvSpPr>
          <p:spPr>
            <a:xfrm>
              <a:off x="457200" y="1047750"/>
              <a:ext cx="8229600" cy="9600"/>
            </a:xfrm>
            <a:prstGeom prst="rect">
              <a:avLst/>
            </a:prstGeom>
            <a:solidFill>
              <a:srgbClr val="33415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476" name="Google Shape;476;p23"/>
          <p:cNvGrpSpPr/>
          <p:nvPr/>
        </p:nvGrpSpPr>
        <p:grpSpPr>
          <a:xfrm>
            <a:off x="457200" y="1333500"/>
            <a:ext cx="8229600" cy="3333900"/>
            <a:chOff x="457200" y="1333500"/>
            <a:chExt cx="8229600" cy="3333900"/>
          </a:xfrm>
        </p:grpSpPr>
        <p:grpSp>
          <p:nvGrpSpPr>
            <p:cNvPr id="477" name="Google Shape;477;p23"/>
            <p:cNvGrpSpPr/>
            <p:nvPr/>
          </p:nvGrpSpPr>
          <p:grpSpPr>
            <a:xfrm>
              <a:off x="457200" y="1333500"/>
              <a:ext cx="2552700" cy="3333900"/>
              <a:chOff x="0" y="0"/>
              <a:chExt cx="2552700" cy="3333900"/>
            </a:xfrm>
          </p:grpSpPr>
          <p:sp>
            <p:nvSpPr>
              <p:cNvPr id="478" name="Google Shape;478;p23"/>
              <p:cNvSpPr/>
              <p:nvPr/>
            </p:nvSpPr>
            <p:spPr>
              <a:xfrm>
                <a:off x="0" y="0"/>
                <a:ext cx="2552700" cy="3333900"/>
              </a:xfrm>
              <a:prstGeom prst="roundRect">
                <a:avLst>
                  <a:gd fmla="val 4477" name="adj"/>
                </a:avLst>
              </a:prstGeom>
              <a:solidFill>
                <a:srgbClr val="1E293B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79" name="Google Shape;479;p23"/>
              <p:cNvSpPr txBox="1"/>
              <p:nvPr/>
            </p:nvSpPr>
            <p:spPr>
              <a:xfrm>
                <a:off x="190500" y="190500"/>
                <a:ext cx="2171700" cy="2952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06B6D4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LIVE EXPRESSION VALIDATION</a:t>
                </a:r>
                <a:endParaRPr b="0" sz="9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" sz="1000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Create courses, levels, and questions while validating math expressions on the fly.</a:t>
                </a:r>
                <a:endParaRPr b="0" sz="100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05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3B82F6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PREVIEW GENERATED STEPS</a:t>
                </a:r>
                <a:endParaRPr b="0" sz="9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" sz="1000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Preview dynamic solution steps instantly to ensure perfect logic before publishing.</a:t>
                </a:r>
                <a:endParaRPr b="0" sz="100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05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3B82F6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LIVE CSV EXPORT</a:t>
                </a:r>
                <a:endParaRPr b="0" sz="9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" sz="1000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Generate structured, fully-validated CSV files in one click to deploy into production.</a:t>
                </a:r>
                <a:endParaRPr b="0" sz="100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1050"/>
                  </a:spcBef>
                  <a:spcAft>
                    <a:spcPts val="0"/>
                  </a:spcAft>
                  <a:buNone/>
                </a:pPr>
                <a:r>
                  <a:rPr b="0" i="1" lang="en" sz="85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* Uses identical ExpressionParser &amp; StepGenerator as the main game to guarantee authoring consistency.</a:t>
                </a:r>
                <a:endParaRPr b="0" i="1" sz="8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80" name="Google Shape;480;p23"/>
            <p:cNvGrpSpPr/>
            <p:nvPr/>
          </p:nvGrpSpPr>
          <p:grpSpPr>
            <a:xfrm>
              <a:off x="3238500" y="1333500"/>
              <a:ext cx="5448300" cy="3333900"/>
              <a:chOff x="0" y="0"/>
              <a:chExt cx="5448300" cy="3333900"/>
            </a:xfrm>
          </p:grpSpPr>
          <p:sp>
            <p:nvSpPr>
              <p:cNvPr id="481" name="Google Shape;481;p23"/>
              <p:cNvSpPr/>
              <p:nvPr/>
            </p:nvSpPr>
            <p:spPr>
              <a:xfrm>
                <a:off x="0" y="0"/>
                <a:ext cx="5448300" cy="3333900"/>
              </a:xfrm>
              <a:prstGeom prst="roundRect">
                <a:avLst>
                  <a:gd fmla="val 3428" name="adj"/>
                </a:avLst>
              </a:prstGeom>
              <a:solidFill>
                <a:srgbClr val="0D1527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2" name="Google Shape;482;p23"/>
              <p:cNvSpPr/>
              <p:nvPr/>
            </p:nvSpPr>
            <p:spPr>
              <a:xfrm>
                <a:off x="0" y="0"/>
                <a:ext cx="5448300" cy="342900"/>
              </a:xfrm>
              <a:custGeom>
                <a:rect b="b" l="l" r="r" t="t"/>
                <a:pathLst>
                  <a:path extrusionOk="0" h="120000" w="120000">
                    <a:moveTo>
                      <a:pt x="0" y="40000"/>
                    </a:moveTo>
                    <a:cubicBezTo>
                      <a:pt x="0" y="17909"/>
                      <a:pt x="1127" y="0"/>
                      <a:pt x="2517" y="0"/>
                    </a:cubicBezTo>
                    <a:lnTo>
                      <a:pt x="117483" y="0"/>
                    </a:lnTo>
                    <a:cubicBezTo>
                      <a:pt x="118873" y="4"/>
                      <a:pt x="120000" y="17912"/>
                      <a:pt x="120000" y="40000"/>
                    </a:cubicBezTo>
                    <a:lnTo>
                      <a:pt x="120000" y="12000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3" name="Google Shape;483;p23"/>
              <p:cNvSpPr/>
              <p:nvPr/>
            </p:nvSpPr>
            <p:spPr>
              <a:xfrm>
                <a:off x="152400" y="133350"/>
                <a:ext cx="76200" cy="76200"/>
              </a:xfrm>
              <a:prstGeom prst="ellipse">
                <a:avLst/>
              </a:prstGeom>
              <a:solidFill>
                <a:srgbClr val="EF444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4" name="Google Shape;484;p23"/>
              <p:cNvSpPr/>
              <p:nvPr/>
            </p:nvSpPr>
            <p:spPr>
              <a:xfrm>
                <a:off x="266700" y="133350"/>
                <a:ext cx="76200" cy="762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5" name="Google Shape;485;p23"/>
              <p:cNvSpPr/>
              <p:nvPr/>
            </p:nvSpPr>
            <p:spPr>
              <a:xfrm>
                <a:off x="381000" y="133350"/>
                <a:ext cx="76200" cy="76200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86" name="Google Shape;486;p23"/>
              <p:cNvSpPr txBox="1"/>
              <p:nvPr/>
            </p:nvSpPr>
            <p:spPr>
              <a:xfrm>
                <a:off x="609600" y="76200"/>
                <a:ext cx="38100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mathsmith-studio // level_04_quadratic_equations</a:t>
                </a:r>
                <a:endParaRPr b="0" sz="80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</p:txBody>
          </p:sp>
          <p:sp>
            <p:nvSpPr>
              <p:cNvPr id="487" name="Google Shape;487;p23"/>
              <p:cNvSpPr/>
              <p:nvPr/>
            </p:nvSpPr>
            <p:spPr>
              <a:xfrm>
                <a:off x="0" y="342900"/>
                <a:ext cx="1371600" cy="2991000"/>
              </a:xfrm>
              <a:prstGeom prst="rect">
                <a:avLst/>
              </a:prstGeom>
              <a:solidFill>
                <a:srgbClr val="111827">
                  <a:alpha val="6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488" name="Google Shape;488;p23"/>
              <p:cNvCxnSpPr/>
              <p:nvPr/>
            </p:nvCxnSpPr>
            <p:spPr>
              <a:xfrm>
                <a:off x="1371600" y="342900"/>
                <a:ext cx="0" cy="299100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489" name="Google Shape;489;p23"/>
              <p:cNvSpPr txBox="1"/>
              <p:nvPr/>
            </p:nvSpPr>
            <p:spPr>
              <a:xfrm>
                <a:off x="114300" y="457200"/>
                <a:ext cx="1143000" cy="2762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3B82F6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[PROJECTS]</a:t>
                </a:r>
                <a:endParaRPr b="0" sz="75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F8FAFC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▾ Algebra I</a:t>
                </a:r>
                <a:endParaRPr b="0" sz="850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76200" marR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06B6D4"/>
                    </a:solidFill>
                    <a:latin typeface="Inter"/>
                    <a:ea typeface="Inter"/>
                    <a:cs typeface="Inter"/>
                    <a:sym typeface="Inter"/>
                  </a:rPr>
                  <a:t>▸ Level 01: Linear</a:t>
                </a:r>
                <a:endParaRPr b="0" sz="800">
                  <a:solidFill>
                    <a:srgbClr val="06B6D4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76200" marR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06B6D4"/>
                    </a:solidFill>
                    <a:latin typeface="Inter"/>
                    <a:ea typeface="Inter"/>
                    <a:cs typeface="Inter"/>
                    <a:sym typeface="Inter"/>
                  </a:rPr>
                  <a:t>▸ Level 02: Systems</a:t>
                </a:r>
                <a:endParaRPr b="0" sz="800">
                  <a:solidFill>
                    <a:srgbClr val="06B6D4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76200" marR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F8FAFC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▾ Level 04: Quad</a:t>
                </a:r>
                <a:endParaRPr b="0" sz="800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152400" marR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3B82F6"/>
                    </a:solidFill>
                    <a:latin typeface="Inter"/>
                    <a:ea typeface="Inter"/>
                    <a:cs typeface="Inter"/>
                    <a:sym typeface="Inter"/>
                  </a:rPr>
                  <a:t>▪ Q1: Definition</a:t>
                </a:r>
                <a:endParaRPr b="0" sz="750">
                  <a:solidFill>
                    <a:srgbClr val="3B82F6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152400" marR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06B6D4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▪ Q2: Live Parse *</a:t>
                </a:r>
                <a:endParaRPr b="0" sz="750">
                  <a:solidFill>
                    <a:srgbClr val="06B6D4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152400" marR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75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▪ Q3: Steps Gen</a:t>
                </a:r>
                <a:endParaRPr b="0" sz="7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90" name="Google Shape;490;p23"/>
              <p:cNvSpPr/>
              <p:nvPr/>
            </p:nvSpPr>
            <p:spPr>
              <a:xfrm>
                <a:off x="1524000" y="495300"/>
                <a:ext cx="3771900" cy="400200"/>
              </a:xfrm>
              <a:prstGeom prst="roundRect">
                <a:avLst>
                  <a:gd fmla="val 14285" name="adj"/>
                </a:avLst>
              </a:prstGeom>
              <a:solidFill>
                <a:srgbClr val="1E293B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1" name="Google Shape;491;p23"/>
              <p:cNvSpPr txBox="1"/>
              <p:nvPr/>
            </p:nvSpPr>
            <p:spPr>
              <a:xfrm>
                <a:off x="1619250" y="533400"/>
                <a:ext cx="35814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5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QUESTION_PROMPT_TEXT</a:t>
                </a:r>
                <a:endParaRPr b="0" sz="65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900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Solve for x: x² + 5x + 6 = 0</a:t>
                </a:r>
                <a:endParaRPr b="0" sz="90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492" name="Google Shape;492;p23"/>
              <p:cNvSpPr/>
              <p:nvPr/>
            </p:nvSpPr>
            <p:spPr>
              <a:xfrm>
                <a:off x="1524000" y="1009650"/>
                <a:ext cx="1771800" cy="457200"/>
              </a:xfrm>
              <a:prstGeom prst="roundRect">
                <a:avLst>
                  <a:gd fmla="val 12500" name="adj"/>
                </a:avLst>
              </a:prstGeom>
              <a:solidFill>
                <a:srgbClr val="1E293B"/>
              </a:solidFill>
              <a:ln cap="flat" cmpd="sng" w="11425">
                <a:solidFill>
                  <a:srgbClr val="06B6D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3" name="Google Shape;493;p23"/>
              <p:cNvSpPr txBox="1"/>
              <p:nvPr/>
            </p:nvSpPr>
            <p:spPr>
              <a:xfrm>
                <a:off x="1619250" y="1047750"/>
                <a:ext cx="15813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50">
                    <a:solidFill>
                      <a:srgbClr val="06B6D4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FORMULA (INPUT)</a:t>
                </a:r>
                <a:endParaRPr b="0" sz="65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950">
                    <a:solidFill>
                      <a:srgbClr val="F8FAFC"/>
                    </a:solidFill>
                    <a:latin typeface="Fira Code"/>
                    <a:ea typeface="Fira Code"/>
                    <a:cs typeface="Fira Code"/>
                    <a:sym typeface="Fira Code"/>
                  </a:rPr>
                  <a:t>(x + 2)(x + 3)</a:t>
                </a:r>
                <a:endParaRPr b="0" sz="950">
                  <a:solidFill>
                    <a:srgbClr val="F8FAFC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  <p:pic>
            <p:nvPicPr>
              <p:cNvPr id="494" name="Google Shape;494;p23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71850" y="1228725"/>
                <a:ext cx="142800" cy="192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95" name="Google Shape;495;p23"/>
              <p:cNvSpPr/>
              <p:nvPr/>
            </p:nvSpPr>
            <p:spPr>
              <a:xfrm>
                <a:off x="3524250" y="1209675"/>
                <a:ext cx="57300" cy="573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120000" y="60000"/>
                    </a:lnTo>
                    <a:lnTo>
                      <a:pt x="0" y="120000"/>
                    </a:lnTo>
                    <a:close/>
                  </a:path>
                </a:pathLst>
              </a:cu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6" name="Google Shape;496;p23"/>
              <p:cNvSpPr/>
              <p:nvPr/>
            </p:nvSpPr>
            <p:spPr>
              <a:xfrm>
                <a:off x="3638550" y="1009650"/>
                <a:ext cx="1657500" cy="457200"/>
              </a:xfrm>
              <a:prstGeom prst="roundRect">
                <a:avLst>
                  <a:gd fmla="val 12500" name="adj"/>
                </a:avLst>
              </a:prstGeom>
              <a:solidFill>
                <a:srgbClr val="06B6D4">
                  <a:alpha val="8000"/>
                </a:srgbClr>
              </a:solidFill>
              <a:ln cap="flat" cmpd="sng" w="11425">
                <a:solidFill>
                  <a:srgbClr val="06B6D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7" name="Google Shape;497;p23"/>
              <p:cNvSpPr txBox="1"/>
              <p:nvPr/>
            </p:nvSpPr>
            <p:spPr>
              <a:xfrm>
                <a:off x="3733800" y="1047750"/>
                <a:ext cx="1467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50">
                    <a:solidFill>
                      <a:srgbClr val="06B6D4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EXPRESSION_PARSER</a:t>
                </a:r>
                <a:endParaRPr b="0" sz="65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150"/>
                  </a:spcBef>
                  <a:spcAft>
                    <a:spcPts val="0"/>
                  </a:spcAft>
                  <a:buNone/>
                </a:pPr>
                <a:r>
                  <a:rPr b="0" lang="en" sz="850">
                    <a:solidFill>
                      <a:srgbClr val="06B6D4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✔ PARSED OK</a:t>
                </a:r>
                <a:endParaRPr b="0" sz="850">
                  <a:solidFill>
                    <a:srgbClr val="06B6D4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</p:txBody>
          </p:sp>
          <p:sp>
            <p:nvSpPr>
              <p:cNvPr id="498" name="Google Shape;498;p23"/>
              <p:cNvSpPr/>
              <p:nvPr/>
            </p:nvSpPr>
            <p:spPr>
              <a:xfrm>
                <a:off x="1524000" y="1581150"/>
                <a:ext cx="3771900" cy="1200300"/>
              </a:xfrm>
              <a:prstGeom prst="roundRect">
                <a:avLst>
                  <a:gd fmla="val 4761" name="adj"/>
                </a:avLst>
              </a:prstGeom>
              <a:solidFill>
                <a:srgbClr val="0B1121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499" name="Google Shape;499;p23"/>
              <p:cNvSpPr txBox="1"/>
              <p:nvPr/>
            </p:nvSpPr>
            <p:spPr>
              <a:xfrm>
                <a:off x="1638300" y="1638300"/>
                <a:ext cx="3543300" cy="1086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650">
                    <a:solidFill>
                      <a:srgbClr val="3B82F6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STEP_GENERATOR_OUTPUT (LIVE_PREVIEW)</a:t>
                </a:r>
                <a:endParaRPr b="0" sz="65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  <a:p>
                <a:pPr indent="0" lvl="0" marL="0" rtl="0" algn="l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94A3B8"/>
                    </a:solidFill>
                    <a:latin typeface="Fira Code"/>
                    <a:ea typeface="Fira Code"/>
                    <a:cs typeface="Fira Code"/>
                    <a:sym typeface="Fira Code"/>
                  </a:rPr>
                  <a:t>Step 1: Expand product -&gt; x² + 3x + 2x + 6 = 0</a:t>
                </a:r>
                <a:endParaRPr sz="800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  <a:p>
                <a:pPr indent="0" lvl="0" marL="0" rtl="0" algn="l">
                  <a:spcBef>
                    <a:spcPts val="225"/>
                  </a:spcBef>
                  <a:spcAft>
                    <a:spcPts val="0"/>
                  </a:spcAft>
                  <a:buNone/>
                </a:pPr>
                <a:r>
                  <a:rPr lang="en" sz="800">
                    <a:solidFill>
                      <a:srgbClr val="94A3B8"/>
                    </a:solidFill>
                    <a:latin typeface="Fira Code"/>
                    <a:ea typeface="Fira Code"/>
                    <a:cs typeface="Fira Code"/>
                    <a:sym typeface="Fira Code"/>
                  </a:rPr>
                  <a:t>Step 2: Collect like terms -&gt; x² + 5x + 6 = 0</a:t>
                </a:r>
                <a:endParaRPr sz="800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  <a:p>
                <a:pPr indent="0" lvl="0" marL="0" rtl="0" algn="l">
                  <a:spcBef>
                    <a:spcPts val="60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10B981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✔ Solvable: Synced with Game Logic Engine</a:t>
                </a:r>
                <a:endParaRPr b="0" sz="800">
                  <a:solidFill>
                    <a:srgbClr val="10B981"/>
                  </a:solidFill>
                  <a:latin typeface="Fira Code SemiBold"/>
                  <a:ea typeface="Fira Code SemiBold"/>
                  <a:cs typeface="Fira Code SemiBold"/>
                  <a:sym typeface="Fira Code SemiBold"/>
                </a:endParaRPr>
              </a:p>
            </p:txBody>
          </p:sp>
          <p:sp>
            <p:nvSpPr>
              <p:cNvPr id="500" name="Google Shape;500;p23"/>
              <p:cNvSpPr/>
              <p:nvPr/>
            </p:nvSpPr>
            <p:spPr>
              <a:xfrm>
                <a:off x="1524000" y="2895600"/>
                <a:ext cx="3771900" cy="285900"/>
              </a:xfrm>
              <a:prstGeom prst="roundRect">
                <a:avLst>
                  <a:gd fmla="val 20000" name="adj"/>
                </a:avLst>
              </a:prstGeom>
              <a:solidFill>
                <a:srgbClr val="1E293B"/>
              </a:solidFill>
              <a:ln cap="flat" cmpd="sng" w="11425">
                <a:solidFill>
                  <a:srgbClr val="3B82F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01" name="Google Shape;501;p23"/>
              <p:cNvSpPr txBox="1"/>
              <p:nvPr/>
            </p:nvSpPr>
            <p:spPr>
              <a:xfrm>
                <a:off x="1638300" y="2962275"/>
                <a:ext cx="3543300" cy="171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581">
                    <a:solidFill>
                      <a:srgbClr val="F8FAFC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📤 CSV Export Engine Ready</a:t>
                </a:r>
                <a:r>
                  <a:rPr lang="en" sz="1085"/>
                  <a:t> </a:t>
                </a:r>
                <a:r>
                  <a:rPr b="0" lang="en" sz="581">
                    <a:solidFill>
                      <a:srgbClr val="3B82F6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[EXPORT FILE]</a:t>
                </a:r>
                <a:endParaRPr sz="1085"/>
              </a:p>
            </p:txBody>
          </p:sp>
        </p:grp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B1121"/>
        </a:solidFill>
      </p:bgPr>
    </p:bg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6" name="Google Shape;50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34600" cy="5048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07" name="Google Shape;507;p24"/>
          <p:cNvGrpSpPr/>
          <p:nvPr/>
        </p:nvGrpSpPr>
        <p:grpSpPr>
          <a:xfrm>
            <a:off x="6953250" y="457200"/>
            <a:ext cx="2247900" cy="285900"/>
            <a:chOff x="0" y="0"/>
            <a:chExt cx="2247900" cy="285900"/>
          </a:xfrm>
        </p:grpSpPr>
        <p:sp>
          <p:nvSpPr>
            <p:cNvPr id="508" name="Google Shape;508;p24"/>
            <p:cNvSpPr/>
            <p:nvPr/>
          </p:nvSpPr>
          <p:spPr>
            <a:xfrm>
              <a:off x="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09" name="Google Shape;509;p24"/>
            <p:cNvSpPr/>
            <p:nvPr/>
          </p:nvSpPr>
          <p:spPr>
            <a:xfrm>
              <a:off x="66675" y="66675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0"/>
                  </a:lnTo>
                  <a:lnTo>
                    <a:pt x="60000" y="60000"/>
                  </a:lnTo>
                  <a:lnTo>
                    <a:pt x="120000" y="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0" name="Google Shape;510;p24"/>
            <p:cNvSpPr txBox="1"/>
            <p:nvPr/>
          </p:nvSpPr>
          <p:spPr>
            <a:xfrm>
              <a:off x="342900" y="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4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MathSmith </a:t>
              </a:r>
              <a:r>
                <a:rPr b="0" lang="en" sz="1400">
                  <a:solidFill>
                    <a:srgbClr val="334155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|</a:t>
              </a:r>
              <a:r>
                <a:rPr b="0" lang="en" sz="14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 数锻</a:t>
              </a:r>
              <a:endParaRPr b="0" sz="14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511" name="Google Shape;511;p24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24"/>
          <p:cNvSpPr/>
          <p:nvPr/>
        </p:nvSpPr>
        <p:spPr>
          <a:xfrm>
            <a:off x="4572000" y="1333500"/>
            <a:ext cx="9600" cy="3333900"/>
          </a:xfrm>
          <a:prstGeom prst="rect">
            <a:avLst/>
          </a:prstGeom>
          <a:solidFill>
            <a:srgbClr val="334155">
              <a:alpha val="5000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24"/>
          <p:cNvSpPr txBox="1"/>
          <p:nvPr/>
        </p:nvSpPr>
        <p:spPr>
          <a:xfrm>
            <a:off x="457200" y="342900"/>
            <a:ext cx="61914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405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Guided Smart Tutor</a:t>
            </a:r>
            <a:endParaRPr b="0" sz="2405">
              <a:solidFill>
                <a:srgbClr val="F8FAFC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1110">
                <a:solidFill>
                  <a:srgbClr val="06B6D4"/>
                </a:solidFill>
                <a:latin typeface="Outfit Medium"/>
                <a:ea typeface="Outfit Medium"/>
                <a:cs typeface="Outfit Medium"/>
                <a:sym typeface="Outfit Medium"/>
              </a:rPr>
              <a:t>Connect Existing Systems Instead of Replacing Them</a:t>
            </a:r>
            <a:endParaRPr b="0" sz="1110">
              <a:solidFill>
                <a:srgbClr val="06B6D4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514" name="Google Shape;514;p24"/>
          <p:cNvGrpSpPr/>
          <p:nvPr/>
        </p:nvGrpSpPr>
        <p:grpSpPr>
          <a:xfrm>
            <a:off x="647700" y="1333500"/>
            <a:ext cx="3429000" cy="619200"/>
            <a:chOff x="647700" y="1333500"/>
            <a:chExt cx="3429000" cy="619200"/>
          </a:xfrm>
        </p:grpSpPr>
        <p:sp>
          <p:nvSpPr>
            <p:cNvPr id="515" name="Google Shape;515;p24"/>
            <p:cNvSpPr/>
            <p:nvPr/>
          </p:nvSpPr>
          <p:spPr>
            <a:xfrm>
              <a:off x="647700" y="1333500"/>
              <a:ext cx="3429000" cy="619200"/>
            </a:xfrm>
            <a:prstGeom prst="roundRect">
              <a:avLst>
                <a:gd fmla="val 12307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6" name="Google Shape;516;p24"/>
            <p:cNvSpPr/>
            <p:nvPr/>
          </p:nvSpPr>
          <p:spPr>
            <a:xfrm>
              <a:off x="647700" y="1333500"/>
              <a:ext cx="57300" cy="619200"/>
            </a:xfrm>
            <a:prstGeom prst="roundRect">
              <a:avLst>
                <a:gd fmla="val 50000" name="adj"/>
              </a:avLst>
            </a:prstGeom>
            <a:solidFill>
              <a:srgbClr val="94A3B8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7" name="Google Shape;517;p24"/>
            <p:cNvSpPr txBox="1"/>
            <p:nvPr/>
          </p:nvSpPr>
          <p:spPr>
            <a:xfrm>
              <a:off x="857250" y="1409700"/>
              <a:ext cx="31053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EXISTING DATA INPUT</a:t>
              </a:r>
              <a:endParaRPr b="0" sz="800">
                <a:solidFill>
                  <a:srgbClr val="94A3B8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History, Mastery, Mistakes</a:t>
              </a:r>
              <a:endParaRPr b="0" sz="1100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sp>
        <p:nvSpPr>
          <p:cNvPr id="518" name="Google Shape;518;p24"/>
          <p:cNvSpPr/>
          <p:nvPr/>
        </p:nvSpPr>
        <p:spPr>
          <a:xfrm>
            <a:off x="2324100" y="1952625"/>
            <a:ext cx="76200" cy="190500"/>
          </a:xfrm>
          <a:custGeom>
            <a:rect b="b" l="l" r="r" t="t"/>
            <a:pathLst>
              <a:path extrusionOk="0" h="120000" w="120000">
                <a:moveTo>
                  <a:pt x="60000" y="0"/>
                </a:moveTo>
                <a:lnTo>
                  <a:pt x="60000" y="120000"/>
                </a:lnTo>
                <a:moveTo>
                  <a:pt x="0" y="90000"/>
                </a:moveTo>
                <a:lnTo>
                  <a:pt x="60000" y="120000"/>
                </a:lnTo>
                <a:lnTo>
                  <a:pt x="120000" y="90000"/>
                </a:lnTo>
              </a:path>
            </a:pathLst>
          </a:custGeom>
          <a:solidFill>
            <a:srgbClr val="000000">
              <a:alpha val="0"/>
            </a:srgbClr>
          </a:solidFill>
          <a:ln cap="rnd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19" name="Google Shape;519;p24"/>
          <p:cNvGrpSpPr/>
          <p:nvPr/>
        </p:nvGrpSpPr>
        <p:grpSpPr>
          <a:xfrm>
            <a:off x="647700" y="2143125"/>
            <a:ext cx="3429000" cy="619200"/>
            <a:chOff x="647700" y="2143125"/>
            <a:chExt cx="3429000" cy="619200"/>
          </a:xfrm>
        </p:grpSpPr>
        <p:sp>
          <p:nvSpPr>
            <p:cNvPr id="520" name="Google Shape;520;p24"/>
            <p:cNvSpPr/>
            <p:nvPr/>
          </p:nvSpPr>
          <p:spPr>
            <a:xfrm>
              <a:off x="647700" y="2143125"/>
              <a:ext cx="3429000" cy="619200"/>
            </a:xfrm>
            <a:prstGeom prst="roundRect">
              <a:avLst>
                <a:gd fmla="val 12307" name="adj"/>
              </a:avLst>
            </a:prstGeom>
            <a:solidFill>
              <a:srgbClr val="1E293B"/>
            </a:solidFill>
            <a:ln cap="flat" cmpd="sng" w="14300">
              <a:solidFill>
                <a:srgbClr val="3B82F6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1" name="Google Shape;521;p24"/>
            <p:cNvSpPr/>
            <p:nvPr/>
          </p:nvSpPr>
          <p:spPr>
            <a:xfrm>
              <a:off x="647700" y="2143125"/>
              <a:ext cx="57300" cy="6192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2" name="Google Shape;522;p24"/>
            <p:cNvSpPr txBox="1"/>
            <p:nvPr/>
          </p:nvSpPr>
          <p:spPr>
            <a:xfrm>
              <a:off x="857250" y="2219325"/>
              <a:ext cx="31053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PROCESSING LAYER</a:t>
              </a:r>
              <a:endParaRPr b="0" sz="8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3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MathSmith Tutor Engine</a:t>
              </a:r>
              <a:endParaRPr b="0" sz="130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</p:txBody>
        </p:sp>
      </p:grpSp>
      <p:sp>
        <p:nvSpPr>
          <p:cNvPr id="523" name="Google Shape;523;p24"/>
          <p:cNvSpPr/>
          <p:nvPr/>
        </p:nvSpPr>
        <p:spPr>
          <a:xfrm>
            <a:off x="2324100" y="2762250"/>
            <a:ext cx="76200" cy="190500"/>
          </a:xfrm>
          <a:custGeom>
            <a:rect b="b" l="l" r="r" t="t"/>
            <a:pathLst>
              <a:path extrusionOk="0" h="120000" w="120000">
                <a:moveTo>
                  <a:pt x="60000" y="0"/>
                </a:moveTo>
                <a:lnTo>
                  <a:pt x="60000" y="120000"/>
                </a:lnTo>
                <a:moveTo>
                  <a:pt x="0" y="90000"/>
                </a:moveTo>
                <a:lnTo>
                  <a:pt x="60000" y="120000"/>
                </a:lnTo>
                <a:lnTo>
                  <a:pt x="120000" y="90000"/>
                </a:lnTo>
              </a:path>
            </a:pathLst>
          </a:custGeom>
          <a:solidFill>
            <a:srgbClr val="000000">
              <a:alpha val="0"/>
            </a:srgbClr>
          </a:solidFill>
          <a:ln cap="rnd" cmpd="sng" w="19050">
            <a:solidFill>
              <a:srgbClr val="06B6D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524" name="Google Shape;524;p24"/>
          <p:cNvGrpSpPr/>
          <p:nvPr/>
        </p:nvGrpSpPr>
        <p:grpSpPr>
          <a:xfrm>
            <a:off x="647700" y="2952750"/>
            <a:ext cx="3429000" cy="619200"/>
            <a:chOff x="647700" y="2952750"/>
            <a:chExt cx="3429000" cy="619200"/>
          </a:xfrm>
        </p:grpSpPr>
        <p:sp>
          <p:nvSpPr>
            <p:cNvPr id="525" name="Google Shape;525;p24"/>
            <p:cNvSpPr/>
            <p:nvPr/>
          </p:nvSpPr>
          <p:spPr>
            <a:xfrm>
              <a:off x="647700" y="2952750"/>
              <a:ext cx="3429000" cy="619200"/>
            </a:xfrm>
            <a:prstGeom prst="roundRect">
              <a:avLst>
                <a:gd fmla="val 12307" name="adj"/>
              </a:avLst>
            </a:prstGeom>
            <a:solidFill>
              <a:srgbClr val="1E293B"/>
            </a:solidFill>
            <a:ln cap="flat" cmpd="sng" w="14300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6" name="Google Shape;526;p24"/>
            <p:cNvSpPr/>
            <p:nvPr/>
          </p:nvSpPr>
          <p:spPr>
            <a:xfrm>
              <a:off x="647700" y="2952750"/>
              <a:ext cx="57300" cy="619200"/>
            </a:xfrm>
            <a:prstGeom prst="roundRect">
              <a:avLst>
                <a:gd fmla="val 50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27" name="Google Shape;527;p24"/>
            <p:cNvSpPr txBox="1"/>
            <p:nvPr/>
          </p:nvSpPr>
          <p:spPr>
            <a:xfrm>
              <a:off x="857250" y="3028950"/>
              <a:ext cx="31053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DYNAMIC OUTPUT</a:t>
              </a:r>
              <a:endParaRPr b="0" sz="80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Explain / Recommend / Navigate</a:t>
              </a:r>
              <a:endParaRPr b="0" sz="1100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528" name="Google Shape;528;p24"/>
          <p:cNvGrpSpPr/>
          <p:nvPr/>
        </p:nvGrpSpPr>
        <p:grpSpPr>
          <a:xfrm>
            <a:off x="642938" y="3757613"/>
            <a:ext cx="3438600" cy="819300"/>
            <a:chOff x="642938" y="3757613"/>
            <a:chExt cx="3438600" cy="819300"/>
          </a:xfrm>
        </p:grpSpPr>
        <p:pic>
          <p:nvPicPr>
            <p:cNvPr id="529" name="Google Shape;529;p2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42938" y="3757613"/>
              <a:ext cx="3438600" cy="8193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30" name="Google Shape;530;p24"/>
            <p:cNvSpPr/>
            <p:nvPr/>
          </p:nvSpPr>
          <p:spPr>
            <a:xfrm>
              <a:off x="781050" y="3924300"/>
              <a:ext cx="0" cy="485700"/>
            </a:xfrm>
            <a:custGeom>
              <a:rect b="b" l="l" r="r" t="t"/>
              <a:pathLst>
                <a:path extrusionOk="0" fill="none" h="120000" w="120000">
                  <a:moveTo>
                    <a:pt x="0" y="0"/>
                  </a:moveTo>
                  <a:lnTo>
                    <a:pt x="0" y="120000"/>
                  </a:lnTo>
                </a:path>
              </a:pathLst>
            </a:custGeom>
            <a:solidFill>
              <a:srgbClr val="FFFFFF"/>
            </a:solidFill>
            <a:ln cap="rnd" cmpd="sng" w="28575">
              <a:solidFill>
                <a:srgbClr val="06B6D4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1" name="Google Shape;531;p24"/>
            <p:cNvSpPr txBox="1"/>
            <p:nvPr/>
          </p:nvSpPr>
          <p:spPr>
            <a:xfrm>
              <a:off x="914400" y="3905250"/>
              <a:ext cx="30099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Augments, rather than replaces, core mathematical validation and adaptive weighting.</a:t>
              </a:r>
              <a:endParaRPr b="0" i="1" sz="10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32" name="Google Shape;532;p24"/>
          <p:cNvGrpSpPr/>
          <p:nvPr/>
        </p:nvGrpSpPr>
        <p:grpSpPr>
          <a:xfrm>
            <a:off x="4876800" y="1333500"/>
            <a:ext cx="3810000" cy="3238500"/>
            <a:chOff x="4876800" y="1333500"/>
            <a:chExt cx="3810000" cy="3238500"/>
          </a:xfrm>
        </p:grpSpPr>
        <p:sp>
          <p:nvSpPr>
            <p:cNvPr id="533" name="Google Shape;533;p24"/>
            <p:cNvSpPr/>
            <p:nvPr/>
          </p:nvSpPr>
          <p:spPr>
            <a:xfrm>
              <a:off x="4876800" y="1333500"/>
              <a:ext cx="3810000" cy="3238500"/>
            </a:xfrm>
            <a:prstGeom prst="roundRect">
              <a:avLst>
                <a:gd fmla="val 4705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4" name="Google Shape;534;p24"/>
            <p:cNvSpPr txBox="1"/>
            <p:nvPr/>
          </p:nvSpPr>
          <p:spPr>
            <a:xfrm>
              <a:off x="5105400" y="1571625"/>
              <a:ext cx="33528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SYSTEM CAPABILITIES</a:t>
              </a:r>
              <a:endParaRPr b="0" sz="90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6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Interactive Tutor Modules</a:t>
              </a:r>
              <a:endParaRPr b="0" sz="160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</p:txBody>
        </p:sp>
        <p:sp>
          <p:nvSpPr>
            <p:cNvPr id="535" name="Google Shape;535;p24"/>
            <p:cNvSpPr/>
            <p:nvPr/>
          </p:nvSpPr>
          <p:spPr>
            <a:xfrm>
              <a:off x="5153025" y="2286000"/>
              <a:ext cx="95400" cy="95400"/>
            </a:xfrm>
            <a:prstGeom prst="ellipse">
              <a:avLst/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36" name="Google Shape;536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5110163" y="2243138"/>
              <a:ext cx="180900" cy="180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37" name="Google Shape;537;p24"/>
            <p:cNvSpPr txBox="1"/>
            <p:nvPr/>
          </p:nvSpPr>
          <p:spPr>
            <a:xfrm>
              <a:off x="5391150" y="2219325"/>
              <a:ext cx="3048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18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1. Contextual Explanations</a:t>
              </a:r>
              <a:endParaRPr b="0" sz="1018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25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Delivers dynamically constructed breakdowns customized to student history.</a:t>
              </a:r>
              <a:endParaRPr b="0" sz="925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38" name="Google Shape;538;p24"/>
            <p:cNvSpPr/>
            <p:nvPr/>
          </p:nvSpPr>
          <p:spPr>
            <a:xfrm>
              <a:off x="5153025" y="2905125"/>
              <a:ext cx="95400" cy="9540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39" name="Google Shape;5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5110163" y="2862263"/>
              <a:ext cx="180900" cy="180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40" name="Google Shape;540;p24"/>
            <p:cNvSpPr txBox="1"/>
            <p:nvPr/>
          </p:nvSpPr>
          <p:spPr>
            <a:xfrm>
              <a:off x="5391150" y="2838450"/>
              <a:ext cx="3048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18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2. Smart Recommendations</a:t>
              </a:r>
              <a:endParaRPr b="0" sz="1018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25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Suggests optimal steps based on active student performance metrics.</a:t>
              </a:r>
              <a:endParaRPr b="0" sz="925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sp>
          <p:nvSpPr>
            <p:cNvPr id="541" name="Google Shape;541;p24"/>
            <p:cNvSpPr/>
            <p:nvPr/>
          </p:nvSpPr>
          <p:spPr>
            <a:xfrm>
              <a:off x="5153025" y="3524250"/>
              <a:ext cx="95400" cy="95400"/>
            </a:xfrm>
            <a:prstGeom prst="ellipse">
              <a:avLst/>
            </a:prstGeom>
            <a:solidFill>
              <a:srgbClr val="F8FAF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542" name="Google Shape;542;p24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5110163" y="3481388"/>
              <a:ext cx="180900" cy="180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43" name="Google Shape;543;p24"/>
            <p:cNvSpPr txBox="1"/>
            <p:nvPr/>
          </p:nvSpPr>
          <p:spPr>
            <a:xfrm>
              <a:off x="5391150" y="3457575"/>
              <a:ext cx="30480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18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3. Guided Navigation</a:t>
              </a:r>
              <a:endParaRPr b="0" sz="1018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25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Steers student pathways without completely replacing validation logic.</a:t>
              </a:r>
              <a:endParaRPr b="0" sz="925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  <p:pic>
          <p:nvPicPr>
            <p:cNvPr id="544" name="Google Shape;544;p24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5100638" y="4043363"/>
              <a:ext cx="3362400" cy="342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45" name="Google Shape;545;p24"/>
            <p:cNvSpPr txBox="1"/>
            <p:nvPr/>
          </p:nvSpPr>
          <p:spPr>
            <a:xfrm>
              <a:off x="5200650" y="4095750"/>
              <a:ext cx="3162300" cy="238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475569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[ Active Tutor Live Session Output Window ]</a:t>
              </a:r>
              <a:endParaRPr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2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551" name="Google Shape;55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34600" cy="5048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52" name="Google Shape;552;p25"/>
          <p:cNvGrpSpPr/>
          <p:nvPr/>
        </p:nvGrpSpPr>
        <p:grpSpPr>
          <a:xfrm>
            <a:off x="457200" y="390525"/>
            <a:ext cx="2247900" cy="285900"/>
            <a:chOff x="0" y="-28575"/>
            <a:chExt cx="2247900" cy="285900"/>
          </a:xfrm>
        </p:grpSpPr>
        <p:sp>
          <p:nvSpPr>
            <p:cNvPr id="553" name="Google Shape;553;p25"/>
            <p:cNvSpPr/>
            <p:nvPr/>
          </p:nvSpPr>
          <p:spPr>
            <a:xfrm>
              <a:off x="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4" name="Google Shape;554;p25"/>
            <p:cNvSpPr/>
            <p:nvPr/>
          </p:nvSpPr>
          <p:spPr>
            <a:xfrm>
              <a:off x="66675" y="66675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0"/>
                  </a:lnTo>
                  <a:lnTo>
                    <a:pt x="60000" y="60000"/>
                  </a:lnTo>
                  <a:lnTo>
                    <a:pt x="120000" y="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5" name="Google Shape;555;p25"/>
            <p:cNvSpPr txBox="1"/>
            <p:nvPr/>
          </p:nvSpPr>
          <p:spPr>
            <a:xfrm>
              <a:off x="342900" y="-28575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4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MathSmith </a:t>
              </a:r>
              <a:r>
                <a:rPr b="0" lang="en" sz="1400">
                  <a:solidFill>
                    <a:srgbClr val="334155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|</a:t>
              </a:r>
              <a:r>
                <a:rPr b="0" lang="en" sz="14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 数锻</a:t>
              </a:r>
              <a:endParaRPr b="0" sz="14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556" name="Google Shape;556;p25"/>
          <p:cNvSpPr txBox="1"/>
          <p:nvPr/>
        </p:nvSpPr>
        <p:spPr>
          <a:xfrm>
            <a:off x="3048000" y="304800"/>
            <a:ext cx="56388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6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Systems Designed to Grow Without Duplicating Logic</a:t>
            </a:r>
            <a:endParaRPr b="0" sz="1600">
              <a:solidFill>
                <a:srgbClr val="F8FAFC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  <a:p>
            <a:pPr indent="0" lvl="0" marL="0" rtl="0" algn="r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80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rPr>
              <a:t>Engine Architecture &amp; Key Principles</a:t>
            </a:r>
            <a:endParaRPr b="0" sz="800">
              <a:solidFill>
                <a:srgbClr val="06B6D4"/>
              </a:solidFill>
              <a:latin typeface="Fira Code Medium"/>
              <a:ea typeface="Fira Code Medium"/>
              <a:cs typeface="Fira Code Medium"/>
              <a:sym typeface="Fira Code Medium"/>
            </a:endParaRPr>
          </a:p>
        </p:txBody>
      </p:sp>
      <p:grpSp>
        <p:nvGrpSpPr>
          <p:cNvPr id="557" name="Google Shape;557;p25"/>
          <p:cNvGrpSpPr/>
          <p:nvPr/>
        </p:nvGrpSpPr>
        <p:grpSpPr>
          <a:xfrm>
            <a:off x="457200" y="1143000"/>
            <a:ext cx="4572000" cy="3095775"/>
            <a:chOff x="0" y="0"/>
            <a:chExt cx="4572000" cy="3095775"/>
          </a:xfrm>
        </p:grpSpPr>
        <p:pic>
          <p:nvPicPr>
            <p:cNvPr id="558" name="Google Shape;558;p2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2733675" y="666750"/>
              <a:ext cx="19200" cy="2382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59" name="Google Shape;559;p2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2733675" y="1476375"/>
              <a:ext cx="19200" cy="2382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0" name="Google Shape;560;p2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2733675" y="2286000"/>
              <a:ext cx="19200" cy="2382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561" name="Google Shape;561;p25"/>
            <p:cNvGrpSpPr/>
            <p:nvPr/>
          </p:nvGrpSpPr>
          <p:grpSpPr>
            <a:xfrm>
              <a:off x="0" y="0"/>
              <a:ext cx="4572000" cy="666900"/>
              <a:chOff x="0" y="0"/>
              <a:chExt cx="4572000" cy="666900"/>
            </a:xfrm>
          </p:grpSpPr>
          <p:sp>
            <p:nvSpPr>
              <p:cNvPr id="562" name="Google Shape;562;p25"/>
              <p:cNvSpPr/>
              <p:nvPr/>
            </p:nvSpPr>
            <p:spPr>
              <a:xfrm>
                <a:off x="0" y="0"/>
                <a:ext cx="4572000" cy="666900"/>
              </a:xfrm>
              <a:prstGeom prst="roundRect">
                <a:avLst>
                  <a:gd fmla="val 17142" name="adj"/>
                </a:avLst>
              </a:prstGeom>
              <a:solidFill>
                <a:srgbClr val="1E293B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3" name="Google Shape;563;p25"/>
              <p:cNvSpPr/>
              <p:nvPr/>
            </p:nvSpPr>
            <p:spPr>
              <a:xfrm>
                <a:off x="0" y="0"/>
                <a:ext cx="57300" cy="666900"/>
              </a:xfrm>
              <a:prstGeom prst="roundRect">
                <a:avLst>
                  <a:gd fmla="val 50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564" name="Google Shape;564;p25"/>
              <p:cNvGrpSpPr/>
              <p:nvPr/>
            </p:nvGrpSpPr>
            <p:grpSpPr>
              <a:xfrm>
                <a:off x="152400" y="95250"/>
                <a:ext cx="2057400" cy="476400"/>
                <a:chOff x="0" y="0"/>
                <a:chExt cx="2057400" cy="476400"/>
              </a:xfrm>
            </p:grpSpPr>
            <p:sp>
              <p:nvSpPr>
                <p:cNvPr id="565" name="Google Shape;565;p25"/>
                <p:cNvSpPr/>
                <p:nvPr/>
              </p:nvSpPr>
              <p:spPr>
                <a:xfrm>
                  <a:off x="0" y="0"/>
                  <a:ext cx="2057400" cy="476400"/>
                </a:xfrm>
                <a:prstGeom prst="roundRect">
                  <a:avLst>
                    <a:gd fmla="val 16000" name="adj"/>
                  </a:avLst>
                </a:prstGeom>
                <a:solidFill>
                  <a:srgbClr val="0B1121"/>
                </a:solidFill>
                <a:ln cap="flat" cmpd="sng" w="9525">
                  <a:solidFill>
                    <a:srgbClr val="06B6D4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66" name="Google Shape;566;p25"/>
                <p:cNvSpPr txBox="1"/>
                <p:nvPr/>
              </p:nvSpPr>
              <p:spPr>
                <a:xfrm>
                  <a:off x="114300" y="57150"/>
                  <a:ext cx="1828800" cy="362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00">
                      <a:solidFill>
                        <a:srgbClr val="06B6D4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rPr>
                    <a:t>CONTENT SYSTEM</a:t>
                  </a:r>
                  <a:endParaRPr b="0" sz="800">
                    <a:solidFill>
                      <a:srgbClr val="06B6D4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endParaRPr>
                </a:p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950">
                      <a:solidFill>
                        <a:srgbClr val="F8FAFC"/>
                      </a:solidFill>
                      <a:latin typeface="Inter Medium"/>
                      <a:ea typeface="Inter Medium"/>
                      <a:cs typeface="Inter Medium"/>
                      <a:sym typeface="Inter Medium"/>
                    </a:rPr>
                    <a:t>Core • Imported • Studio</a:t>
                  </a:r>
                  <a:endParaRPr b="0" sz="950">
                    <a:solidFill>
                      <a:srgbClr val="F8FAFC"/>
                    </a:solidFill>
                    <a:latin typeface="Inter Medium"/>
                    <a:ea typeface="Inter Medium"/>
                    <a:cs typeface="Inter Medium"/>
                    <a:sym typeface="Inter Medium"/>
                  </a:endParaRPr>
                </a:p>
              </p:txBody>
            </p:sp>
          </p:grpSp>
          <p:grpSp>
            <p:nvGrpSpPr>
              <p:cNvPr id="567" name="Google Shape;567;p25"/>
              <p:cNvGrpSpPr/>
              <p:nvPr/>
            </p:nvGrpSpPr>
            <p:grpSpPr>
              <a:xfrm>
                <a:off x="2362200" y="95250"/>
                <a:ext cx="2057400" cy="476400"/>
                <a:chOff x="0" y="0"/>
                <a:chExt cx="2057400" cy="476400"/>
              </a:xfrm>
            </p:grpSpPr>
            <p:sp>
              <p:nvSpPr>
                <p:cNvPr id="568" name="Google Shape;568;p25"/>
                <p:cNvSpPr/>
                <p:nvPr/>
              </p:nvSpPr>
              <p:spPr>
                <a:xfrm>
                  <a:off x="0" y="0"/>
                  <a:ext cx="2057400" cy="476400"/>
                </a:xfrm>
                <a:prstGeom prst="roundRect">
                  <a:avLst>
                    <a:gd fmla="val 16000" name="adj"/>
                  </a:avLst>
                </a:prstGeom>
                <a:solidFill>
                  <a:srgbClr val="0B1121"/>
                </a:solidFill>
                <a:ln cap="flat" cmpd="sng" w="9525">
                  <a:solidFill>
                    <a:srgbClr val="3B82F6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69" name="Google Shape;569;p25"/>
                <p:cNvSpPr txBox="1"/>
                <p:nvPr/>
              </p:nvSpPr>
              <p:spPr>
                <a:xfrm>
                  <a:off x="114300" y="57150"/>
                  <a:ext cx="1828800" cy="362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00">
                      <a:solidFill>
                        <a:srgbClr val="3B82F6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rPr>
                    <a:t>LEARNING CORE</a:t>
                  </a:r>
                  <a:endParaRPr b="0" sz="800">
                    <a:solidFill>
                      <a:srgbClr val="3B82F6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endParaRPr>
                </a:p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950">
                      <a:solidFill>
                        <a:srgbClr val="F8FAFC"/>
                      </a:solidFill>
                      <a:latin typeface="Inter Medium"/>
                      <a:ea typeface="Inter Medium"/>
                      <a:cs typeface="Inter Medium"/>
                      <a:sym typeface="Inter Medium"/>
                    </a:rPr>
                    <a:t>Telemetry • Mastery Tracks</a:t>
                  </a:r>
                  <a:endParaRPr b="0" sz="950">
                    <a:solidFill>
                      <a:srgbClr val="F8FAFC"/>
                    </a:solidFill>
                    <a:latin typeface="Inter Medium"/>
                    <a:ea typeface="Inter Medium"/>
                    <a:cs typeface="Inter Medium"/>
                    <a:sym typeface="Inter Medium"/>
                  </a:endParaRPr>
                </a:p>
              </p:txBody>
            </p:sp>
          </p:grpSp>
        </p:grpSp>
        <p:grpSp>
          <p:nvGrpSpPr>
            <p:cNvPr id="570" name="Google Shape;570;p25"/>
            <p:cNvGrpSpPr/>
            <p:nvPr/>
          </p:nvGrpSpPr>
          <p:grpSpPr>
            <a:xfrm>
              <a:off x="0" y="809625"/>
              <a:ext cx="4572000" cy="666900"/>
              <a:chOff x="0" y="0"/>
              <a:chExt cx="4572000" cy="666900"/>
            </a:xfrm>
          </p:grpSpPr>
          <p:sp>
            <p:nvSpPr>
              <p:cNvPr id="571" name="Google Shape;571;p25"/>
              <p:cNvSpPr/>
              <p:nvPr/>
            </p:nvSpPr>
            <p:spPr>
              <a:xfrm>
                <a:off x="0" y="0"/>
                <a:ext cx="4572000" cy="666900"/>
              </a:xfrm>
              <a:prstGeom prst="roundRect">
                <a:avLst>
                  <a:gd fmla="val 17142" name="adj"/>
                </a:avLst>
              </a:prstGeom>
              <a:solidFill>
                <a:srgbClr val="1E293B"/>
              </a:solidFill>
              <a:ln cap="flat" cmpd="sng" w="14300">
                <a:solidFill>
                  <a:srgbClr val="3B82F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2" name="Google Shape;572;p25"/>
              <p:cNvSpPr/>
              <p:nvPr/>
            </p:nvSpPr>
            <p:spPr>
              <a:xfrm>
                <a:off x="0" y="0"/>
                <a:ext cx="57300" cy="666900"/>
              </a:xfrm>
              <a:prstGeom prst="roundRect">
                <a:avLst>
                  <a:gd fmla="val 50000" name="adj"/>
                </a:avLst>
              </a:prstGeom>
              <a:solidFill>
                <a:srgbClr val="3B82F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573" name="Google Shape;573;p25"/>
              <p:cNvGrpSpPr/>
              <p:nvPr/>
            </p:nvGrpSpPr>
            <p:grpSpPr>
              <a:xfrm>
                <a:off x="152400" y="95250"/>
                <a:ext cx="4267200" cy="476400"/>
                <a:chOff x="0" y="0"/>
                <a:chExt cx="4267200" cy="476400"/>
              </a:xfrm>
            </p:grpSpPr>
            <p:sp>
              <p:nvSpPr>
                <p:cNvPr id="574" name="Google Shape;574;p25"/>
                <p:cNvSpPr/>
                <p:nvPr/>
              </p:nvSpPr>
              <p:spPr>
                <a:xfrm>
                  <a:off x="0" y="0"/>
                  <a:ext cx="4267200" cy="476400"/>
                </a:xfrm>
                <a:prstGeom prst="roundRect">
                  <a:avLst>
                    <a:gd fmla="val 16000" name="adj"/>
                  </a:avLst>
                </a:prstGeom>
                <a:solidFill>
                  <a:srgbClr val="0B1121"/>
                </a:solidFill>
                <a:ln cap="flat" cmpd="sng" w="9525">
                  <a:solidFill>
                    <a:srgbClr val="3B82F6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75" name="Google Shape;575;p25"/>
                <p:cNvSpPr txBox="1"/>
                <p:nvPr/>
              </p:nvSpPr>
              <p:spPr>
                <a:xfrm>
                  <a:off x="152400" y="57150"/>
                  <a:ext cx="3962400" cy="362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00">
                      <a:solidFill>
                        <a:srgbClr val="3B82F6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rPr>
                    <a:t>MATHEMATICAL COMPILING ENGINE</a:t>
                  </a:r>
                  <a:endParaRPr b="0" sz="800">
                    <a:solidFill>
                      <a:srgbClr val="3B82F6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endParaRPr>
                </a:p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950">
                      <a:solidFill>
                        <a:srgbClr val="F8FAFC"/>
                      </a:solidFill>
                      <a:latin typeface="Inter Medium"/>
                      <a:ea typeface="Inter Medium"/>
                      <a:cs typeface="Inter Medium"/>
                      <a:sym typeface="Inter Medium"/>
                    </a:rPr>
                    <a:t>ExpressionParser • StepGenerator (UI Decoupled)</a:t>
                  </a:r>
                  <a:endParaRPr b="0" sz="950">
                    <a:solidFill>
                      <a:srgbClr val="F8FAFC"/>
                    </a:solidFill>
                    <a:latin typeface="Inter Medium"/>
                    <a:ea typeface="Inter Medium"/>
                    <a:cs typeface="Inter Medium"/>
                    <a:sym typeface="Inter Medium"/>
                  </a:endParaRPr>
                </a:p>
              </p:txBody>
            </p:sp>
          </p:grpSp>
        </p:grpSp>
        <p:grpSp>
          <p:nvGrpSpPr>
            <p:cNvPr id="576" name="Google Shape;576;p25"/>
            <p:cNvGrpSpPr/>
            <p:nvPr/>
          </p:nvGrpSpPr>
          <p:grpSpPr>
            <a:xfrm>
              <a:off x="0" y="1619250"/>
              <a:ext cx="4572000" cy="666900"/>
              <a:chOff x="0" y="0"/>
              <a:chExt cx="4572000" cy="666900"/>
            </a:xfrm>
          </p:grpSpPr>
          <p:sp>
            <p:nvSpPr>
              <p:cNvPr id="577" name="Google Shape;577;p25"/>
              <p:cNvSpPr/>
              <p:nvPr/>
            </p:nvSpPr>
            <p:spPr>
              <a:xfrm>
                <a:off x="0" y="0"/>
                <a:ext cx="4572000" cy="666900"/>
              </a:xfrm>
              <a:prstGeom prst="roundRect">
                <a:avLst>
                  <a:gd fmla="val 17142" name="adj"/>
                </a:avLst>
              </a:prstGeom>
              <a:solidFill>
                <a:srgbClr val="1E293B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8" name="Google Shape;578;p25"/>
              <p:cNvSpPr/>
              <p:nvPr/>
            </p:nvSpPr>
            <p:spPr>
              <a:xfrm>
                <a:off x="0" y="0"/>
                <a:ext cx="57300" cy="666900"/>
              </a:xfrm>
              <a:prstGeom prst="roundRect">
                <a:avLst>
                  <a:gd fmla="val 50000" name="adj"/>
                </a:avLst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579" name="Google Shape;579;p25"/>
              <p:cNvGrpSpPr/>
              <p:nvPr/>
            </p:nvGrpSpPr>
            <p:grpSpPr>
              <a:xfrm>
                <a:off x="152400" y="95250"/>
                <a:ext cx="2057400" cy="476400"/>
                <a:chOff x="0" y="0"/>
                <a:chExt cx="2057400" cy="476400"/>
              </a:xfrm>
            </p:grpSpPr>
            <p:sp>
              <p:nvSpPr>
                <p:cNvPr id="580" name="Google Shape;580;p25"/>
                <p:cNvSpPr/>
                <p:nvPr/>
              </p:nvSpPr>
              <p:spPr>
                <a:xfrm>
                  <a:off x="0" y="0"/>
                  <a:ext cx="2057400" cy="476400"/>
                </a:xfrm>
                <a:prstGeom prst="roundRect">
                  <a:avLst>
                    <a:gd fmla="val 16000" name="adj"/>
                  </a:avLst>
                </a:prstGeom>
                <a:solidFill>
                  <a:srgbClr val="0B1121"/>
                </a:solidFill>
                <a:ln cap="flat" cmpd="sng" w="9525">
                  <a:solidFill>
                    <a:srgbClr val="06B6D4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81" name="Google Shape;581;p25"/>
                <p:cNvSpPr txBox="1"/>
                <p:nvPr/>
              </p:nvSpPr>
              <p:spPr>
                <a:xfrm>
                  <a:off x="114300" y="57150"/>
                  <a:ext cx="1828800" cy="362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00">
                      <a:solidFill>
                        <a:srgbClr val="06B6D4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rPr>
                    <a:t>GAMEPLAY SYSTEM</a:t>
                  </a:r>
                  <a:endParaRPr b="0" sz="800">
                    <a:solidFill>
                      <a:srgbClr val="06B6D4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endParaRPr>
                </a:p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950">
                      <a:solidFill>
                        <a:srgbClr val="F8FAFC"/>
                      </a:solidFill>
                      <a:latin typeface="Inter Medium"/>
                      <a:ea typeface="Inter Medium"/>
                      <a:cs typeface="Inter Medium"/>
                      <a:sym typeface="Inter Medium"/>
                    </a:rPr>
                    <a:t>3 Modes Architecture</a:t>
                  </a:r>
                  <a:endParaRPr b="0" sz="950">
                    <a:solidFill>
                      <a:srgbClr val="F8FAFC"/>
                    </a:solidFill>
                    <a:latin typeface="Inter Medium"/>
                    <a:ea typeface="Inter Medium"/>
                    <a:cs typeface="Inter Medium"/>
                    <a:sym typeface="Inter Medium"/>
                  </a:endParaRPr>
                </a:p>
              </p:txBody>
            </p:sp>
          </p:grpSp>
          <p:grpSp>
            <p:nvGrpSpPr>
              <p:cNvPr id="582" name="Google Shape;582;p25"/>
              <p:cNvGrpSpPr/>
              <p:nvPr/>
            </p:nvGrpSpPr>
            <p:grpSpPr>
              <a:xfrm>
                <a:off x="2362200" y="95250"/>
                <a:ext cx="2057400" cy="476400"/>
                <a:chOff x="0" y="0"/>
                <a:chExt cx="2057400" cy="476400"/>
              </a:xfrm>
            </p:grpSpPr>
            <p:sp>
              <p:nvSpPr>
                <p:cNvPr id="583" name="Google Shape;583;p25"/>
                <p:cNvSpPr/>
                <p:nvPr/>
              </p:nvSpPr>
              <p:spPr>
                <a:xfrm>
                  <a:off x="0" y="0"/>
                  <a:ext cx="2057400" cy="476400"/>
                </a:xfrm>
                <a:prstGeom prst="roundRect">
                  <a:avLst>
                    <a:gd fmla="val 16000" name="adj"/>
                  </a:avLst>
                </a:prstGeom>
                <a:solidFill>
                  <a:srgbClr val="0B1121"/>
                </a:solidFill>
                <a:ln cap="flat" cmpd="sng" w="9525">
                  <a:solidFill>
                    <a:srgbClr val="3B82F6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84" name="Google Shape;584;p25"/>
                <p:cNvSpPr txBox="1"/>
                <p:nvPr/>
              </p:nvSpPr>
              <p:spPr>
                <a:xfrm>
                  <a:off x="114300" y="57150"/>
                  <a:ext cx="1828800" cy="362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00">
                      <a:solidFill>
                        <a:srgbClr val="3B82F6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rPr>
                    <a:t>INTELLIGENT TUTOR</a:t>
                  </a:r>
                  <a:endParaRPr b="0" sz="800">
                    <a:solidFill>
                      <a:srgbClr val="3B82F6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endParaRPr>
                </a:p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950">
                      <a:solidFill>
                        <a:srgbClr val="F8FAFC"/>
                      </a:solidFill>
                      <a:latin typeface="Inter Medium"/>
                      <a:ea typeface="Inter Medium"/>
                      <a:cs typeface="Inter Medium"/>
                      <a:sym typeface="Inter Medium"/>
                    </a:rPr>
                    <a:t>Guidance • Help Hooks</a:t>
                  </a:r>
                  <a:endParaRPr b="0" sz="950">
                    <a:solidFill>
                      <a:srgbClr val="F8FAFC"/>
                    </a:solidFill>
                    <a:latin typeface="Inter Medium"/>
                    <a:ea typeface="Inter Medium"/>
                    <a:cs typeface="Inter Medium"/>
                    <a:sym typeface="Inter Medium"/>
                  </a:endParaRPr>
                </a:p>
              </p:txBody>
            </p:sp>
          </p:grpSp>
        </p:grpSp>
        <p:grpSp>
          <p:nvGrpSpPr>
            <p:cNvPr id="585" name="Google Shape;585;p25"/>
            <p:cNvGrpSpPr/>
            <p:nvPr/>
          </p:nvGrpSpPr>
          <p:grpSpPr>
            <a:xfrm>
              <a:off x="0" y="2428875"/>
              <a:ext cx="4572000" cy="666900"/>
              <a:chOff x="0" y="0"/>
              <a:chExt cx="4572000" cy="666900"/>
            </a:xfrm>
          </p:grpSpPr>
          <p:sp>
            <p:nvSpPr>
              <p:cNvPr id="586" name="Google Shape;586;p25"/>
              <p:cNvSpPr/>
              <p:nvPr/>
            </p:nvSpPr>
            <p:spPr>
              <a:xfrm>
                <a:off x="0" y="0"/>
                <a:ext cx="4572000" cy="666900"/>
              </a:xfrm>
              <a:prstGeom prst="roundRect">
                <a:avLst>
                  <a:gd fmla="val 17142" name="adj"/>
                </a:avLst>
              </a:prstGeom>
              <a:solidFill>
                <a:srgbClr val="1E293B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87" name="Google Shape;587;p25"/>
              <p:cNvSpPr/>
              <p:nvPr/>
            </p:nvSpPr>
            <p:spPr>
              <a:xfrm>
                <a:off x="0" y="0"/>
                <a:ext cx="57300" cy="666900"/>
              </a:xfrm>
              <a:prstGeom prst="roundRect">
                <a:avLst>
                  <a:gd fmla="val 50000" name="adj"/>
                </a:avLst>
              </a:prstGeom>
              <a:solidFill>
                <a:srgbClr val="94A3B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grpSp>
            <p:nvGrpSpPr>
              <p:cNvPr id="588" name="Google Shape;588;p25"/>
              <p:cNvGrpSpPr/>
              <p:nvPr/>
            </p:nvGrpSpPr>
            <p:grpSpPr>
              <a:xfrm>
                <a:off x="152400" y="95250"/>
                <a:ext cx="4267200" cy="476400"/>
                <a:chOff x="0" y="0"/>
                <a:chExt cx="4267200" cy="476400"/>
              </a:xfrm>
            </p:grpSpPr>
            <p:sp>
              <p:nvSpPr>
                <p:cNvPr id="589" name="Google Shape;589;p25"/>
                <p:cNvSpPr/>
                <p:nvPr/>
              </p:nvSpPr>
              <p:spPr>
                <a:xfrm>
                  <a:off x="0" y="0"/>
                  <a:ext cx="4267200" cy="476400"/>
                </a:xfrm>
                <a:prstGeom prst="roundRect">
                  <a:avLst>
                    <a:gd fmla="val 16000" name="adj"/>
                  </a:avLst>
                </a:prstGeom>
                <a:solidFill>
                  <a:srgbClr val="0B1121"/>
                </a:solidFill>
                <a:ln cap="flat" cmpd="sng" w="9525">
                  <a:solidFill>
                    <a:srgbClr val="334155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590" name="Google Shape;590;p25"/>
                <p:cNvSpPr txBox="1"/>
                <p:nvPr/>
              </p:nvSpPr>
              <p:spPr>
                <a:xfrm>
                  <a:off x="152400" y="57150"/>
                  <a:ext cx="3962400" cy="362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800">
                      <a:solidFill>
                        <a:srgbClr val="94A3B8"/>
                      </a:solidFill>
                      <a:latin typeface="Fira Code Medium"/>
                      <a:ea typeface="Fira Code Medium"/>
                      <a:cs typeface="Fira Code Medium"/>
                      <a:sym typeface="Fira Code Medium"/>
                    </a:rPr>
                    <a:t>PRESENTATION SYSTEM</a:t>
                  </a:r>
                  <a:endParaRPr b="0" sz="80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endParaRPr>
                </a:p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0" lang="en" sz="950">
                      <a:solidFill>
                        <a:srgbClr val="F8FAFC"/>
                      </a:solidFill>
                      <a:latin typeface="Inter Medium"/>
                      <a:ea typeface="Inter Medium"/>
                      <a:cs typeface="Inter Medium"/>
                      <a:sym typeface="Inter Medium"/>
                    </a:rPr>
                    <a:t>Shared UI Elements • Render Bridge</a:t>
                  </a:r>
                  <a:endParaRPr b="0" sz="950">
                    <a:solidFill>
                      <a:srgbClr val="F8FAFC"/>
                    </a:solidFill>
                    <a:latin typeface="Inter Medium"/>
                    <a:ea typeface="Inter Medium"/>
                    <a:cs typeface="Inter Medium"/>
                    <a:sym typeface="Inter Medium"/>
                  </a:endParaRPr>
                </a:p>
              </p:txBody>
            </p:sp>
          </p:grpSp>
        </p:grpSp>
      </p:grpSp>
      <p:grpSp>
        <p:nvGrpSpPr>
          <p:cNvPr id="591" name="Google Shape;591;p25"/>
          <p:cNvGrpSpPr/>
          <p:nvPr/>
        </p:nvGrpSpPr>
        <p:grpSpPr>
          <a:xfrm>
            <a:off x="5257800" y="1143000"/>
            <a:ext cx="3429000" cy="3095700"/>
            <a:chOff x="0" y="0"/>
            <a:chExt cx="3429000" cy="3095700"/>
          </a:xfrm>
        </p:grpSpPr>
        <p:sp>
          <p:nvSpPr>
            <p:cNvPr id="592" name="Google Shape;592;p25"/>
            <p:cNvSpPr/>
            <p:nvPr/>
          </p:nvSpPr>
          <p:spPr>
            <a:xfrm>
              <a:off x="0" y="0"/>
              <a:ext cx="3429000" cy="3095700"/>
            </a:xfrm>
            <a:prstGeom prst="roundRect">
              <a:avLst>
                <a:gd fmla="val 4923" name="adj"/>
              </a:avLst>
            </a:prstGeom>
            <a:solidFill>
              <a:srgbClr val="1E293B"/>
            </a:solidFill>
            <a:ln cap="flat" cmpd="sng" w="14300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3" name="Google Shape;593;p25"/>
            <p:cNvSpPr/>
            <p:nvPr/>
          </p:nvSpPr>
          <p:spPr>
            <a:xfrm>
              <a:off x="0" y="0"/>
              <a:ext cx="3429000" cy="476400"/>
            </a:xfrm>
            <a:custGeom>
              <a:rect b="b" l="l" r="r" t="t"/>
              <a:pathLst>
                <a:path extrusionOk="0" h="120000" w="120000">
                  <a:moveTo>
                    <a:pt x="0" y="38400"/>
                  </a:moveTo>
                  <a:cubicBezTo>
                    <a:pt x="0" y="17191"/>
                    <a:pt x="2388" y="0"/>
                    <a:pt x="5333" y="0"/>
                  </a:cubicBezTo>
                  <a:lnTo>
                    <a:pt x="114667" y="0"/>
                  </a:lnTo>
                  <a:cubicBezTo>
                    <a:pt x="117612" y="0"/>
                    <a:pt x="120000" y="17191"/>
                    <a:pt x="120000" y="38400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6B6D4">
                <a:alpha val="1000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4" name="Google Shape;594;p25"/>
            <p:cNvSpPr txBox="1"/>
            <p:nvPr/>
          </p:nvSpPr>
          <p:spPr>
            <a:xfrm>
              <a:off x="190500" y="133350"/>
              <a:ext cx="3048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06B6D4"/>
                  </a:solidFill>
                  <a:latin typeface="Fira Code SemiBold"/>
                  <a:ea typeface="Fira Code SemiBold"/>
                  <a:cs typeface="Fira Code SemiBold"/>
                  <a:sym typeface="Fira Code SemiBold"/>
                </a:rPr>
                <a:t>KEY ARCHITECTURAL PRINCIPLES</a:t>
              </a:r>
              <a:endParaRPr b="0" sz="950">
                <a:solidFill>
                  <a:srgbClr val="06B6D4"/>
                </a:solidFill>
                <a:latin typeface="Fira Code SemiBold"/>
                <a:ea typeface="Fira Code SemiBold"/>
                <a:cs typeface="Fira Code SemiBold"/>
                <a:sym typeface="Fira Code SemiBold"/>
              </a:endParaRPr>
            </a:p>
          </p:txBody>
        </p:sp>
        <p:sp>
          <p:nvSpPr>
            <p:cNvPr id="595" name="Google Shape;595;p25"/>
            <p:cNvSpPr txBox="1"/>
            <p:nvPr/>
          </p:nvSpPr>
          <p:spPr>
            <a:xfrm>
              <a:off x="190500" y="628650"/>
              <a:ext cx="3048000" cy="2333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01 // CONTENT_SOURCE_OF_TRUTH</a:t>
              </a:r>
              <a:endParaRPr b="0" sz="8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All course structure, metadata, and logic parsed natively from schema.</a:t>
              </a:r>
              <a:endParaRPr b="0" sz="9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02 // DECOUPLED_MATH_ENGINE</a:t>
              </a:r>
              <a:endParaRPr b="0" sz="8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Math evaluation logic exists independently of display wrappers.</a:t>
              </a:r>
              <a:endParaRPr b="0" sz="9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03 // REUSABLE_SYSTEMS_MODEL</a:t>
              </a:r>
              <a:endParaRPr b="0" sz="8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Core capabilities grow uniformly; no duplicate module engineering.</a:t>
              </a:r>
              <a:endParaRPr b="0" sz="9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04 // COURSE_SCOPED_DATA</a:t>
              </a:r>
              <a:endParaRPr b="0" sz="8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15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Clean lifecycle management isolates user progression data safely.</a:t>
              </a:r>
              <a:endParaRPr b="0" sz="9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96" name="Google Shape;596;p25"/>
          <p:cNvGrpSpPr/>
          <p:nvPr/>
        </p:nvGrpSpPr>
        <p:grpSpPr>
          <a:xfrm>
            <a:off x="457200" y="4524375"/>
            <a:ext cx="8229600" cy="400200"/>
            <a:chOff x="0" y="0"/>
            <a:chExt cx="8229600" cy="400200"/>
          </a:xfrm>
        </p:grpSpPr>
        <p:cxnSp>
          <p:nvCxnSpPr>
            <p:cNvPr id="597" name="Google Shape;597;p25"/>
            <p:cNvCxnSpPr/>
            <p:nvPr/>
          </p:nvCxnSpPr>
          <p:spPr>
            <a:xfrm>
              <a:off x="0" y="0"/>
              <a:ext cx="8229600" cy="0"/>
            </a:xfrm>
            <a:prstGeom prst="straightConnector1">
              <a:avLst/>
            </a:prstGeom>
            <a:solidFill>
              <a:srgbClr val="FFFFFF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98" name="Google Shape;598;p25"/>
            <p:cNvSpPr txBox="1"/>
            <p:nvPr/>
          </p:nvSpPr>
          <p:spPr>
            <a:xfrm>
              <a:off x="0" y="114300"/>
              <a:ext cx="4762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LEGEND:</a:t>
              </a:r>
              <a:r>
                <a:rPr lang="en"/>
                <a:t> </a:t>
              </a:r>
              <a:r>
                <a:rPr b="0" lang="en" sz="8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STATE / GAMEPLAY</a:t>
              </a:r>
              <a:r>
                <a:rPr lang="en"/>
                <a:t> </a:t>
              </a:r>
              <a:r>
                <a:rPr b="0" lang="en" sz="8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LOGIC / TELEMETRY</a:t>
              </a:r>
              <a:endParaRPr/>
            </a:p>
          </p:txBody>
        </p:sp>
        <p:sp>
          <p:nvSpPr>
            <p:cNvPr id="599" name="Google Shape;599;p25"/>
            <p:cNvSpPr txBox="1"/>
            <p:nvPr/>
          </p:nvSpPr>
          <p:spPr>
            <a:xfrm>
              <a:off x="4800600" y="114300"/>
              <a:ext cx="3429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b" bIns="0" lIns="0" spcFirstLastPara="1" rIns="0" wrap="square" tIns="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334155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MATHSMITH SYSTEM SPECIFICATION v4.2</a:t>
              </a:r>
              <a:endParaRPr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12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05" name="Google Shape;605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8934600" cy="5048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06" name="Google Shape;606;p26"/>
          <p:cNvGrpSpPr/>
          <p:nvPr/>
        </p:nvGrpSpPr>
        <p:grpSpPr>
          <a:xfrm>
            <a:off x="7048500" y="428625"/>
            <a:ext cx="1638300" cy="285900"/>
            <a:chOff x="0" y="-28575"/>
            <a:chExt cx="1638300" cy="285900"/>
          </a:xfrm>
        </p:grpSpPr>
        <p:sp>
          <p:nvSpPr>
            <p:cNvPr id="607" name="Google Shape;607;p26"/>
            <p:cNvSpPr/>
            <p:nvPr/>
          </p:nvSpPr>
          <p:spPr>
            <a:xfrm>
              <a:off x="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8" name="Google Shape;608;p26"/>
            <p:cNvSpPr/>
            <p:nvPr/>
          </p:nvSpPr>
          <p:spPr>
            <a:xfrm>
              <a:off x="66675" y="66675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0"/>
                  </a:lnTo>
                  <a:lnTo>
                    <a:pt x="60000" y="60000"/>
                  </a:lnTo>
                  <a:lnTo>
                    <a:pt x="120000" y="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9" name="Google Shape;609;p26"/>
            <p:cNvSpPr txBox="1"/>
            <p:nvPr/>
          </p:nvSpPr>
          <p:spPr>
            <a:xfrm>
              <a:off x="304800" y="-28575"/>
              <a:ext cx="13335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2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MathSmith</a:t>
              </a:r>
              <a:endParaRPr b="0" sz="12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610" name="Google Shape;610;p26"/>
          <p:cNvSpPr txBox="1"/>
          <p:nvPr/>
        </p:nvSpPr>
        <p:spPr>
          <a:xfrm>
            <a:off x="457200" y="361950"/>
            <a:ext cx="6191400" cy="647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4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Seven Vertical Milestones</a:t>
            </a:r>
            <a:endParaRPr b="0" sz="2400">
              <a:solidFill>
                <a:srgbClr val="F8FAFC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1300">
                <a:solidFill>
                  <a:srgbClr val="06B6D4"/>
                </a:solidFill>
                <a:latin typeface="Outfit Medium"/>
                <a:ea typeface="Outfit Medium"/>
                <a:cs typeface="Outfit Medium"/>
                <a:sym typeface="Outfit Medium"/>
              </a:rPr>
              <a:t>Build a Complete Experience at Every Stage:</a:t>
            </a:r>
            <a:endParaRPr b="0" sz="1300">
              <a:solidFill>
                <a:srgbClr val="06B6D4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sp>
        <p:nvSpPr>
          <p:cNvPr id="611" name="Google Shape;611;p26"/>
          <p:cNvSpPr/>
          <p:nvPr/>
        </p:nvSpPr>
        <p:spPr>
          <a:xfrm>
            <a:off x="457200" y="1047750"/>
            <a:ext cx="8229600" cy="96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612" name="Google Shape;612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1550" y="2609850"/>
            <a:ext cx="7200900" cy="19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13" name="Google Shape;613;p26"/>
          <p:cNvGrpSpPr/>
          <p:nvPr/>
        </p:nvGrpSpPr>
        <p:grpSpPr>
          <a:xfrm>
            <a:off x="457200" y="1333500"/>
            <a:ext cx="1028700" cy="2762400"/>
            <a:chOff x="0" y="1333500"/>
            <a:chExt cx="1028700" cy="2762400"/>
          </a:xfrm>
        </p:grpSpPr>
        <p:grpSp>
          <p:nvGrpSpPr>
            <p:cNvPr id="614" name="Google Shape;614;p26"/>
            <p:cNvGrpSpPr/>
            <p:nvPr/>
          </p:nvGrpSpPr>
          <p:grpSpPr>
            <a:xfrm>
              <a:off x="0" y="1333500"/>
              <a:ext cx="1028700" cy="1028700"/>
              <a:chOff x="0" y="0"/>
              <a:chExt cx="1028700" cy="1028700"/>
            </a:xfrm>
          </p:grpSpPr>
          <p:sp>
            <p:nvSpPr>
              <p:cNvPr id="615" name="Google Shape;615;p26"/>
              <p:cNvSpPr/>
              <p:nvPr/>
            </p:nvSpPr>
            <p:spPr>
              <a:xfrm>
                <a:off x="0" y="0"/>
                <a:ext cx="1028700" cy="1028700"/>
              </a:xfrm>
              <a:prstGeom prst="roundRect">
                <a:avLst>
                  <a:gd fmla="val 7407" name="adj"/>
                </a:avLst>
              </a:prstGeom>
              <a:solidFill>
                <a:srgbClr val="1E293B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6" name="Google Shape;616;p26"/>
              <p:cNvSpPr/>
              <p:nvPr/>
            </p:nvSpPr>
            <p:spPr>
              <a:xfrm>
                <a:off x="323850" y="323850"/>
                <a:ext cx="381000" cy="381000"/>
              </a:xfrm>
              <a:prstGeom prst="ellipse">
                <a:avLst/>
              </a:pr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3B82F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7" name="Google Shape;617;p26"/>
              <p:cNvSpPr/>
              <p:nvPr/>
            </p:nvSpPr>
            <p:spPr>
              <a:xfrm>
                <a:off x="476250" y="428625"/>
                <a:ext cx="142800" cy="171600"/>
              </a:xfrm>
              <a:custGeom>
                <a:rect b="b" l="l" r="r" t="t"/>
                <a:pathLst>
                  <a:path extrusionOk="0" h="120000" w="120000">
                    <a:moveTo>
                      <a:pt x="0" y="0"/>
                    </a:moveTo>
                    <a:lnTo>
                      <a:pt x="0" y="120000"/>
                    </a:lnTo>
                    <a:lnTo>
                      <a:pt x="120000" y="60000"/>
                    </a:lnTo>
                    <a:close/>
                  </a:path>
                </a:pathLst>
              </a:custGeom>
              <a:solidFill>
                <a:srgbClr val="3B82F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18" name="Google Shape;618;p26"/>
            <p:cNvSpPr/>
            <p:nvPr/>
          </p:nvSpPr>
          <p:spPr>
            <a:xfrm>
              <a:off x="466725" y="2571750"/>
              <a:ext cx="95400" cy="95400"/>
            </a:xfrm>
            <a:prstGeom prst="ellipse">
              <a:avLst/>
            </a:prstGeom>
            <a:solidFill>
              <a:srgbClr val="3B82F6"/>
            </a:solidFill>
            <a:ln cap="flat" cmpd="sng" w="1430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9" name="Google Shape;619;p26"/>
            <p:cNvSpPr txBox="1"/>
            <p:nvPr/>
          </p:nvSpPr>
          <p:spPr>
            <a:xfrm>
              <a:off x="0" y="2809875"/>
              <a:ext cx="1028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M1</a:t>
              </a:r>
              <a:endParaRPr b="0" sz="9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</p:txBody>
        </p:sp>
        <p:sp>
          <p:nvSpPr>
            <p:cNvPr id="620" name="Google Shape;620;p26"/>
            <p:cNvSpPr txBox="1"/>
            <p:nvPr/>
          </p:nvSpPr>
          <p:spPr>
            <a:xfrm>
              <a:off x="0" y="3048000"/>
              <a:ext cx="10287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Prove Core</a:t>
              </a:r>
              <a:endParaRPr b="0" sz="100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Prototype</a:t>
              </a:r>
              <a:endParaRPr b="0" sz="9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21" name="Google Shape;621;p26"/>
          <p:cNvGrpSpPr/>
          <p:nvPr/>
        </p:nvGrpSpPr>
        <p:grpSpPr>
          <a:xfrm>
            <a:off x="1657350" y="1333500"/>
            <a:ext cx="1028700" cy="2762400"/>
            <a:chOff x="0" y="1333500"/>
            <a:chExt cx="1028700" cy="2762400"/>
          </a:xfrm>
        </p:grpSpPr>
        <p:grpSp>
          <p:nvGrpSpPr>
            <p:cNvPr id="622" name="Google Shape;622;p26"/>
            <p:cNvGrpSpPr/>
            <p:nvPr/>
          </p:nvGrpSpPr>
          <p:grpSpPr>
            <a:xfrm>
              <a:off x="0" y="1333500"/>
              <a:ext cx="1028700" cy="1028700"/>
              <a:chOff x="0" y="0"/>
              <a:chExt cx="1028700" cy="1028700"/>
            </a:xfrm>
          </p:grpSpPr>
          <p:sp>
            <p:nvSpPr>
              <p:cNvPr id="623" name="Google Shape;623;p26"/>
              <p:cNvSpPr/>
              <p:nvPr/>
            </p:nvSpPr>
            <p:spPr>
              <a:xfrm>
                <a:off x="0" y="0"/>
                <a:ext cx="1028700" cy="1028700"/>
              </a:xfrm>
              <a:prstGeom prst="roundRect">
                <a:avLst>
                  <a:gd fmla="val 7407" name="adj"/>
                </a:avLst>
              </a:prstGeom>
              <a:solidFill>
                <a:srgbClr val="1E293B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4" name="Google Shape;624;p26"/>
              <p:cNvSpPr/>
              <p:nvPr/>
            </p:nvSpPr>
            <p:spPr>
              <a:xfrm>
                <a:off x="133350" y="133350"/>
                <a:ext cx="190500" cy="762000"/>
              </a:xfrm>
              <a:prstGeom prst="roundRect">
                <a:avLst>
                  <a:gd fmla="val 15000" name="adj"/>
                </a:avLst>
              </a:prstGeom>
              <a:solidFill>
                <a:srgbClr val="334155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5" name="Google Shape;625;p26"/>
              <p:cNvSpPr/>
              <p:nvPr/>
            </p:nvSpPr>
            <p:spPr>
              <a:xfrm>
                <a:off x="400050" y="133350"/>
                <a:ext cx="495300" cy="152400"/>
              </a:xfrm>
              <a:prstGeom prst="roundRect">
                <a:avLst>
                  <a:gd fmla="val 18750" name="adj"/>
                </a:avLst>
              </a:prstGeom>
              <a:solidFill>
                <a:srgbClr val="334155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6" name="Google Shape;626;p26"/>
              <p:cNvSpPr/>
              <p:nvPr/>
            </p:nvSpPr>
            <p:spPr>
              <a:xfrm>
                <a:off x="400050" y="361950"/>
                <a:ext cx="209700" cy="209700"/>
              </a:xfrm>
              <a:prstGeom prst="roundRect">
                <a:avLst>
                  <a:gd fmla="val 13636" name="adj"/>
                </a:avLst>
              </a:pr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3B82F6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7" name="Google Shape;627;p26"/>
              <p:cNvSpPr/>
              <p:nvPr/>
            </p:nvSpPr>
            <p:spPr>
              <a:xfrm>
                <a:off x="685800" y="361950"/>
                <a:ext cx="209700" cy="209700"/>
              </a:xfrm>
              <a:prstGeom prst="roundRect">
                <a:avLst>
                  <a:gd fmla="val 13636" name="adj"/>
                </a:avLst>
              </a:pr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8" name="Google Shape;628;p26"/>
              <p:cNvSpPr/>
              <p:nvPr/>
            </p:nvSpPr>
            <p:spPr>
              <a:xfrm>
                <a:off x="400050" y="647700"/>
                <a:ext cx="495300" cy="247800"/>
              </a:xfrm>
              <a:prstGeom prst="roundRect">
                <a:avLst>
                  <a:gd fmla="val 11538" name="adj"/>
                </a:avLst>
              </a:pr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6B6D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29" name="Google Shape;629;p26"/>
            <p:cNvSpPr/>
            <p:nvPr/>
          </p:nvSpPr>
          <p:spPr>
            <a:xfrm>
              <a:off x="466725" y="2571750"/>
              <a:ext cx="95400" cy="95400"/>
            </a:xfrm>
            <a:prstGeom prst="ellipse">
              <a:avLst/>
            </a:prstGeom>
            <a:solidFill>
              <a:srgbClr val="3B82F6"/>
            </a:solidFill>
            <a:ln cap="flat" cmpd="sng" w="1430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30" name="Google Shape;630;p26"/>
            <p:cNvSpPr txBox="1"/>
            <p:nvPr/>
          </p:nvSpPr>
          <p:spPr>
            <a:xfrm>
              <a:off x="0" y="2809875"/>
              <a:ext cx="1028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M2</a:t>
              </a:r>
              <a:endParaRPr b="0" sz="9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</p:txBody>
        </p:sp>
        <p:sp>
          <p:nvSpPr>
            <p:cNvPr id="631" name="Google Shape;631;p26"/>
            <p:cNvSpPr txBox="1"/>
            <p:nvPr/>
          </p:nvSpPr>
          <p:spPr>
            <a:xfrm>
              <a:off x="0" y="3048000"/>
              <a:ext cx="10287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Scale Structure</a:t>
              </a:r>
              <a:endParaRPr b="0" sz="100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&amp; UI</a:t>
              </a:r>
              <a:endParaRPr b="0" sz="9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32" name="Google Shape;632;p26"/>
          <p:cNvGrpSpPr/>
          <p:nvPr/>
        </p:nvGrpSpPr>
        <p:grpSpPr>
          <a:xfrm>
            <a:off x="2857500" y="1333500"/>
            <a:ext cx="1028700" cy="2762400"/>
            <a:chOff x="0" y="1333500"/>
            <a:chExt cx="1028700" cy="2762400"/>
          </a:xfrm>
        </p:grpSpPr>
        <p:grpSp>
          <p:nvGrpSpPr>
            <p:cNvPr id="633" name="Google Shape;633;p26"/>
            <p:cNvGrpSpPr/>
            <p:nvPr/>
          </p:nvGrpSpPr>
          <p:grpSpPr>
            <a:xfrm>
              <a:off x="0" y="1333500"/>
              <a:ext cx="1028700" cy="1028700"/>
              <a:chOff x="0" y="0"/>
              <a:chExt cx="1028700" cy="1028700"/>
            </a:xfrm>
          </p:grpSpPr>
          <p:sp>
            <p:nvSpPr>
              <p:cNvPr id="634" name="Google Shape;634;p26"/>
              <p:cNvSpPr/>
              <p:nvPr/>
            </p:nvSpPr>
            <p:spPr>
              <a:xfrm>
                <a:off x="0" y="0"/>
                <a:ext cx="1028700" cy="1028700"/>
              </a:xfrm>
              <a:prstGeom prst="roundRect">
                <a:avLst>
                  <a:gd fmla="val 7407" name="adj"/>
                </a:avLst>
              </a:prstGeom>
              <a:solidFill>
                <a:srgbClr val="1E293B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5" name="Google Shape;635;p26"/>
              <p:cNvSpPr/>
              <p:nvPr/>
            </p:nvSpPr>
            <p:spPr>
              <a:xfrm>
                <a:off x="171450" y="419100"/>
                <a:ext cx="190500" cy="190500"/>
              </a:xfrm>
              <a:prstGeom prst="roundRect">
                <a:avLst>
                  <a:gd fmla="val 20000" name="adj"/>
                </a:avLst>
              </a:prstGeom>
              <a:solidFill>
                <a:srgbClr val="3B82F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636" name="Google Shape;636;p26"/>
              <p:cNvCxnSpPr/>
              <p:nvPr/>
            </p:nvCxnSpPr>
            <p:spPr>
              <a:xfrm flipH="1" rot="10800000">
                <a:off x="361950" y="323850"/>
                <a:ext cx="190500" cy="19050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37" name="Google Shape;637;p26"/>
              <p:cNvCxnSpPr/>
              <p:nvPr/>
            </p:nvCxnSpPr>
            <p:spPr>
              <a:xfrm>
                <a:off x="361950" y="514350"/>
                <a:ext cx="190500" cy="19050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38" name="Google Shape;638;p26"/>
              <p:cNvSpPr/>
              <p:nvPr/>
            </p:nvSpPr>
            <p:spPr>
              <a:xfrm>
                <a:off x="552450" y="228600"/>
                <a:ext cx="190500" cy="190500"/>
              </a:xfrm>
              <a:prstGeom prst="roundRect">
                <a:avLst>
                  <a:gd fmla="val 20000" name="adj"/>
                </a:avLst>
              </a:pr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6B6D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39" name="Google Shape;639;p26"/>
              <p:cNvSpPr/>
              <p:nvPr/>
            </p:nvSpPr>
            <p:spPr>
              <a:xfrm>
                <a:off x="552450" y="609600"/>
                <a:ext cx="190500" cy="190500"/>
              </a:xfrm>
              <a:prstGeom prst="roundRect">
                <a:avLst>
                  <a:gd fmla="val 20000" name="adj"/>
                </a:avLst>
              </a:pr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6B6D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640" name="Google Shape;640;p26"/>
              <p:cNvCxnSpPr/>
              <p:nvPr/>
            </p:nvCxnSpPr>
            <p:spPr>
              <a:xfrm>
                <a:off x="742950" y="323850"/>
                <a:ext cx="114300" cy="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1" name="Google Shape;641;p26"/>
              <p:cNvCxnSpPr/>
              <p:nvPr/>
            </p:nvCxnSpPr>
            <p:spPr>
              <a:xfrm>
                <a:off x="742950" y="704850"/>
                <a:ext cx="114300" cy="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sp>
          <p:nvSpPr>
            <p:cNvPr id="642" name="Google Shape;642;p26"/>
            <p:cNvSpPr/>
            <p:nvPr/>
          </p:nvSpPr>
          <p:spPr>
            <a:xfrm>
              <a:off x="466725" y="2571750"/>
              <a:ext cx="95400" cy="95400"/>
            </a:xfrm>
            <a:prstGeom prst="ellipse">
              <a:avLst/>
            </a:prstGeom>
            <a:solidFill>
              <a:srgbClr val="3B82F6"/>
            </a:solidFill>
            <a:ln cap="flat" cmpd="sng" w="1430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3" name="Google Shape;643;p26"/>
            <p:cNvSpPr txBox="1"/>
            <p:nvPr/>
          </p:nvSpPr>
          <p:spPr>
            <a:xfrm>
              <a:off x="0" y="2809875"/>
              <a:ext cx="1028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M3</a:t>
              </a:r>
              <a:endParaRPr b="0" sz="9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</p:txBody>
        </p:sp>
        <p:sp>
          <p:nvSpPr>
            <p:cNvPr id="644" name="Google Shape;644;p26"/>
            <p:cNvSpPr txBox="1"/>
            <p:nvPr/>
          </p:nvSpPr>
          <p:spPr>
            <a:xfrm>
              <a:off x="0" y="3048000"/>
              <a:ext cx="10287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Extend</a:t>
              </a:r>
              <a:endParaRPr b="0" sz="100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Gameplay</a:t>
              </a:r>
              <a:endParaRPr b="0" sz="9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45" name="Google Shape;645;p26"/>
          <p:cNvGrpSpPr/>
          <p:nvPr/>
        </p:nvGrpSpPr>
        <p:grpSpPr>
          <a:xfrm>
            <a:off x="4057650" y="1333500"/>
            <a:ext cx="1028700" cy="2762400"/>
            <a:chOff x="0" y="1333500"/>
            <a:chExt cx="1028700" cy="2762400"/>
          </a:xfrm>
        </p:grpSpPr>
        <p:grpSp>
          <p:nvGrpSpPr>
            <p:cNvPr id="646" name="Google Shape;646;p26"/>
            <p:cNvGrpSpPr/>
            <p:nvPr/>
          </p:nvGrpSpPr>
          <p:grpSpPr>
            <a:xfrm>
              <a:off x="0" y="1333500"/>
              <a:ext cx="1028700" cy="1028700"/>
              <a:chOff x="0" y="0"/>
              <a:chExt cx="1028700" cy="1028700"/>
            </a:xfrm>
          </p:grpSpPr>
          <p:sp>
            <p:nvSpPr>
              <p:cNvPr id="647" name="Google Shape;647;p26"/>
              <p:cNvSpPr/>
              <p:nvPr/>
            </p:nvSpPr>
            <p:spPr>
              <a:xfrm>
                <a:off x="0" y="0"/>
                <a:ext cx="1028700" cy="1028700"/>
              </a:xfrm>
              <a:prstGeom prst="roundRect">
                <a:avLst>
                  <a:gd fmla="val 7407" name="adj"/>
                </a:avLst>
              </a:prstGeom>
              <a:solidFill>
                <a:srgbClr val="1E293B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8" name="Google Shape;648;p26"/>
              <p:cNvSpPr/>
              <p:nvPr/>
            </p:nvSpPr>
            <p:spPr>
              <a:xfrm>
                <a:off x="466725" y="180975"/>
                <a:ext cx="95400" cy="95400"/>
              </a:xfrm>
              <a:prstGeom prst="ellipse">
                <a:avLst/>
              </a:prstGeom>
              <a:solidFill>
                <a:srgbClr val="06B6D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49" name="Google Shape;649;p26"/>
              <p:cNvSpPr/>
              <p:nvPr/>
            </p:nvSpPr>
            <p:spPr>
              <a:xfrm>
                <a:off x="219075" y="609600"/>
                <a:ext cx="95400" cy="95400"/>
              </a:xfrm>
              <a:prstGeom prst="ellipse">
                <a:avLst/>
              </a:prstGeom>
              <a:solidFill>
                <a:srgbClr val="3B82F6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0" name="Google Shape;650;p26"/>
              <p:cNvSpPr/>
              <p:nvPr/>
            </p:nvSpPr>
            <p:spPr>
              <a:xfrm>
                <a:off x="714375" y="609600"/>
                <a:ext cx="95400" cy="95400"/>
              </a:xfrm>
              <a:prstGeom prst="ellipse">
                <a:avLst/>
              </a:prstGeom>
              <a:solidFill>
                <a:srgbClr val="F8FAFC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1" name="Google Shape;651;p26"/>
              <p:cNvSpPr/>
              <p:nvPr/>
            </p:nvSpPr>
            <p:spPr>
              <a:xfrm>
                <a:off x="314325" y="276225"/>
                <a:ext cx="200100" cy="333300"/>
              </a:xfrm>
              <a:custGeom>
                <a:rect b="b" l="l" r="r" t="t"/>
                <a:pathLst>
                  <a:path extrusionOk="0" fill="none" h="120000" w="120000">
                    <a:moveTo>
                      <a:pt x="120000" y="0"/>
                    </a:moveTo>
                    <a:lnTo>
                      <a:pt x="0" y="120000"/>
                    </a:lnTo>
                  </a:path>
                </a:pathLst>
              </a:custGeom>
              <a:solidFill>
                <a:srgbClr val="FFFFFF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2" name="Google Shape;652;p26"/>
              <p:cNvSpPr/>
              <p:nvPr/>
            </p:nvSpPr>
            <p:spPr>
              <a:xfrm>
                <a:off x="314325" y="657225"/>
                <a:ext cx="400200" cy="0"/>
              </a:xfrm>
              <a:custGeom>
                <a:rect b="b" l="l" r="r" t="t"/>
                <a:pathLst>
                  <a:path extrusionOk="0" fill="none" h="120000" w="120000">
                    <a:moveTo>
                      <a:pt x="0" y="0"/>
                    </a:moveTo>
                    <a:lnTo>
                      <a:pt x="120000" y="0"/>
                    </a:lnTo>
                  </a:path>
                </a:pathLst>
              </a:custGeom>
              <a:solidFill>
                <a:srgbClr val="FFFFFF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3" name="Google Shape;653;p26"/>
              <p:cNvSpPr/>
              <p:nvPr/>
            </p:nvSpPr>
            <p:spPr>
              <a:xfrm>
                <a:off x="514350" y="276225"/>
                <a:ext cx="200100" cy="333300"/>
              </a:xfrm>
              <a:custGeom>
                <a:rect b="b" l="l" r="r" t="t"/>
                <a:pathLst>
                  <a:path extrusionOk="0" fill="none" h="120000" w="120000">
                    <a:moveTo>
                      <a:pt x="120000" y="120000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FFFFFF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54" name="Google Shape;654;p26"/>
              <p:cNvSpPr/>
              <p:nvPr/>
            </p:nvSpPr>
            <p:spPr>
              <a:xfrm>
                <a:off x="409575" y="371475"/>
                <a:ext cx="47700" cy="47700"/>
              </a:xfrm>
              <a:custGeom>
                <a:rect b="b" l="l" r="r" t="t"/>
                <a:pathLst>
                  <a:path extrusionOk="0" h="120000" w="120000">
                    <a:moveTo>
                      <a:pt x="120000" y="0"/>
                    </a:moveTo>
                    <a:lnTo>
                      <a:pt x="0" y="0"/>
                    </a:lnTo>
                    <a:lnTo>
                      <a:pt x="0" y="12000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6B6D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55" name="Google Shape;655;p26"/>
            <p:cNvSpPr/>
            <p:nvPr/>
          </p:nvSpPr>
          <p:spPr>
            <a:xfrm>
              <a:off x="447675" y="2552700"/>
              <a:ext cx="133500" cy="133500"/>
            </a:xfrm>
            <a:prstGeom prst="ellipse">
              <a:avLst/>
            </a:prstGeom>
            <a:solidFill>
              <a:srgbClr val="06B6D4"/>
            </a:solidFill>
            <a:ln cap="flat" cmpd="sng" w="1430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26"/>
            <p:cNvSpPr txBox="1"/>
            <p:nvPr/>
          </p:nvSpPr>
          <p:spPr>
            <a:xfrm>
              <a:off x="0" y="2809875"/>
              <a:ext cx="1028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M4</a:t>
              </a:r>
              <a:endParaRPr b="0" sz="90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</p:txBody>
        </p:sp>
        <p:sp>
          <p:nvSpPr>
            <p:cNvPr id="657" name="Google Shape;657;p26"/>
            <p:cNvSpPr txBox="1"/>
            <p:nvPr/>
          </p:nvSpPr>
          <p:spPr>
            <a:xfrm>
              <a:off x="0" y="3048000"/>
              <a:ext cx="10287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Complete</a:t>
              </a:r>
              <a:endParaRPr b="0" sz="100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Learning Loop</a:t>
              </a:r>
              <a:endParaRPr b="0" sz="9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58" name="Google Shape;658;p26"/>
          <p:cNvGrpSpPr/>
          <p:nvPr/>
        </p:nvGrpSpPr>
        <p:grpSpPr>
          <a:xfrm>
            <a:off x="5257800" y="1333500"/>
            <a:ext cx="1028700" cy="2762400"/>
            <a:chOff x="0" y="1333500"/>
            <a:chExt cx="1028700" cy="2762400"/>
          </a:xfrm>
        </p:grpSpPr>
        <p:grpSp>
          <p:nvGrpSpPr>
            <p:cNvPr id="659" name="Google Shape;659;p26"/>
            <p:cNvGrpSpPr/>
            <p:nvPr/>
          </p:nvGrpSpPr>
          <p:grpSpPr>
            <a:xfrm>
              <a:off x="0" y="1333500"/>
              <a:ext cx="1028700" cy="1028700"/>
              <a:chOff x="0" y="0"/>
              <a:chExt cx="1028700" cy="1028700"/>
            </a:xfrm>
          </p:grpSpPr>
          <p:sp>
            <p:nvSpPr>
              <p:cNvPr id="660" name="Google Shape;660;p26"/>
              <p:cNvSpPr/>
              <p:nvPr/>
            </p:nvSpPr>
            <p:spPr>
              <a:xfrm>
                <a:off x="0" y="0"/>
                <a:ext cx="1028700" cy="1028700"/>
              </a:xfrm>
              <a:prstGeom prst="roundRect">
                <a:avLst>
                  <a:gd fmla="val 7407" name="adj"/>
                </a:avLst>
              </a:prstGeom>
              <a:solidFill>
                <a:srgbClr val="1E293B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661" name="Google Shape;661;p26"/>
              <p:cNvCxnSpPr/>
              <p:nvPr/>
            </p:nvCxnSpPr>
            <p:spPr>
              <a:xfrm>
                <a:off x="190500" y="838200"/>
                <a:ext cx="647700" cy="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62" name="Google Shape;662;p26"/>
              <p:cNvCxnSpPr/>
              <p:nvPr/>
            </p:nvCxnSpPr>
            <p:spPr>
              <a:xfrm>
                <a:off x="190500" y="190500"/>
                <a:ext cx="0" cy="64770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3" name="Google Shape;663;p26"/>
              <p:cNvSpPr/>
              <p:nvPr/>
            </p:nvSpPr>
            <p:spPr>
              <a:xfrm>
                <a:off x="190500" y="285750"/>
                <a:ext cx="609600" cy="4287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lnTo>
                      <a:pt x="30000" y="80000"/>
                    </a:lnTo>
                    <a:lnTo>
                      <a:pt x="60000" y="106667"/>
                    </a:lnTo>
                    <a:lnTo>
                      <a:pt x="90000" y="26667"/>
                    </a:lnTo>
                    <a:lnTo>
                      <a:pt x="120000" y="0"/>
                    </a:ln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9050">
                <a:solidFill>
                  <a:srgbClr val="06B6D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4" name="Google Shape;664;p26"/>
              <p:cNvSpPr/>
              <p:nvPr/>
            </p:nvSpPr>
            <p:spPr>
              <a:xfrm>
                <a:off x="771525" y="257175"/>
                <a:ext cx="57300" cy="57300"/>
              </a:xfrm>
              <a:prstGeom prst="ellipse">
                <a:avLst/>
              </a:prstGeom>
              <a:solidFill>
                <a:srgbClr val="F8FAFC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65" name="Google Shape;665;p26"/>
            <p:cNvSpPr/>
            <p:nvPr/>
          </p:nvSpPr>
          <p:spPr>
            <a:xfrm>
              <a:off x="466725" y="2571750"/>
              <a:ext cx="95400" cy="95400"/>
            </a:xfrm>
            <a:prstGeom prst="ellipse">
              <a:avLst/>
            </a:prstGeom>
            <a:solidFill>
              <a:srgbClr val="3B82F6"/>
            </a:solidFill>
            <a:ln cap="flat" cmpd="sng" w="1430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26"/>
            <p:cNvSpPr txBox="1"/>
            <p:nvPr/>
          </p:nvSpPr>
          <p:spPr>
            <a:xfrm>
              <a:off x="0" y="2809875"/>
              <a:ext cx="1028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M5</a:t>
              </a:r>
              <a:endParaRPr b="0" sz="9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</p:txBody>
        </p:sp>
        <p:sp>
          <p:nvSpPr>
            <p:cNvPr id="667" name="Google Shape;667;p26"/>
            <p:cNvSpPr txBox="1"/>
            <p:nvPr/>
          </p:nvSpPr>
          <p:spPr>
            <a:xfrm>
              <a:off x="0" y="3048000"/>
              <a:ext cx="10287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Adapt</a:t>
              </a:r>
              <a:endParaRPr b="0" sz="100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Analytics</a:t>
              </a:r>
              <a:endParaRPr b="0" sz="9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68" name="Google Shape;668;p26"/>
          <p:cNvGrpSpPr/>
          <p:nvPr/>
        </p:nvGrpSpPr>
        <p:grpSpPr>
          <a:xfrm>
            <a:off x="6457950" y="1333500"/>
            <a:ext cx="1028700" cy="2762400"/>
            <a:chOff x="0" y="1333500"/>
            <a:chExt cx="1028700" cy="2762400"/>
          </a:xfrm>
        </p:grpSpPr>
        <p:grpSp>
          <p:nvGrpSpPr>
            <p:cNvPr id="669" name="Google Shape;669;p26"/>
            <p:cNvGrpSpPr/>
            <p:nvPr/>
          </p:nvGrpSpPr>
          <p:grpSpPr>
            <a:xfrm>
              <a:off x="0" y="1333500"/>
              <a:ext cx="1028700" cy="1028700"/>
              <a:chOff x="0" y="0"/>
              <a:chExt cx="1028700" cy="1028700"/>
            </a:xfrm>
          </p:grpSpPr>
          <p:sp>
            <p:nvSpPr>
              <p:cNvPr id="670" name="Google Shape;670;p26"/>
              <p:cNvSpPr/>
              <p:nvPr/>
            </p:nvSpPr>
            <p:spPr>
              <a:xfrm>
                <a:off x="0" y="0"/>
                <a:ext cx="1028700" cy="1028700"/>
              </a:xfrm>
              <a:prstGeom prst="roundRect">
                <a:avLst>
                  <a:gd fmla="val 7407" name="adj"/>
                </a:avLst>
              </a:prstGeom>
              <a:solidFill>
                <a:srgbClr val="1E293B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1" name="Google Shape;671;p26"/>
              <p:cNvSpPr/>
              <p:nvPr/>
            </p:nvSpPr>
            <p:spPr>
              <a:xfrm>
                <a:off x="152400" y="190500"/>
                <a:ext cx="723900" cy="152400"/>
              </a:xfrm>
              <a:prstGeom prst="roundRect">
                <a:avLst>
                  <a:gd fmla="val 25000" name="adj"/>
                </a:avLst>
              </a:prstGeom>
              <a:solidFill>
                <a:srgbClr val="3B82F6">
                  <a:alpha val="80000"/>
                </a:srgbClr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2" name="Google Shape;672;p26"/>
              <p:cNvSpPr/>
              <p:nvPr/>
            </p:nvSpPr>
            <p:spPr>
              <a:xfrm>
                <a:off x="152400" y="419100"/>
                <a:ext cx="723900" cy="152400"/>
              </a:xfrm>
              <a:prstGeom prst="roundRect">
                <a:avLst>
                  <a:gd fmla="val 25000" name="adj"/>
                </a:avLst>
              </a:prstGeom>
              <a:solidFill>
                <a:srgbClr val="1E293B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73" name="Google Shape;673;p26"/>
              <p:cNvSpPr/>
              <p:nvPr/>
            </p:nvSpPr>
            <p:spPr>
              <a:xfrm>
                <a:off x="152400" y="647700"/>
                <a:ext cx="723900" cy="152400"/>
              </a:xfrm>
              <a:prstGeom prst="roundRect">
                <a:avLst>
                  <a:gd fmla="val 25000" name="adj"/>
                </a:avLst>
              </a:prstGeom>
              <a:solidFill>
                <a:srgbClr val="1E293B"/>
              </a:solidFill>
              <a:ln cap="flat" cmpd="sng" w="14300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cxnSp>
            <p:nvCxnSpPr>
              <p:cNvPr id="674" name="Google Shape;674;p26"/>
              <p:cNvCxnSpPr/>
              <p:nvPr/>
            </p:nvCxnSpPr>
            <p:spPr>
              <a:xfrm>
                <a:off x="228600" y="266700"/>
                <a:ext cx="228600" cy="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14300">
                <a:solidFill>
                  <a:srgbClr val="F8FAFC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75" name="Google Shape;675;p26"/>
              <p:cNvCxnSpPr/>
              <p:nvPr/>
            </p:nvCxnSpPr>
            <p:spPr>
              <a:xfrm>
                <a:off x="228600" y="495300"/>
                <a:ext cx="324000" cy="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1430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76" name="Google Shape;676;p26"/>
              <p:cNvCxnSpPr/>
              <p:nvPr/>
            </p:nvCxnSpPr>
            <p:spPr>
              <a:xfrm>
                <a:off x="228600" y="723900"/>
                <a:ext cx="152400" cy="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14300">
                <a:solidFill>
                  <a:srgbClr val="94A3B8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sp>
          <p:nvSpPr>
            <p:cNvPr id="677" name="Google Shape;677;p26"/>
            <p:cNvSpPr/>
            <p:nvPr/>
          </p:nvSpPr>
          <p:spPr>
            <a:xfrm>
              <a:off x="466725" y="2571750"/>
              <a:ext cx="95400" cy="95400"/>
            </a:xfrm>
            <a:prstGeom prst="ellipse">
              <a:avLst/>
            </a:prstGeom>
            <a:solidFill>
              <a:srgbClr val="3B82F6"/>
            </a:solidFill>
            <a:ln cap="flat" cmpd="sng" w="1430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8" name="Google Shape;678;p26"/>
            <p:cNvSpPr txBox="1"/>
            <p:nvPr/>
          </p:nvSpPr>
          <p:spPr>
            <a:xfrm>
              <a:off x="0" y="2809875"/>
              <a:ext cx="1028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M6</a:t>
              </a:r>
              <a:endParaRPr b="0" sz="9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</p:txBody>
        </p:sp>
        <p:sp>
          <p:nvSpPr>
            <p:cNvPr id="679" name="Google Shape;679;p26"/>
            <p:cNvSpPr txBox="1"/>
            <p:nvPr/>
          </p:nvSpPr>
          <p:spPr>
            <a:xfrm>
              <a:off x="0" y="3048000"/>
              <a:ext cx="10287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Author</a:t>
              </a:r>
              <a:endParaRPr b="0" sz="100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Content</a:t>
              </a:r>
              <a:endParaRPr b="0" sz="9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80" name="Google Shape;680;p26"/>
          <p:cNvGrpSpPr/>
          <p:nvPr/>
        </p:nvGrpSpPr>
        <p:grpSpPr>
          <a:xfrm>
            <a:off x="7658100" y="1333500"/>
            <a:ext cx="1028700" cy="2762400"/>
            <a:chOff x="0" y="1333500"/>
            <a:chExt cx="1028700" cy="2762400"/>
          </a:xfrm>
        </p:grpSpPr>
        <p:grpSp>
          <p:nvGrpSpPr>
            <p:cNvPr id="681" name="Google Shape;681;p26"/>
            <p:cNvGrpSpPr/>
            <p:nvPr/>
          </p:nvGrpSpPr>
          <p:grpSpPr>
            <a:xfrm>
              <a:off x="0" y="1333500"/>
              <a:ext cx="1028700" cy="1028700"/>
              <a:chOff x="0" y="0"/>
              <a:chExt cx="1028700" cy="1028700"/>
            </a:xfrm>
          </p:grpSpPr>
          <p:sp>
            <p:nvSpPr>
              <p:cNvPr id="682" name="Google Shape;682;p26"/>
              <p:cNvSpPr/>
              <p:nvPr/>
            </p:nvSpPr>
            <p:spPr>
              <a:xfrm>
                <a:off x="0" y="0"/>
                <a:ext cx="1028700" cy="1028700"/>
              </a:xfrm>
              <a:prstGeom prst="roundRect">
                <a:avLst>
                  <a:gd fmla="val 7407" name="adj"/>
                </a:avLst>
              </a:prstGeom>
              <a:solidFill>
                <a:srgbClr val="1E293B"/>
              </a:solidFill>
              <a:ln cap="flat" cmpd="sng" w="9525">
                <a:solidFill>
                  <a:srgbClr val="33415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3" name="Google Shape;683;p26"/>
              <p:cNvSpPr/>
              <p:nvPr/>
            </p:nvSpPr>
            <p:spPr>
              <a:xfrm>
                <a:off x="381000" y="285750"/>
                <a:ext cx="266700" cy="266700"/>
              </a:xfrm>
              <a:prstGeom prst="ellipse">
                <a:avLst/>
              </a:pr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6B6D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4" name="Google Shape;684;p26"/>
              <p:cNvSpPr/>
              <p:nvPr/>
            </p:nvSpPr>
            <p:spPr>
              <a:xfrm>
                <a:off x="323850" y="571500"/>
                <a:ext cx="381000" cy="190500"/>
              </a:xfrm>
              <a:custGeom>
                <a:rect b="b" l="l" r="r" t="t"/>
                <a:pathLst>
                  <a:path extrusionOk="0" h="120000" w="120000">
                    <a:moveTo>
                      <a:pt x="0" y="120000"/>
                    </a:moveTo>
                    <a:cubicBezTo>
                      <a:pt x="0" y="53726"/>
                      <a:pt x="26863" y="0"/>
                      <a:pt x="60000" y="0"/>
                    </a:cubicBezTo>
                    <a:cubicBezTo>
                      <a:pt x="93137" y="0"/>
                      <a:pt x="120000" y="53726"/>
                      <a:pt x="120000" y="120000"/>
                    </a:cubicBezTo>
                  </a:path>
                </a:pathLst>
              </a:custGeom>
              <a:solidFill>
                <a:srgbClr val="000000">
                  <a:alpha val="0"/>
                </a:srgbClr>
              </a:solidFill>
              <a:ln cap="flat" cmpd="sng" w="14300">
                <a:solidFill>
                  <a:srgbClr val="06B6D4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5" name="Google Shape;685;p26"/>
              <p:cNvSpPr/>
              <p:nvPr/>
            </p:nvSpPr>
            <p:spPr>
              <a:xfrm>
                <a:off x="742950" y="247650"/>
                <a:ext cx="38100" cy="38100"/>
              </a:xfrm>
              <a:custGeom>
                <a:rect b="b" l="l" r="r" t="t"/>
                <a:pathLst>
                  <a:path extrusionOk="0" fill="none" h="120000" w="120000">
                    <a:moveTo>
                      <a:pt x="0" y="60000"/>
                    </a:moveTo>
                    <a:lnTo>
                      <a:pt x="120000" y="60000"/>
                    </a:lnTo>
                    <a:moveTo>
                      <a:pt x="60000" y="0"/>
                    </a:moveTo>
                    <a:lnTo>
                      <a:pt x="60000" y="120000"/>
                    </a:lnTo>
                  </a:path>
                </a:pathLst>
              </a:custGeom>
              <a:solidFill>
                <a:srgbClr val="FFFFFF"/>
              </a:solidFill>
              <a:ln cap="rnd" cmpd="sng" w="9525">
                <a:solidFill>
                  <a:srgbClr val="F8FAFC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86" name="Google Shape;686;p26"/>
              <p:cNvSpPr/>
              <p:nvPr/>
            </p:nvSpPr>
            <p:spPr>
              <a:xfrm>
                <a:off x="266700" y="285750"/>
                <a:ext cx="38100" cy="38100"/>
              </a:xfrm>
              <a:custGeom>
                <a:rect b="b" l="l" r="r" t="t"/>
                <a:pathLst>
                  <a:path extrusionOk="0" fill="none" h="120000" w="120000">
                    <a:moveTo>
                      <a:pt x="0" y="60000"/>
                    </a:moveTo>
                    <a:lnTo>
                      <a:pt x="120000" y="60000"/>
                    </a:lnTo>
                    <a:moveTo>
                      <a:pt x="60000" y="0"/>
                    </a:moveTo>
                    <a:lnTo>
                      <a:pt x="60000" y="120000"/>
                    </a:lnTo>
                  </a:path>
                </a:pathLst>
              </a:custGeom>
              <a:solidFill>
                <a:srgbClr val="FFFFFF"/>
              </a:solidFill>
              <a:ln cap="rnd" cmpd="sng" w="9525">
                <a:solidFill>
                  <a:srgbClr val="F8FAFC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687" name="Google Shape;687;p26"/>
            <p:cNvSpPr/>
            <p:nvPr/>
          </p:nvSpPr>
          <p:spPr>
            <a:xfrm>
              <a:off x="466725" y="2571750"/>
              <a:ext cx="95400" cy="95400"/>
            </a:xfrm>
            <a:prstGeom prst="ellipse">
              <a:avLst/>
            </a:prstGeom>
            <a:solidFill>
              <a:srgbClr val="3B82F6"/>
            </a:solidFill>
            <a:ln cap="flat" cmpd="sng" w="1430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88" name="Google Shape;688;p26"/>
            <p:cNvSpPr txBox="1"/>
            <p:nvPr/>
          </p:nvSpPr>
          <p:spPr>
            <a:xfrm>
              <a:off x="0" y="2809875"/>
              <a:ext cx="1028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M7</a:t>
              </a:r>
              <a:endParaRPr b="0" sz="9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</p:txBody>
        </p:sp>
        <p:sp>
          <p:nvSpPr>
            <p:cNvPr id="689" name="Google Shape;689;p26"/>
            <p:cNvSpPr txBox="1"/>
            <p:nvPr/>
          </p:nvSpPr>
          <p:spPr>
            <a:xfrm>
              <a:off x="0" y="3048000"/>
              <a:ext cx="1028700" cy="1047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Guide Tutor</a:t>
              </a:r>
              <a:endParaRPr b="0" sz="100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ctr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&amp; Polish</a:t>
              </a:r>
              <a:endParaRPr b="0" sz="9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90" name="Google Shape;690;p26"/>
          <p:cNvGrpSpPr/>
          <p:nvPr/>
        </p:nvGrpSpPr>
        <p:grpSpPr>
          <a:xfrm>
            <a:off x="2466975" y="4324350"/>
            <a:ext cx="4210200" cy="381000"/>
            <a:chOff x="-9525" y="-9525"/>
            <a:chExt cx="4210200" cy="381000"/>
          </a:xfrm>
        </p:grpSpPr>
        <p:pic>
          <p:nvPicPr>
            <p:cNvPr id="691" name="Google Shape;691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-9525" y="-9525"/>
              <a:ext cx="4210200" cy="381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92" name="Google Shape;692;p26"/>
            <p:cNvSpPr/>
            <p:nvPr/>
          </p:nvSpPr>
          <p:spPr>
            <a:xfrm>
              <a:off x="190500" y="142875"/>
              <a:ext cx="76200" cy="76200"/>
            </a:xfrm>
            <a:prstGeom prst="ellipse">
              <a:avLst/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3" name="Google Shape;693;p26"/>
            <p:cNvSpPr txBox="1"/>
            <p:nvPr/>
          </p:nvSpPr>
          <p:spPr>
            <a:xfrm>
              <a:off x="400050" y="0"/>
              <a:ext cx="36195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Every stage preserved a </a:t>
              </a:r>
              <a:r>
                <a:rPr b="0" lang="en" sz="1050">
                  <a:solidFill>
                    <a:srgbClr val="06B6D4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complete playable flow</a:t>
              </a:r>
              <a:r>
                <a:rPr b="0" lang="en" sz="1050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b="0" sz="105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97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8" name="Google Shape;698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25" y="9525"/>
            <a:ext cx="8934600" cy="50484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99" name="Google Shape;699;p27"/>
          <p:cNvGrpSpPr/>
          <p:nvPr/>
        </p:nvGrpSpPr>
        <p:grpSpPr>
          <a:xfrm>
            <a:off x="457200" y="381000"/>
            <a:ext cx="2247900" cy="285900"/>
            <a:chOff x="0" y="0"/>
            <a:chExt cx="2247900" cy="285900"/>
          </a:xfrm>
        </p:grpSpPr>
        <p:sp>
          <p:nvSpPr>
            <p:cNvPr id="700" name="Google Shape;700;p27"/>
            <p:cNvSpPr/>
            <p:nvPr/>
          </p:nvSpPr>
          <p:spPr>
            <a:xfrm>
              <a:off x="0" y="0"/>
              <a:ext cx="228600" cy="228600"/>
            </a:xfrm>
            <a:prstGeom prst="roundRect">
              <a:avLst>
                <a:gd fmla="val 25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1" name="Google Shape;701;p27"/>
            <p:cNvSpPr/>
            <p:nvPr/>
          </p:nvSpPr>
          <p:spPr>
            <a:xfrm>
              <a:off x="66675" y="66675"/>
              <a:ext cx="95400" cy="95400"/>
            </a:xfrm>
            <a:custGeom>
              <a:rect b="b" l="l" r="r" t="t"/>
              <a:pathLst>
                <a:path extrusionOk="0" h="120000" w="120000">
                  <a:moveTo>
                    <a:pt x="0" y="120000"/>
                  </a:moveTo>
                  <a:lnTo>
                    <a:pt x="0" y="0"/>
                  </a:lnTo>
                  <a:lnTo>
                    <a:pt x="60000" y="60000"/>
                  </a:lnTo>
                  <a:lnTo>
                    <a:pt x="120000" y="0"/>
                  </a:lnTo>
                  <a:lnTo>
                    <a:pt x="120000" y="12000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19050">
              <a:solidFill>
                <a:srgbClr val="0B112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2" name="Google Shape;702;p27"/>
            <p:cNvSpPr txBox="1"/>
            <p:nvPr/>
          </p:nvSpPr>
          <p:spPr>
            <a:xfrm>
              <a:off x="342900" y="0"/>
              <a:ext cx="1905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4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MathSmith </a:t>
              </a:r>
              <a:r>
                <a:rPr b="0" lang="en" sz="1400">
                  <a:solidFill>
                    <a:srgbClr val="334155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|</a:t>
              </a:r>
              <a:r>
                <a:rPr b="0" lang="en" sz="14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rPr>
                <a:t> 数锻</a:t>
              </a:r>
              <a:endParaRPr b="0" sz="14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endParaRPr>
            </a:p>
          </p:txBody>
        </p:sp>
      </p:grpSp>
      <p:sp>
        <p:nvSpPr>
          <p:cNvPr id="703" name="Google Shape;703;p27"/>
          <p:cNvSpPr txBox="1"/>
          <p:nvPr/>
        </p:nvSpPr>
        <p:spPr>
          <a:xfrm>
            <a:off x="457200" y="904875"/>
            <a:ext cx="8229600" cy="71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400">
                <a:solidFill>
                  <a:srgbClr val="F8FAFC"/>
                </a:solidFill>
                <a:latin typeface="Outfit SemiBold"/>
                <a:ea typeface="Outfit SemiBold"/>
                <a:cs typeface="Outfit SemiBold"/>
                <a:sym typeface="Outfit SemiBold"/>
              </a:rPr>
              <a:t>What MathSmith Demonstrates</a:t>
            </a:r>
            <a:endParaRPr b="0" sz="2400">
              <a:solidFill>
                <a:srgbClr val="F8FAFC"/>
              </a:solidFill>
              <a:latin typeface="Outfit SemiBold"/>
              <a:ea typeface="Outfit SemiBold"/>
              <a:cs typeface="Outfit SemiBold"/>
              <a:sym typeface="Outfit SemiBold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6B6D4"/>
                </a:solidFill>
                <a:latin typeface="Outfit Medium"/>
                <a:ea typeface="Outfit Medium"/>
                <a:cs typeface="Outfit Medium"/>
                <a:sym typeface="Outfit Medium"/>
              </a:rPr>
              <a:t>One Project, Multiple Technical Design Disciplines.</a:t>
            </a:r>
            <a:endParaRPr b="0" sz="1400">
              <a:solidFill>
                <a:srgbClr val="06B6D4"/>
              </a:solidFill>
              <a:latin typeface="Outfit Medium"/>
              <a:ea typeface="Outfit Medium"/>
              <a:cs typeface="Outfit Medium"/>
              <a:sym typeface="Outfit Medium"/>
            </a:endParaRPr>
          </a:p>
        </p:txBody>
      </p:sp>
      <p:grpSp>
        <p:nvGrpSpPr>
          <p:cNvPr id="704" name="Google Shape;704;p27"/>
          <p:cNvGrpSpPr/>
          <p:nvPr/>
        </p:nvGrpSpPr>
        <p:grpSpPr>
          <a:xfrm>
            <a:off x="457200" y="1714500"/>
            <a:ext cx="4000500" cy="1848000"/>
            <a:chOff x="457200" y="1714500"/>
            <a:chExt cx="4000500" cy="1848000"/>
          </a:xfrm>
        </p:grpSpPr>
        <p:sp>
          <p:nvSpPr>
            <p:cNvPr id="705" name="Google Shape;705;p27"/>
            <p:cNvSpPr/>
            <p:nvPr/>
          </p:nvSpPr>
          <p:spPr>
            <a:xfrm>
              <a:off x="457200" y="1714500"/>
              <a:ext cx="4000500" cy="1848000"/>
            </a:xfrm>
            <a:prstGeom prst="roundRect">
              <a:avLst>
                <a:gd fmla="val 8247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6" name="Google Shape;706;p27"/>
            <p:cNvSpPr txBox="1"/>
            <p:nvPr/>
          </p:nvSpPr>
          <p:spPr>
            <a:xfrm>
              <a:off x="685800" y="1905000"/>
              <a:ext cx="35433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06B6D4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PROJECT SCOPE</a:t>
              </a:r>
              <a:endParaRPr b="0" sz="1000">
                <a:solidFill>
                  <a:srgbClr val="06B6D4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</p:txBody>
        </p:sp>
        <p:grpSp>
          <p:nvGrpSpPr>
            <p:cNvPr id="707" name="Google Shape;707;p27"/>
            <p:cNvGrpSpPr/>
            <p:nvPr/>
          </p:nvGrpSpPr>
          <p:grpSpPr>
            <a:xfrm>
              <a:off x="685800" y="2190750"/>
              <a:ext cx="3524400" cy="666900"/>
              <a:chOff x="0" y="0"/>
              <a:chExt cx="3524400" cy="666900"/>
            </a:xfrm>
          </p:grpSpPr>
          <p:sp>
            <p:nvSpPr>
              <p:cNvPr id="708" name="Google Shape;708;p27"/>
              <p:cNvSpPr txBox="1"/>
              <p:nvPr/>
            </p:nvSpPr>
            <p:spPr>
              <a:xfrm>
                <a:off x="0" y="0"/>
                <a:ext cx="9525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3000">
                    <a:solidFill>
                      <a:srgbClr val="06B6D4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12</a:t>
                </a:r>
                <a:endParaRPr b="0" sz="3000">
                  <a:solidFill>
                    <a:srgbClr val="06B6D4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LEVELS</a:t>
                </a:r>
                <a:endParaRPr b="0" sz="80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</p:txBody>
          </p:sp>
          <p:sp>
            <p:nvSpPr>
              <p:cNvPr id="709" name="Google Shape;709;p27"/>
              <p:cNvSpPr txBox="1"/>
              <p:nvPr/>
            </p:nvSpPr>
            <p:spPr>
              <a:xfrm>
                <a:off x="1047750" y="0"/>
                <a:ext cx="11430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3000">
                    <a:solidFill>
                      <a:srgbClr val="3B82F6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90</a:t>
                </a:r>
                <a:endParaRPr b="0" sz="3000">
                  <a:solidFill>
                    <a:srgbClr val="3B82F6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QUESTIONS</a:t>
                </a:r>
                <a:endParaRPr b="0" sz="80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</p:txBody>
          </p:sp>
          <p:sp>
            <p:nvSpPr>
              <p:cNvPr id="710" name="Google Shape;710;p27"/>
              <p:cNvSpPr txBox="1"/>
              <p:nvPr/>
            </p:nvSpPr>
            <p:spPr>
              <a:xfrm>
                <a:off x="2286000" y="0"/>
                <a:ext cx="12384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" sz="3000">
                    <a:solidFill>
                      <a:srgbClr val="F8FAFC"/>
                    </a:solidFill>
                    <a:latin typeface="Outfit SemiBold"/>
                    <a:ea typeface="Outfit SemiBold"/>
                    <a:cs typeface="Outfit SemiBold"/>
                    <a:sym typeface="Outfit SemiBold"/>
                  </a:rPr>
                  <a:t>3</a:t>
                </a:r>
                <a:endParaRPr b="0" sz="3000">
                  <a:solidFill>
                    <a:srgbClr val="F8FAFC"/>
                  </a:solidFill>
                  <a:latin typeface="Outfit SemiBold"/>
                  <a:ea typeface="Outfit SemiBold"/>
                  <a:cs typeface="Outfit SemiBold"/>
                  <a:sym typeface="Outfit SemiBold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b="0" lang="en" sz="800">
                    <a:solidFill>
                      <a:srgbClr val="94A3B8"/>
                    </a:solidFill>
                    <a:latin typeface="Fira Code Medium"/>
                    <a:ea typeface="Fira Code Medium"/>
                    <a:cs typeface="Fira Code Medium"/>
                    <a:sym typeface="Fira Code Medium"/>
                  </a:rPr>
                  <a:t>CORE MODES</a:t>
                </a:r>
                <a:endParaRPr b="0" sz="80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endParaRPr>
              </a:p>
            </p:txBody>
          </p:sp>
        </p:grpSp>
        <p:sp>
          <p:nvSpPr>
            <p:cNvPr id="711" name="Google Shape;711;p27"/>
            <p:cNvSpPr txBox="1"/>
            <p:nvPr/>
          </p:nvSpPr>
          <p:spPr>
            <a:xfrm>
              <a:off x="685800" y="3000375"/>
              <a:ext cx="35433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Course Sources: </a:t>
              </a:r>
              <a:r>
                <a:rPr b="0" lang="en" sz="1050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3 Curriculums</a:t>
              </a:r>
              <a:r>
                <a:rPr b="0" lang="en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 </a:t>
              </a:r>
              <a:r>
                <a:rPr b="0" lang="en" sz="1050">
                  <a:solidFill>
                    <a:srgbClr val="334155"/>
                  </a:solidFill>
                  <a:latin typeface="Inter"/>
                  <a:ea typeface="Inter"/>
                  <a:cs typeface="Inter"/>
                  <a:sym typeface="Inter"/>
                </a:rPr>
                <a:t>|</a:t>
              </a:r>
              <a:r>
                <a:rPr b="0" lang="en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 Localization: </a:t>
              </a:r>
              <a:r>
                <a:rPr b="0" lang="en" sz="1050">
                  <a:solidFill>
                    <a:srgbClr val="06B6D4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EN + 简体中文</a:t>
              </a:r>
              <a:endParaRPr b="0" sz="10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712" name="Google Shape;712;p27"/>
          <p:cNvGrpSpPr/>
          <p:nvPr/>
        </p:nvGrpSpPr>
        <p:grpSpPr>
          <a:xfrm>
            <a:off x="4686300" y="1714500"/>
            <a:ext cx="4000500" cy="1848000"/>
            <a:chOff x="4686300" y="1714500"/>
            <a:chExt cx="4000500" cy="1848000"/>
          </a:xfrm>
        </p:grpSpPr>
        <p:sp>
          <p:nvSpPr>
            <p:cNvPr id="713" name="Google Shape;713;p27"/>
            <p:cNvSpPr/>
            <p:nvPr/>
          </p:nvSpPr>
          <p:spPr>
            <a:xfrm>
              <a:off x="4686300" y="1714500"/>
              <a:ext cx="4000500" cy="1848000"/>
            </a:xfrm>
            <a:prstGeom prst="roundRect">
              <a:avLst>
                <a:gd fmla="val 8247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4" name="Google Shape;714;p27"/>
            <p:cNvSpPr txBox="1"/>
            <p:nvPr/>
          </p:nvSpPr>
          <p:spPr>
            <a:xfrm>
              <a:off x="4914900" y="1905000"/>
              <a:ext cx="35433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0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CORE CAPABILITIES</a:t>
              </a:r>
              <a:endParaRPr b="0" sz="10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</p:txBody>
        </p:sp>
        <p:sp>
          <p:nvSpPr>
            <p:cNvPr id="715" name="Google Shape;715;p27"/>
            <p:cNvSpPr/>
            <p:nvPr/>
          </p:nvSpPr>
          <p:spPr>
            <a:xfrm>
              <a:off x="4914900" y="2295525"/>
              <a:ext cx="57300" cy="57300"/>
            </a:xfrm>
            <a:prstGeom prst="roundRect">
              <a:avLst>
                <a:gd fmla="val 25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6" name="Google Shape;716;p27"/>
            <p:cNvSpPr txBox="1"/>
            <p:nvPr/>
          </p:nvSpPr>
          <p:spPr>
            <a:xfrm>
              <a:off x="5048250" y="2228850"/>
              <a:ext cx="15240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Educational Design</a:t>
              </a:r>
              <a:endParaRPr b="0" sz="1100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717" name="Google Shape;717;p27"/>
            <p:cNvSpPr/>
            <p:nvPr/>
          </p:nvSpPr>
          <p:spPr>
            <a:xfrm>
              <a:off x="6724650" y="2295525"/>
              <a:ext cx="57300" cy="57300"/>
            </a:xfrm>
            <a:prstGeom prst="roundRect">
              <a:avLst>
                <a:gd fmla="val 25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8" name="Google Shape;718;p27"/>
            <p:cNvSpPr txBox="1"/>
            <p:nvPr/>
          </p:nvSpPr>
          <p:spPr>
            <a:xfrm>
              <a:off x="6858000" y="2228850"/>
              <a:ext cx="15240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Systems Design</a:t>
              </a:r>
              <a:endParaRPr b="0" sz="1100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719" name="Google Shape;719;p27"/>
            <p:cNvSpPr/>
            <p:nvPr/>
          </p:nvSpPr>
          <p:spPr>
            <a:xfrm>
              <a:off x="4914900" y="2647950"/>
              <a:ext cx="57300" cy="57300"/>
            </a:xfrm>
            <a:prstGeom prst="roundRect">
              <a:avLst>
                <a:gd fmla="val 25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0" name="Google Shape;720;p27"/>
            <p:cNvSpPr txBox="1"/>
            <p:nvPr/>
          </p:nvSpPr>
          <p:spPr>
            <a:xfrm>
              <a:off x="5048250" y="2581275"/>
              <a:ext cx="15240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Technical Design</a:t>
              </a:r>
              <a:endParaRPr b="0" sz="1100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721" name="Google Shape;721;p27"/>
            <p:cNvSpPr/>
            <p:nvPr/>
          </p:nvSpPr>
          <p:spPr>
            <a:xfrm>
              <a:off x="6724650" y="2647950"/>
              <a:ext cx="57300" cy="57300"/>
            </a:xfrm>
            <a:prstGeom prst="roundRect">
              <a:avLst>
                <a:gd fmla="val 25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2" name="Google Shape;722;p27"/>
            <p:cNvSpPr txBox="1"/>
            <p:nvPr/>
          </p:nvSpPr>
          <p:spPr>
            <a:xfrm>
              <a:off x="6858000" y="2581275"/>
              <a:ext cx="15240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Tools Development</a:t>
              </a:r>
              <a:endParaRPr b="0" sz="1100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  <p:sp>
          <p:nvSpPr>
            <p:cNvPr id="723" name="Google Shape;723;p27"/>
            <p:cNvSpPr/>
            <p:nvPr/>
          </p:nvSpPr>
          <p:spPr>
            <a:xfrm>
              <a:off x="4914900" y="3000375"/>
              <a:ext cx="57300" cy="57300"/>
            </a:xfrm>
            <a:prstGeom prst="roundRect">
              <a:avLst>
                <a:gd fmla="val 25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4" name="Google Shape;724;p27"/>
            <p:cNvSpPr txBox="1"/>
            <p:nvPr/>
          </p:nvSpPr>
          <p:spPr>
            <a:xfrm>
              <a:off x="5048250" y="2933700"/>
              <a:ext cx="15240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UI/UX</a:t>
              </a:r>
              <a:endParaRPr b="0" sz="1100">
                <a:solidFill>
                  <a:srgbClr val="F8FAFC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725" name="Google Shape;725;p27"/>
          <p:cNvGrpSpPr/>
          <p:nvPr/>
        </p:nvGrpSpPr>
        <p:grpSpPr>
          <a:xfrm>
            <a:off x="457200" y="3752850"/>
            <a:ext cx="8229600" cy="933600"/>
            <a:chOff x="457200" y="3752850"/>
            <a:chExt cx="8229600" cy="933600"/>
          </a:xfrm>
        </p:grpSpPr>
        <p:sp>
          <p:nvSpPr>
            <p:cNvPr id="726" name="Google Shape;726;p27"/>
            <p:cNvSpPr/>
            <p:nvPr/>
          </p:nvSpPr>
          <p:spPr>
            <a:xfrm>
              <a:off x="457200" y="3752850"/>
              <a:ext cx="8229600" cy="933600"/>
            </a:xfrm>
            <a:prstGeom prst="roundRect">
              <a:avLst>
                <a:gd fmla="val 16326" name="adj"/>
              </a:avLst>
            </a:prstGeom>
            <a:solidFill>
              <a:srgbClr val="1E293B"/>
            </a:solidFill>
            <a:ln cap="flat" cmpd="sng" w="9525">
              <a:solidFill>
                <a:srgbClr val="334155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7" name="Google Shape;727;p27"/>
            <p:cNvSpPr/>
            <p:nvPr/>
          </p:nvSpPr>
          <p:spPr>
            <a:xfrm>
              <a:off x="609600" y="3943350"/>
              <a:ext cx="38100" cy="552600"/>
            </a:xfrm>
            <a:prstGeom prst="roundRect">
              <a:avLst>
                <a:gd fmla="val 50000" name="adj"/>
              </a:avLst>
            </a:prstGeom>
            <a:solidFill>
              <a:srgbClr val="06B6D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8" name="Google Shape;728;p27"/>
            <p:cNvSpPr txBox="1"/>
            <p:nvPr/>
          </p:nvSpPr>
          <p:spPr>
            <a:xfrm>
              <a:off x="800100" y="3943350"/>
              <a:ext cx="42864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" sz="1500">
                  <a:solidFill>
                    <a:srgbClr val="F8FAFC"/>
                  </a:solidFill>
                  <a:latin typeface="Outfit Medium"/>
                  <a:ea typeface="Outfit Medium"/>
                  <a:cs typeface="Outfit Medium"/>
                  <a:sym typeface="Outfit Medium"/>
                </a:rPr>
                <a:t>"Understand the process, not just the answer."</a:t>
              </a:r>
              <a:endParaRPr b="0" i="1" sz="1500">
                <a:solidFill>
                  <a:srgbClr val="F8FAFC"/>
                </a:solidFill>
                <a:latin typeface="Outfit Medium"/>
                <a:ea typeface="Outfit Medium"/>
                <a:cs typeface="Outfit Medium"/>
                <a:sym typeface="Outfit Medium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94A3B8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MATHSMITH DESIGN PHILOSOPHY</a:t>
              </a:r>
              <a:endParaRPr b="0" sz="800">
                <a:solidFill>
                  <a:srgbClr val="94A3B8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</p:txBody>
        </p:sp>
        <p:sp>
          <p:nvSpPr>
            <p:cNvPr id="729" name="Google Shape;729;p27"/>
            <p:cNvSpPr/>
            <p:nvPr/>
          </p:nvSpPr>
          <p:spPr>
            <a:xfrm>
              <a:off x="5429250" y="3943350"/>
              <a:ext cx="9600" cy="552600"/>
            </a:xfrm>
            <a:prstGeom prst="rect">
              <a:avLst/>
            </a:prstGeom>
            <a:solidFill>
              <a:srgbClr val="33415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0" name="Google Shape;730;p27"/>
            <p:cNvSpPr txBox="1"/>
            <p:nvPr/>
          </p:nvSpPr>
          <p:spPr>
            <a:xfrm>
              <a:off x="5715000" y="3943350"/>
              <a:ext cx="2743200" cy="55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800">
                  <a:solidFill>
                    <a:srgbClr val="3B82F6"/>
                  </a:solidFill>
                  <a:latin typeface="Fira Code Medium"/>
                  <a:ea typeface="Fira Code Medium"/>
                  <a:cs typeface="Fira Code Medium"/>
                  <a:sym typeface="Fira Code Medium"/>
                </a:rPr>
                <a:t>CASE STUDY SIGN-OFF</a:t>
              </a:r>
              <a:endParaRPr b="0" sz="800">
                <a:solidFill>
                  <a:srgbClr val="3B82F6"/>
                </a:solidFill>
                <a:latin typeface="Fira Code Medium"/>
                <a:ea typeface="Fira Code Medium"/>
                <a:cs typeface="Fira Code Medium"/>
                <a:sym typeface="Fira Code Medium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" sz="1100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Designed &amp; Developed by Yitong Hu</a:t>
              </a:r>
              <a:endParaRPr b="0" sz="110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" sz="9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Game Development &amp; Educational Systems</a:t>
              </a:r>
              <a:endParaRPr b="0" sz="9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