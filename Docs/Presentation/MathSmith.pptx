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embeddedFontLst>
    <p:embeddedFont>
      <p:font typeface="Geist"/>
      <p:bold r:id="rId17"/>
      <p:boldItalic r:id="rId18"/>
    </p:embeddedFont>
    <p:embeddedFont>
      <p:font typeface="Geist SemiBold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eistSemiBold-bold.fntdata"/><Relationship Id="rId22" Type="http://schemas.openxmlformats.org/officeDocument/2006/relationships/font" Target="fonts/GeistSemiBold-boldItalic.fntdata"/><Relationship Id="rId21" Type="http://schemas.openxmlformats.org/officeDocument/2006/relationships/font" Target="fonts/GeistSemiBold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eist-bold.fntdata"/><Relationship Id="rId16" Type="http://schemas.openxmlformats.org/officeDocument/2006/relationships/slide" Target="slides/slide11.xml"/><Relationship Id="rId19" Type="http://schemas.openxmlformats.org/officeDocument/2006/relationships/font" Target="fonts/GeistSemiBold-regular.fntdata"/><Relationship Id="rId18" Type="http://schemas.openxmlformats.org/officeDocument/2006/relationships/font" Target="fonts/Geis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大家好，这个项目叫 MathSmith，是我为了这次面试快速开发的一个 data-driven math learning game prototype。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它的核心想法其实很简单：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Learn the process, not just the answer.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我想做的不是另一个让学生输入最终答案的数学游戏，而是把“解题过程”本身变成 gameplay。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这个项目我使用 Godot 开发，同时把它当成一个 Technical Design exercise。整个过程中我主要想展示三个方面：Game Design、Technical Design，以及 Educational Game Design。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接下来我不会逐个介绍所有 feature，而是重点讲我是怎么定义问题、控制 scope、建立系统，然后通过几个 milestone 把它逐步扩展成现在这个版本。</a:t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在开始做之前，我没有先列一大堆 features，而是先问自己三个问题。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第一个是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：玩家能不能通过重新构建 solution process 来理解数学推理，而不是只提交最终答案？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第二个是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Technical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：我能不能只给系统一个数学表达式，例如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18 + 7 - 5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，然后让系统自动把它转化成 human-readable solution steps，再直接把这些 steps 转化成 gameplay？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第三个是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Production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：在非常有限的开发时间里and the assitant from AI agents，我能不能做出一个不仅能运行，而且结构上可以继续扩展、每个阶段都可以拿出来玩的 vertical slice？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所以后面的所有 milestone，其实都围绕这三个问题展开：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玩法成立吗？系统能扩展吗？开发方式可持续吗？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在真正开始 implementation 之前，我通常会先做一轮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Define、Align、De-risk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Design 方面，我会先确认目标用户、核心目标、player verbs、feedback loop，以及我们到底通过 prototype 验证什么。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Production 方面，我会把需求分成 Must Have、Should Have 和 Nice to Have，然后优先找出最高风险的假设。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比如 MathSmith 最大的风险不是 Settings Menu 能不能做，而是：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自动生成的数学步骤到底能不能成为一个好玩的、可以理解的 interaction。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然后我会看现有资源：使用什么 engine，有什么 plugins、art、UI、audio、content pipeline，以及团队当前的技术能力。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如果这是团队项目，我还会在 implementation 前分别和 Design、Engineering、Art/UI、Content/Pedagogy 和 Production 对齐，因为大家需要共享同一个 Definition of Done。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所以我的流程通常是：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Define what we're trying to prove → Align the team → De-risk the hardest assumptions → Build.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这个项目在 production strategy 上，我刻意没有按照“先把所有 gameplay 做完，再做 UI，再做 save”这种横向方式开发。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我采用的是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vertical milestones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每个 milestone 都同时推进 gameplay、systems、content 和 presentation，只是每一阶段验证的问题不同。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M1 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Prove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：先证明最核心的 gameplay 能不能成立。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M2 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：证明它不是只能支持一两个 hard-coded questions，而是可以形成完整产品流程。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M3 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Extend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：验证同一个 architecture 能不能支持完全不同的 gameplay interactions。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M4 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Complete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：补上 progression、review、save 和 replay，让它形成一个真正完整的 learning loop。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这样做最大的好处是：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每完成一个 milestone，我手里都有一个稳定、完整、可以 playtest、也可以展示的 build。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而不是开发到一半时有十个完成 70% 的 systems，却没有一个完整体验。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M1 我只想回答一个问题：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“Rebuilding mathematical reasoning” 能不能成为一个 gameplay mechanic？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所以这一阶段我只做最小完整闭环。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Question 和 Level 从 JSON 读取，Expression Parser 理解数学表达式，然后 Step Generator 自动生成 solution process。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玩家拿到这些 steps 以后，通过 drag and drop 重新排列，再使用 Check、Hint 和 Next 完成整个 Question flow。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这里最重要的技术决定是：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solution steps 不写在 JSON 里。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Content 只告诉系统“题目是什么”，系统自己决定“怎么把它变成 gameplay”。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M1 完成的时候 UI 还非常简单，但我已经验证了最关键的假设：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一个数学表达式可以自动变成一个 playable step-ordering puzzle，而不需要 content designer 手写每一道题的 solution process。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到这里，我才认为值得继续扩大项目。</a:t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M2 的问题变成了：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如果这个核心机制成立，它能不能 scale？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所以我从四个方向同时扩展。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Content 从少量测试题扩展到 12 Levels、90 Questions，而且难度逐步提高。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Systems 方面，我继续优化 Step Generator，让生成结果不只是 mathematically correct，而是尽量 human-readable。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Product Flow 方面，我补齐了 Home、Lobby、Level、Game 和 Results，让它从一个 gameplay test 变成完整 application flow。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Presentation 方面，我加入 data-driven Level Cards、responsive UI、统一 visual language、icons 和 SFX。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但 M2 最重要的 design decision 仍然是：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Keep authored content minimal.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Content designer 只负责定义 Question；系统负责把 Question 转化成 playable reasoning。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所以增加内容的时候，开发成本不会随着 gameplay complexity 一起线性增长。</a:t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到 M3，我想验证的是 architecture，而不是单纯增加更多 feature。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问题变成：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同一套 mathematical content pipeline，能不能支持不同的 learning interactions？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所以我加入另外两种 Mode。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第一种 Step Ordering 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reconstruct the solution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——玩家重新排列完整步骤。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第二种 Multi-Choice Ordering 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identify the next step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——玩家从 plausible alternatives 里判断下一步应该是什么。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第三种 Fill in the Process 是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complete the reasoning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——系统保留解题结构，但让玩家补全缺失信息。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这里我没有建立三套 Question data。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三个 Mode 都走：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Same Question → Same Parser → Same Step Generator → Different Interaction.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这意味着未来如果我修改一道题，或者改善 Step Generator，三个 gameplay modes 都能一起获得更新。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对我来说，这才是真正的 extensibility：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不是预测所有未来需求，而是让已经知道的下一种用法可以低成本接入。</a:t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M3 过程中，我发现了整个项目里最有价值的一个问题。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系统生成的步骤有时候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mathematically correct，但 pedagogically 很差。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比如它会产生不自然的 decomposition、多余的 parentheses、redundant transformations，或者为了增加步骤数量而制造 artificial intermediate steps。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从代码角度看这些答案没有 bug。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但是当我自己实际 playtest 时，我发现：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我不会这样解题，我也不会这样教别人解题。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所以这不是 calculation bug，而是一个 design problem。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我开始改变 Step Generator 的目标。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不再问：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“How can I generate enough steps?”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而是：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“What is the minimum number of meaningful, human-readable reasoning steps?”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然后我的工作流变成 Build → Play &amp; Observe → Adjust → Stabilize。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而且每完成一种新的 Question Type，我都会重新 playtest，因为同样的 generated content 放到不同 interaction 里，会暴露不同问题。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这也是这个项目给我最大的提醒之一：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Technical correctness does not guarantee experience quality.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M4 不再重点证明 architecture，而是补完整个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learning loop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到 M3 为止，玩家已经可以“玩”，但做完以后发生什么还不够完整。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 M4 加入 Question Score、Level Score、Stars 和 Limited Hints，让表现具有长期意义。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同时加入 Mistake Book。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如果玩家重复答错或者需要 Hint，系统可以把 Question 收进 Mistake Book，并保存它来自哪个 Level、哪个 Mode 和哪个 Skill。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玩家之后可以查看规则解释和正确 solution process，也可以直接进入随机 Mistake Practice。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Persistence 方面，我加入 versioned Local Save、mode-specific progress 和 best scores。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Replay 方面则有 Zen 和 Survival 两种模式，并保存 personal best。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 M4 以后，loop 就不再是：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Play → Finish → Leave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而是：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Play → Feedback → Results → Review → Practice → Improve。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这时候我才认为 MathSmith 从一个 gameplay prototype 变成了一个比较完整的 learning-game vertical slice。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最后，这就是目前这个 build 的规模。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现在它已经包含三个核心 gameplay modes、两个 replay modes、双语支持，以及 persistent progression、Mistake Practice、Tutorial、Settings、Search、Filters 和 Progressive Feedback。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但这里我最想强调的数字其实不是 Question 数量。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而是最后这个：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One shared content pipeline.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因为前面的所有内容和玩法最终都建立在同一套 mathematical content system 上。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对我来说，项目真正有价值的地方不是我在几天里堆了多少 features，而是这些 features 没有变成彼此孤立的 prototype。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它们最终组成了一个可以继续扩展的系统。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最后，我从这个项目里总结了四件事情。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第一，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Design for Iteration。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与其一开始设计一个巨大的最终系统，我更倾向于先完成最小但完整的体验，验证以后再扩展。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第二，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Separate Content from Presentation。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MathSmith 最终能够支持多个 Mode，很大程度上是因为 mathematical content 和 gameplay presentation 从一开始就是分开的。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第三，也是我觉得最重要的一点：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Test meaning, not only correctness.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一个系统完全可以在技术上没有 bug、数学上也完全正确，但仍然产生很差的学习体验。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 playtest 不是 implementation 结束以后才做的 QA，而是设计过程的一部分。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第四，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Keep every milestone playable。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每个 milestone 结束时，我希望留下的是一个稳定、可展示、可以继续收集 feedback 的 build，而不是一堆 disconnected unfinished systems。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如果继续开发，M5 我会开始 Behavior Tracking 和 Adaptive Practice；M6 会把 content pipeline 开放给教师，通过 CSV/JSON 和 Visual Editor 创建内容；M7 再考虑 Guided Smart Tutor。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我故意把 AI Tutor 放得比较后面，因为我希望先把 deterministic learning systems、content pipeline 和 player data 建好，再决定 AI 应该在哪里真正增加价值。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所以我把 MathSmith 看成一个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extensible foundation，而不是一次性的 interview demo。</a:t>
            </a:r>
            <a:endParaRPr/>
          </a:p>
        </p:txBody>
      </p:sp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496119" y="1748210"/>
            <a:ext cx="8151763" cy="460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MathSmith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7"/>
          <p:cNvSpPr/>
          <p:nvPr/>
        </p:nvSpPr>
        <p:spPr>
          <a:xfrm>
            <a:off x="496119" y="2492425"/>
            <a:ext cx="8151763" cy="527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rPr>
              <a:t>A Data-Driven Math Learning Game Prototype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5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Learn the process, not just the answer.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7"/>
          <p:cNvSpPr/>
          <p:nvPr/>
        </p:nvSpPr>
        <p:spPr>
          <a:xfrm>
            <a:off x="496119" y="3179862"/>
            <a:ext cx="555054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629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7"/>
          <p:cNvSpPr/>
          <p:nvPr/>
        </p:nvSpPr>
        <p:spPr>
          <a:xfrm>
            <a:off x="581174" y="3222352"/>
            <a:ext cx="842144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296FF"/>
              </a:buClr>
              <a:buSzPts val="850"/>
              <a:buFont typeface="Geist"/>
              <a:buNone/>
            </a:pPr>
            <a:r>
              <a:rPr b="0" i="0" lang="en-US" sz="850" u="none" cap="none" strike="noStrike">
                <a:solidFill>
                  <a:srgbClr val="6296FF"/>
                </a:solidFill>
                <a:latin typeface="Geist"/>
                <a:ea typeface="Geist"/>
                <a:cs typeface="Geist"/>
                <a:sym typeface="Geist"/>
              </a:rPr>
              <a:t>GODOT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7"/>
          <p:cNvSpPr/>
          <p:nvPr/>
        </p:nvSpPr>
        <p:spPr>
          <a:xfrm>
            <a:off x="1122015" y="3179862"/>
            <a:ext cx="931515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629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7"/>
          <p:cNvSpPr/>
          <p:nvPr/>
        </p:nvSpPr>
        <p:spPr>
          <a:xfrm>
            <a:off x="1207071" y="3222352"/>
            <a:ext cx="1218605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296FF"/>
              </a:buClr>
              <a:buSzPts val="850"/>
              <a:buFont typeface="Geist"/>
              <a:buNone/>
            </a:pPr>
            <a:r>
              <a:rPr b="0" i="0" lang="en-US" sz="850" u="none" cap="none" strike="noStrike">
                <a:solidFill>
                  <a:srgbClr val="6296FF"/>
                </a:solidFill>
                <a:latin typeface="Geist"/>
                <a:ea typeface="Geist"/>
                <a:cs typeface="Geist"/>
                <a:sym typeface="Geist"/>
              </a:rPr>
              <a:t>GAME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7"/>
          <p:cNvSpPr/>
          <p:nvPr/>
        </p:nvSpPr>
        <p:spPr>
          <a:xfrm>
            <a:off x="2124373" y="3179862"/>
            <a:ext cx="1226716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629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7"/>
          <p:cNvSpPr/>
          <p:nvPr/>
        </p:nvSpPr>
        <p:spPr>
          <a:xfrm>
            <a:off x="2209428" y="3222352"/>
            <a:ext cx="1513805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296FF"/>
              </a:buClr>
              <a:buSzPts val="850"/>
              <a:buFont typeface="Geist"/>
              <a:buNone/>
            </a:pPr>
            <a:r>
              <a:rPr b="0" i="0" lang="en-US" sz="850" u="none" cap="none" strike="noStrike">
                <a:solidFill>
                  <a:srgbClr val="6296FF"/>
                </a:solidFill>
                <a:latin typeface="Geist"/>
                <a:ea typeface="Geist"/>
                <a:cs typeface="Geist"/>
                <a:sym typeface="Geist"/>
              </a:rPr>
              <a:t>TECHNICAL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3421931" y="3179862"/>
            <a:ext cx="1722239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629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3506986" y="3222352"/>
            <a:ext cx="2009329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296FF"/>
              </a:buClr>
              <a:buSzPts val="850"/>
              <a:buFont typeface="Geist"/>
              <a:buNone/>
            </a:pPr>
            <a:r>
              <a:rPr b="0" i="0" lang="en-US" sz="850" u="none" cap="none" strike="noStrike">
                <a:solidFill>
                  <a:srgbClr val="6296FF"/>
                </a:solidFill>
                <a:latin typeface="Geist"/>
                <a:ea typeface="Geist"/>
                <a:cs typeface="Geist"/>
                <a:sym typeface="Geist"/>
              </a:rPr>
              <a:t>EDUCATIONAL GAME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496119" y="619125"/>
            <a:ext cx="8151900" cy="46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What I Wanted to Prove</a:t>
            </a:r>
            <a:endParaRPr b="1" sz="2800">
              <a:solidFill>
                <a:srgbClr val="F2F5FA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grpSp>
        <p:nvGrpSpPr>
          <p:cNvPr id="42" name="Google Shape;42;p8"/>
          <p:cNvGrpSpPr/>
          <p:nvPr/>
        </p:nvGrpSpPr>
        <p:grpSpPr>
          <a:xfrm>
            <a:off x="495300" y="1381125"/>
            <a:ext cx="2514600" cy="3000300"/>
            <a:chOff x="0" y="0"/>
            <a:chExt cx="2514600" cy="3000300"/>
          </a:xfrm>
        </p:grpSpPr>
        <p:sp>
          <p:nvSpPr>
            <p:cNvPr id="43" name="Google Shape;43;p8"/>
            <p:cNvSpPr/>
            <p:nvPr/>
          </p:nvSpPr>
          <p:spPr>
            <a:xfrm>
              <a:off x="0" y="0"/>
              <a:ext cx="2514600" cy="3000300"/>
            </a:xfrm>
            <a:prstGeom prst="roundRect">
              <a:avLst>
                <a:gd fmla="val 3787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8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8"/>
            <p:cNvSpPr txBox="1"/>
            <p:nvPr/>
          </p:nvSpPr>
          <p:spPr>
            <a:xfrm>
              <a:off x="190500" y="238125"/>
              <a:ext cx="2133600" cy="25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01 / DESIGN</a:t>
              </a:r>
              <a:endParaRPr b="1" sz="10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Can players learn mathematical reasoning by </a:t>
              </a:r>
              <a:r>
                <a:rPr b="1" lang="en-US" sz="1250">
                  <a:solidFill>
                    <a:srgbClr val="FFFFFF"/>
                  </a:solidFill>
                  <a:latin typeface="Geist"/>
                  <a:ea typeface="Geist"/>
                  <a:cs typeface="Geist"/>
                  <a:sym typeface="Geist"/>
                </a:rPr>
                <a:t>rebuilding the solution process</a:t>
              </a:r>
              <a:r>
                <a:rPr b="0" lang="en-US" sz="125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?</a:t>
              </a:r>
              <a:endParaRPr b="0" sz="12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Turn calculation steps into interactive gameplay instead of asking only for a final answer.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46" name="Google Shape;46;p8"/>
          <p:cNvGrpSpPr/>
          <p:nvPr/>
        </p:nvGrpSpPr>
        <p:grpSpPr>
          <a:xfrm>
            <a:off x="3314700" y="1381125"/>
            <a:ext cx="2514600" cy="3000300"/>
            <a:chOff x="0" y="0"/>
            <a:chExt cx="2514600" cy="3000300"/>
          </a:xfrm>
        </p:grpSpPr>
        <p:sp>
          <p:nvSpPr>
            <p:cNvPr id="47" name="Google Shape;47;p8"/>
            <p:cNvSpPr/>
            <p:nvPr/>
          </p:nvSpPr>
          <p:spPr>
            <a:xfrm>
              <a:off x="0" y="0"/>
              <a:ext cx="2514600" cy="3000300"/>
            </a:xfrm>
            <a:prstGeom prst="roundRect">
              <a:avLst>
                <a:gd fmla="val 3787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8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8"/>
            <p:cNvSpPr txBox="1"/>
            <p:nvPr/>
          </p:nvSpPr>
          <p:spPr>
            <a:xfrm>
              <a:off x="190500" y="238125"/>
              <a:ext cx="2133600" cy="25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02 / TECHNICAL</a:t>
              </a:r>
              <a:endParaRPr b="1" sz="10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Can mathematical expressions </a:t>
              </a:r>
              <a:r>
                <a:rPr b="1" lang="en-US" sz="1250">
                  <a:solidFill>
                    <a:srgbClr val="FFFFFF"/>
                  </a:solidFill>
                  <a:latin typeface="Geist"/>
                  <a:ea typeface="Geist"/>
                  <a:cs typeface="Geist"/>
                  <a:sym typeface="Geist"/>
                </a:rPr>
                <a:t>automatically become playable content</a:t>
              </a:r>
              <a:r>
                <a:rPr b="0" lang="en-US" sz="125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?</a:t>
              </a:r>
              <a:endParaRPr b="0" sz="12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Build a reusable system that parses expressions and generates human-readable solution steps at runtime.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50" name="Google Shape;50;p8"/>
          <p:cNvGrpSpPr/>
          <p:nvPr/>
        </p:nvGrpSpPr>
        <p:grpSpPr>
          <a:xfrm>
            <a:off x="6134100" y="1381125"/>
            <a:ext cx="2514600" cy="3000300"/>
            <a:chOff x="0" y="0"/>
            <a:chExt cx="2514600" cy="3000300"/>
          </a:xfrm>
        </p:grpSpPr>
        <p:sp>
          <p:nvSpPr>
            <p:cNvPr id="51" name="Google Shape;51;p8"/>
            <p:cNvSpPr/>
            <p:nvPr/>
          </p:nvSpPr>
          <p:spPr>
            <a:xfrm>
              <a:off x="0" y="0"/>
              <a:ext cx="2514600" cy="3000300"/>
            </a:xfrm>
            <a:prstGeom prst="roundRect">
              <a:avLst>
                <a:gd fmla="val 3787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8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 txBox="1"/>
            <p:nvPr/>
          </p:nvSpPr>
          <p:spPr>
            <a:xfrm>
              <a:off x="190500" y="238125"/>
              <a:ext cx="2133600" cy="25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03 / PRODUCTION</a:t>
              </a:r>
              <a:endParaRPr b="1" sz="10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Can I rapidly build an </a:t>
              </a:r>
              <a:r>
                <a:rPr b="1" lang="en-US" sz="1250">
                  <a:solidFill>
                    <a:srgbClr val="FFFFFF"/>
                  </a:solidFill>
                  <a:latin typeface="Geist"/>
                  <a:ea typeface="Geist"/>
                  <a:cs typeface="Geist"/>
                  <a:sym typeface="Geist"/>
                </a:rPr>
                <a:t>extensible, presentable vertical slice</a:t>
              </a:r>
              <a:r>
                <a:rPr b="0" lang="en-US" sz="125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?</a:t>
              </a:r>
              <a:endParaRPr b="0" sz="12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Prioritize the highest-risk systems first while keeping the project playable throughout development.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>
            <a:off x="496119" y="883221"/>
            <a:ext cx="81519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Before I Build — Define, Align, De-risk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" name="Google Shape;60;p9"/>
          <p:cNvGrpSpPr/>
          <p:nvPr/>
        </p:nvGrpSpPr>
        <p:grpSpPr>
          <a:xfrm>
            <a:off x="495300" y="1524000"/>
            <a:ext cx="1905000" cy="2762400"/>
            <a:chOff x="0" y="0"/>
            <a:chExt cx="1905000" cy="2762400"/>
          </a:xfrm>
        </p:grpSpPr>
        <p:sp>
          <p:nvSpPr>
            <p:cNvPr id="61" name="Google Shape;61;p9"/>
            <p:cNvSpPr/>
            <p:nvPr/>
          </p:nvSpPr>
          <p:spPr>
            <a:xfrm>
              <a:off x="0" y="0"/>
              <a:ext cx="1905000" cy="2762400"/>
            </a:xfrm>
            <a:prstGeom prst="roundRect">
              <a:avLst>
                <a:gd fmla="val 4000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9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9"/>
            <p:cNvSpPr txBox="1"/>
            <p:nvPr/>
          </p:nvSpPr>
          <p:spPr>
            <a:xfrm>
              <a:off x="0" y="0"/>
              <a:ext cx="1905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42875" spcFirstLastPara="1" rIns="142875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01 / DESIGN</a:t>
              </a:r>
              <a:endParaRPr b="1" sz="9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Target player</a:t>
              </a:r>
              <a:r>
                <a:rPr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&amp; learning goals</a:t>
              </a:r>
              <a:endParaRPr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4A3B8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Core player verbs</a:t>
              </a:r>
              <a:r>
                <a:rPr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&amp; feedback loop</a:t>
              </a:r>
              <a:endParaRPr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94A3B8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Success criteria</a:t>
              </a:r>
              <a:r>
                <a:rPr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&amp; key assumptions</a:t>
              </a:r>
              <a:endParaRPr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64" name="Google Shape;64;p9"/>
          <p:cNvGrpSpPr/>
          <p:nvPr/>
        </p:nvGrpSpPr>
        <p:grpSpPr>
          <a:xfrm>
            <a:off x="2571750" y="1524000"/>
            <a:ext cx="1905000" cy="2762400"/>
            <a:chOff x="0" y="0"/>
            <a:chExt cx="1905000" cy="2762400"/>
          </a:xfrm>
        </p:grpSpPr>
        <p:sp>
          <p:nvSpPr>
            <p:cNvPr id="65" name="Google Shape;65;p9"/>
            <p:cNvSpPr/>
            <p:nvPr/>
          </p:nvSpPr>
          <p:spPr>
            <a:xfrm>
              <a:off x="0" y="0"/>
              <a:ext cx="1905000" cy="2762400"/>
            </a:xfrm>
            <a:prstGeom prst="roundRect">
              <a:avLst>
                <a:gd fmla="val 4000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9"/>
            <p:cNvSpPr txBox="1"/>
            <p:nvPr/>
          </p:nvSpPr>
          <p:spPr>
            <a:xfrm>
              <a:off x="0" y="0"/>
              <a:ext cx="1905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42875" spcFirstLastPara="1" rIns="142875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79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02 / SCOPE &amp; PROD</a:t>
              </a:r>
              <a:endParaRPr b="1" sz="879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0274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971"/>
                <a:buFont typeface="Geist"/>
                <a:buChar char="●"/>
              </a:pPr>
              <a:r>
                <a:rPr b="0" lang="en-US" sz="971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Prioritization</a:t>
              </a:r>
              <a:r>
                <a:rPr lang="en-US" sz="971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(Must/Should/Nice)</a:t>
              </a:r>
              <a:endParaRPr sz="971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0274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4A3B8"/>
                </a:buClr>
                <a:buSzPts val="971"/>
                <a:buFont typeface="Geist"/>
                <a:buChar char="●"/>
              </a:pPr>
              <a:r>
                <a:rPr b="0" lang="en-US" sz="971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Highest-risk</a:t>
              </a:r>
              <a:r>
                <a:rPr lang="en-US" sz="971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assumptions &amp; MVP</a:t>
              </a:r>
              <a:endParaRPr sz="971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0274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94A3B8"/>
                </a:buClr>
                <a:buSzPts val="971"/>
                <a:buFont typeface="Geist"/>
                <a:buChar char="●"/>
              </a:pPr>
              <a:r>
                <a:rPr b="0" lang="en-US" sz="971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Playable milestones</a:t>
              </a:r>
              <a:r>
                <a:rPr lang="en-US" sz="971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&amp; dependencies</a:t>
              </a:r>
              <a:endParaRPr sz="971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68" name="Google Shape;68;p9"/>
          <p:cNvGrpSpPr/>
          <p:nvPr/>
        </p:nvGrpSpPr>
        <p:grpSpPr>
          <a:xfrm>
            <a:off x="4648200" y="1524000"/>
            <a:ext cx="1905000" cy="2762400"/>
            <a:chOff x="0" y="0"/>
            <a:chExt cx="1905000" cy="2762400"/>
          </a:xfrm>
        </p:grpSpPr>
        <p:sp>
          <p:nvSpPr>
            <p:cNvPr id="69" name="Google Shape;69;p9"/>
            <p:cNvSpPr/>
            <p:nvPr/>
          </p:nvSpPr>
          <p:spPr>
            <a:xfrm>
              <a:off x="0" y="0"/>
              <a:ext cx="1905000" cy="2762400"/>
            </a:xfrm>
            <a:prstGeom prst="roundRect">
              <a:avLst>
                <a:gd fmla="val 4000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9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 txBox="1"/>
            <p:nvPr/>
          </p:nvSpPr>
          <p:spPr>
            <a:xfrm>
              <a:off x="0" y="0"/>
              <a:ext cx="1905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42875" spcFirstLastPara="1" rIns="142875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03 / RESOURCES</a:t>
              </a:r>
              <a:endParaRPr b="1" sz="9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Engine &amp; tools</a:t>
              </a:r>
              <a:r>
                <a:rPr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(plugins, existing systems)</a:t>
              </a:r>
              <a:endParaRPr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4A3B8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Content pipelines</a:t>
              </a:r>
              <a:r>
                <a:rPr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(Art, UI, audio)</a:t>
              </a:r>
              <a:endParaRPr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94A3B8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Team expertise</a:t>
              </a:r>
              <a:r>
                <a:rPr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&amp; tech constraints</a:t>
              </a:r>
              <a:endParaRPr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72" name="Google Shape;72;p9"/>
          <p:cNvGrpSpPr/>
          <p:nvPr/>
        </p:nvGrpSpPr>
        <p:grpSpPr>
          <a:xfrm>
            <a:off x="6724650" y="1524000"/>
            <a:ext cx="1905000" cy="2762400"/>
            <a:chOff x="0" y="0"/>
            <a:chExt cx="1905000" cy="2762400"/>
          </a:xfrm>
        </p:grpSpPr>
        <p:sp>
          <p:nvSpPr>
            <p:cNvPr id="73" name="Google Shape;73;p9"/>
            <p:cNvSpPr/>
            <p:nvPr/>
          </p:nvSpPr>
          <p:spPr>
            <a:xfrm>
              <a:off x="0" y="0"/>
              <a:ext cx="1905000" cy="2762400"/>
            </a:xfrm>
            <a:prstGeom prst="roundRect">
              <a:avLst>
                <a:gd fmla="val 4000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9"/>
            <p:cNvSpPr txBox="1"/>
            <p:nvPr/>
          </p:nvSpPr>
          <p:spPr>
            <a:xfrm>
              <a:off x="0" y="0"/>
              <a:ext cx="1905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42875" spcFirstLastPara="1" rIns="142875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04 / ALIGNMENT</a:t>
              </a:r>
              <a:endParaRPr b="1" sz="9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Cross-functional</a:t>
              </a:r>
              <a:r>
                <a:rPr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(Design, Eng, Art, Prod)</a:t>
              </a:r>
              <a:endParaRPr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94A3B8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Shared Definition</a:t>
              </a:r>
              <a:r>
                <a:rPr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 of Done</a:t>
              </a:r>
              <a:endParaRPr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sp>
        <p:nvSpPr>
          <p:cNvPr id="76" name="Google Shape;76;p9"/>
          <p:cNvSpPr txBox="1"/>
          <p:nvPr/>
        </p:nvSpPr>
        <p:spPr>
          <a:xfrm>
            <a:off x="495300" y="4476750"/>
            <a:ext cx="813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rPr>
              <a:t>Define Align De-risk Build</a:t>
            </a:r>
            <a:endParaRPr b="1" sz="1050">
              <a:solidFill>
                <a:srgbClr val="00D4FF"/>
              </a:solidFill>
              <a:latin typeface="Geist"/>
              <a:ea typeface="Geist"/>
              <a:cs typeface="Geist"/>
              <a:sym typeface="Ge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496119" y="434578"/>
            <a:ext cx="8151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500"/>
              <a:buFont typeface="Geist"/>
              <a:buNone/>
            </a:pPr>
            <a:r>
              <a:rPr b="1" i="0" lang="en-US" sz="25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Milestone Strategy — </a:t>
            </a:r>
            <a:r>
              <a:rPr b="1" i="0" lang="en-US" sz="2500" u="none" cap="none" strike="noStrike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rPr>
              <a:t>Always Keep It Playable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96119" y="1115616"/>
            <a:ext cx="86091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Each milestone expanded multiple parts of the project while preserving a complete end-to-end player experience.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10"/>
          <p:cNvGrpSpPr/>
          <p:nvPr/>
        </p:nvGrpSpPr>
        <p:grpSpPr>
          <a:xfrm>
            <a:off x="495300" y="1571625"/>
            <a:ext cx="1905000" cy="2571900"/>
            <a:chOff x="0" y="0"/>
            <a:chExt cx="1905000" cy="2571900"/>
          </a:xfrm>
        </p:grpSpPr>
        <p:sp>
          <p:nvSpPr>
            <p:cNvPr id="85" name="Google Shape;85;p10"/>
            <p:cNvSpPr/>
            <p:nvPr/>
          </p:nvSpPr>
          <p:spPr>
            <a:xfrm>
              <a:off x="0" y="0"/>
              <a:ext cx="1905000" cy="2571900"/>
            </a:xfrm>
            <a:prstGeom prst="roundRect">
              <a:avLst>
                <a:gd fmla="val 4000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 txBox="1"/>
            <p:nvPr/>
          </p:nvSpPr>
          <p:spPr>
            <a:xfrm>
              <a:off x="0" y="0"/>
              <a:ext cx="1905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42875" spcFirstLastPara="1" rIns="14287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01 / PROVE</a:t>
              </a:r>
              <a:endParaRPr b="1" sz="9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Core Gameplay</a:t>
              </a:r>
              <a:endParaRPr b="1" sz="14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Gameplay · Math Systems · Data · Basic UI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88" name="Google Shape;88;p10"/>
          <p:cNvGrpSpPr/>
          <p:nvPr/>
        </p:nvGrpSpPr>
        <p:grpSpPr>
          <a:xfrm>
            <a:off x="2571750" y="1571625"/>
            <a:ext cx="1905000" cy="2571900"/>
            <a:chOff x="0" y="0"/>
            <a:chExt cx="1905000" cy="2571900"/>
          </a:xfrm>
        </p:grpSpPr>
        <p:sp>
          <p:nvSpPr>
            <p:cNvPr id="89" name="Google Shape;89;p10"/>
            <p:cNvSpPr/>
            <p:nvPr/>
          </p:nvSpPr>
          <p:spPr>
            <a:xfrm>
              <a:off x="0" y="0"/>
              <a:ext cx="1905000" cy="2571900"/>
            </a:xfrm>
            <a:prstGeom prst="roundRect">
              <a:avLst>
                <a:gd fmla="val 4000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0"/>
            <p:cNvSpPr txBox="1"/>
            <p:nvPr/>
          </p:nvSpPr>
          <p:spPr>
            <a:xfrm>
              <a:off x="0" y="0"/>
              <a:ext cx="1905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42875" spcFirstLastPara="1" rIns="14287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02 / SCALE</a:t>
              </a:r>
              <a:endParaRPr b="1" sz="9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Complete Flow</a:t>
              </a:r>
              <a:endParaRPr b="1" sz="14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Content · Architecture · Navigation · UI/UX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92" name="Google Shape;92;p10"/>
          <p:cNvGrpSpPr/>
          <p:nvPr/>
        </p:nvGrpSpPr>
        <p:grpSpPr>
          <a:xfrm>
            <a:off x="4648200" y="1571625"/>
            <a:ext cx="1905000" cy="2571900"/>
            <a:chOff x="0" y="0"/>
            <a:chExt cx="1905000" cy="2571900"/>
          </a:xfrm>
        </p:grpSpPr>
        <p:sp>
          <p:nvSpPr>
            <p:cNvPr id="93" name="Google Shape;93;p10"/>
            <p:cNvSpPr/>
            <p:nvPr/>
          </p:nvSpPr>
          <p:spPr>
            <a:xfrm>
              <a:off x="0" y="0"/>
              <a:ext cx="1905000" cy="2571900"/>
            </a:xfrm>
            <a:prstGeom prst="roundRect">
              <a:avLst>
                <a:gd fmla="val 4000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0"/>
            <p:cNvSpPr txBox="1"/>
            <p:nvPr/>
          </p:nvSpPr>
          <p:spPr>
            <a:xfrm>
              <a:off x="0" y="0"/>
              <a:ext cx="1905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42875" spcFirstLastPara="1" rIns="14287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03 / EXTEND</a:t>
              </a:r>
              <a:endParaRPr b="1" sz="9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Gameplay Loop</a:t>
              </a:r>
              <a:endParaRPr b="1" sz="14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Gameplay Modes · Feedback · Content · Polish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96" name="Google Shape;96;p10"/>
          <p:cNvGrpSpPr/>
          <p:nvPr/>
        </p:nvGrpSpPr>
        <p:grpSpPr>
          <a:xfrm>
            <a:off x="6724650" y="1571625"/>
            <a:ext cx="1905000" cy="2571900"/>
            <a:chOff x="0" y="0"/>
            <a:chExt cx="1905000" cy="2571900"/>
          </a:xfrm>
        </p:grpSpPr>
        <p:sp>
          <p:nvSpPr>
            <p:cNvPr id="97" name="Google Shape;97;p10"/>
            <p:cNvSpPr/>
            <p:nvPr/>
          </p:nvSpPr>
          <p:spPr>
            <a:xfrm>
              <a:off x="0" y="0"/>
              <a:ext cx="1905000" cy="2571900"/>
            </a:xfrm>
            <a:prstGeom prst="roundRect">
              <a:avLst>
                <a:gd fmla="val 4000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0"/>
            <p:cNvSpPr txBox="1"/>
            <p:nvPr/>
          </p:nvSpPr>
          <p:spPr>
            <a:xfrm>
              <a:off x="0" y="0"/>
              <a:ext cx="1905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42875" spcFirstLastPara="1" rIns="14287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04 / COMPLETE</a:t>
              </a:r>
              <a:endParaRPr b="1" sz="9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Learning Loop</a:t>
              </a:r>
              <a:endParaRPr b="1" sz="14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Progression · Save · Review · Replay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sp>
        <p:nvSpPr>
          <p:cNvPr id="100" name="Google Shape;100;p10"/>
          <p:cNvSpPr txBox="1"/>
          <p:nvPr/>
        </p:nvSpPr>
        <p:spPr>
          <a:xfrm>
            <a:off x="495300" y="4429125"/>
            <a:ext cx="813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rPr>
              <a:t>Prove → Scale → Extend → Complete</a:t>
            </a:r>
            <a:endParaRPr b="1" sz="1050">
              <a:solidFill>
                <a:srgbClr val="00D4FF"/>
              </a:solidFill>
              <a:latin typeface="Geist"/>
              <a:ea typeface="Geist"/>
              <a:cs typeface="Geist"/>
              <a:sym typeface="Ge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95300" y="428625"/>
            <a:ext cx="8153400" cy="762000"/>
            <a:chOff x="0" y="0"/>
            <a:chExt cx="8153400" cy="762000"/>
          </a:xfrm>
        </p:grpSpPr>
        <p:sp>
          <p:nvSpPr>
            <p:cNvPr id="107" name="Google Shape;107;p11"/>
            <p:cNvSpPr/>
            <p:nvPr/>
          </p:nvSpPr>
          <p:spPr>
            <a:xfrm>
              <a:off x="0" y="0"/>
              <a:ext cx="838200" cy="209700"/>
            </a:xfrm>
            <a:prstGeom prst="roundRect">
              <a:avLst>
                <a:gd fmla="val 22727" name="adj"/>
              </a:avLst>
            </a:prstGeom>
            <a:solidFill>
              <a:srgbClr val="001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 txBox="1"/>
            <p:nvPr/>
          </p:nvSpPr>
          <p:spPr>
            <a:xfrm>
              <a:off x="0" y="0"/>
              <a:ext cx="8382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M1 — PROVE</a:t>
              </a:r>
              <a:endParaRPr b="1" sz="8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sp>
          <p:nvSpPr>
            <p:cNvPr id="109" name="Google Shape;109;p11"/>
            <p:cNvSpPr txBox="1"/>
            <p:nvPr/>
          </p:nvSpPr>
          <p:spPr>
            <a:xfrm>
              <a:off x="0" y="304800"/>
              <a:ext cx="8153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5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Validate the Core Mechanic</a:t>
              </a:r>
              <a:endParaRPr b="1" sz="26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10" name="Google Shape;110;p11"/>
          <p:cNvGrpSpPr/>
          <p:nvPr/>
        </p:nvGrpSpPr>
        <p:grpSpPr>
          <a:xfrm>
            <a:off x="495300" y="1381125"/>
            <a:ext cx="8153400" cy="400200"/>
            <a:chOff x="0" y="0"/>
            <a:chExt cx="8153400" cy="400200"/>
          </a:xfrm>
        </p:grpSpPr>
        <p:sp>
          <p:nvSpPr>
            <p:cNvPr id="111" name="Google Shape;111;p11"/>
            <p:cNvSpPr/>
            <p:nvPr/>
          </p:nvSpPr>
          <p:spPr>
            <a:xfrm>
              <a:off x="0" y="0"/>
              <a:ext cx="38100" cy="4002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 txBox="1"/>
            <p:nvPr/>
          </p:nvSpPr>
          <p:spPr>
            <a:xfrm>
              <a:off x="152400" y="0"/>
              <a:ext cx="800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Goal:</a:t>
              </a:r>
              <a:r>
                <a:rPr lang="en-US" sz="11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Validate whether rebuilding mathematical reasoning could work as a game mechanic.</a:t>
              </a:r>
              <a:endParaRPr sz="11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13" name="Google Shape;113;p11"/>
          <p:cNvGrpSpPr/>
          <p:nvPr/>
        </p:nvGrpSpPr>
        <p:grpSpPr>
          <a:xfrm>
            <a:off x="495300" y="1952625"/>
            <a:ext cx="3905400" cy="2571900"/>
            <a:chOff x="0" y="0"/>
            <a:chExt cx="3905400" cy="2571900"/>
          </a:xfrm>
        </p:grpSpPr>
        <p:sp>
          <p:nvSpPr>
            <p:cNvPr id="114" name="Google Shape;114;p11"/>
            <p:cNvSpPr/>
            <p:nvPr/>
          </p:nvSpPr>
          <p:spPr>
            <a:xfrm>
              <a:off x="0" y="0"/>
              <a:ext cx="3905400" cy="2571900"/>
            </a:xfrm>
            <a:prstGeom prst="roundRect">
              <a:avLst>
                <a:gd fmla="val 2962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2433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 txBox="1"/>
            <p:nvPr/>
          </p:nvSpPr>
          <p:spPr>
            <a:xfrm>
              <a:off x="0" y="0"/>
              <a:ext cx="3905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190500" spcFirstLastPara="1" rIns="190500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01 / DEVELOPMENT DELIVERABLES</a:t>
              </a:r>
              <a:endParaRPr b="1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Built Systems</a:t>
              </a:r>
              <a:endParaRPr b="1" sz="15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JSON-driven</a:t>
              </a:r>
              <a:r>
                <a:rPr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questions and levels</a:t>
              </a:r>
              <a:endParaRPr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Expression Parser</a:t>
              </a:r>
              <a:r>
                <a:rPr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&amp; Procedural Generator</a:t>
              </a:r>
              <a:endParaRPr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Step Ordering</a:t>
              </a:r>
              <a:r>
                <a:rPr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gameplay with drag &amp; drop</a:t>
              </a:r>
              <a:endParaRPr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Real-time Feedback</a:t>
              </a:r>
              <a:r>
                <a:rPr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(Check / Next / Hint)</a:t>
              </a:r>
              <a:endParaRPr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End-to-End</a:t>
              </a:r>
              <a:r>
                <a:rPr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complete question flow</a:t>
              </a:r>
              <a:endParaRPr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17" name="Google Shape;117;p11"/>
          <p:cNvGrpSpPr/>
          <p:nvPr/>
        </p:nvGrpSpPr>
        <p:grpSpPr>
          <a:xfrm>
            <a:off x="4743450" y="1952625"/>
            <a:ext cx="3905400" cy="2571900"/>
            <a:chOff x="0" y="0"/>
            <a:chExt cx="3905400" cy="2571900"/>
          </a:xfrm>
        </p:grpSpPr>
        <p:sp>
          <p:nvSpPr>
            <p:cNvPr id="118" name="Google Shape;118;p11"/>
            <p:cNvSpPr/>
            <p:nvPr/>
          </p:nvSpPr>
          <p:spPr>
            <a:xfrm>
              <a:off x="0" y="0"/>
              <a:ext cx="3905400" cy="2571900"/>
            </a:xfrm>
            <a:prstGeom prst="roundRect">
              <a:avLst>
                <a:gd fmla="val 2962" name="adj"/>
              </a:avLst>
            </a:prstGeom>
            <a:solidFill>
              <a:srgbClr val="131B26"/>
            </a:solidFill>
            <a:ln cap="flat" cmpd="sng" w="14300">
              <a:solidFill>
                <a:srgbClr val="00D4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 txBox="1"/>
            <p:nvPr/>
          </p:nvSpPr>
          <p:spPr>
            <a:xfrm>
              <a:off x="0" y="0"/>
              <a:ext cx="3905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190500" spcFirstLastPara="1" rIns="190500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D4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r>
                <a:rPr b="1" lang="en-US" sz="10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02 / VALIDATION OUTCOME</a:t>
              </a:r>
              <a:endParaRPr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Key Result Achieved</a:t>
              </a:r>
              <a:endParaRPr b="1" sz="16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A mathematical expression can successfully be translated into an </a:t>
              </a:r>
              <a:r>
                <a:rPr b="1" lang="en-US" sz="12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interactive step-ordering puzzle</a:t>
              </a:r>
              <a:r>
                <a:rPr b="0" lang="en-US" sz="120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.</a:t>
              </a:r>
              <a:endParaRPr b="0" sz="120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2F5FA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No manual solution authoring is required—the procedural generator handles 100% of the reasoning tree.</a:t>
              </a:r>
              <a:endParaRPr b="0" sz="1200">
                <a:solidFill>
                  <a:srgbClr val="F2F5FA"/>
                </a:solidFill>
                <a:latin typeface="Geist SemiBold"/>
                <a:ea typeface="Geist SemiBold"/>
                <a:cs typeface="Geist SemiBold"/>
                <a:sym typeface="Geist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2"/>
          <p:cNvGrpSpPr/>
          <p:nvPr/>
        </p:nvGrpSpPr>
        <p:grpSpPr>
          <a:xfrm>
            <a:off x="495300" y="428625"/>
            <a:ext cx="857400" cy="209700"/>
            <a:chOff x="0" y="0"/>
            <a:chExt cx="857400" cy="209700"/>
          </a:xfrm>
        </p:grpSpPr>
        <p:sp>
          <p:nvSpPr>
            <p:cNvPr id="127" name="Google Shape;127;p12"/>
            <p:cNvSpPr/>
            <p:nvPr/>
          </p:nvSpPr>
          <p:spPr>
            <a:xfrm>
              <a:off x="0" y="0"/>
              <a:ext cx="857400" cy="209700"/>
            </a:xfrm>
            <a:prstGeom prst="roundRect">
              <a:avLst>
                <a:gd fmla="val 22727" name="adj"/>
              </a:avLst>
            </a:prstGeom>
            <a:solidFill>
              <a:srgbClr val="001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2"/>
            <p:cNvSpPr txBox="1"/>
            <p:nvPr/>
          </p:nvSpPr>
          <p:spPr>
            <a:xfrm>
              <a:off x="0" y="0"/>
              <a:ext cx="857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M2 — SCALE</a:t>
              </a:r>
              <a:endParaRPr b="1" sz="8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sp>
        <p:nvSpPr>
          <p:cNvPr id="129" name="Google Shape;129;p12"/>
          <p:cNvSpPr txBox="1"/>
          <p:nvPr/>
        </p:nvSpPr>
        <p:spPr>
          <a:xfrm>
            <a:off x="495300" y="714375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Test Whether the System Could Scale</a:t>
            </a:r>
            <a:endParaRPr b="1" sz="2650">
              <a:solidFill>
                <a:srgbClr val="F2F5FA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grpSp>
        <p:nvGrpSpPr>
          <p:cNvPr id="130" name="Google Shape;130;p12"/>
          <p:cNvGrpSpPr/>
          <p:nvPr/>
        </p:nvGrpSpPr>
        <p:grpSpPr>
          <a:xfrm>
            <a:off x="495300" y="1285875"/>
            <a:ext cx="8153400" cy="381000"/>
            <a:chOff x="0" y="0"/>
            <a:chExt cx="8153400" cy="381000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2"/>
            <p:cNvSpPr txBox="1"/>
            <p:nvPr/>
          </p:nvSpPr>
          <p:spPr>
            <a:xfrm>
              <a:off x="15240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Goal:</a:t>
              </a:r>
              <a:r>
                <a:rPr b="0" lang="en-US" sz="11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Test whether the core system could scale beyond a single gameplay prototype.</a:t>
              </a:r>
              <a:endParaRPr b="1" sz="11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33" name="Google Shape;133;p12"/>
          <p:cNvGrpSpPr/>
          <p:nvPr/>
        </p:nvGrpSpPr>
        <p:grpSpPr>
          <a:xfrm>
            <a:off x="495300" y="1857375"/>
            <a:ext cx="3048000" cy="2667000"/>
            <a:chOff x="0" y="0"/>
            <a:chExt cx="3048000" cy="2667000"/>
          </a:xfrm>
        </p:grpSpPr>
        <p:sp>
          <p:nvSpPr>
            <p:cNvPr id="134" name="Google Shape;134;p12"/>
            <p:cNvSpPr/>
            <p:nvPr/>
          </p:nvSpPr>
          <p:spPr>
            <a:xfrm>
              <a:off x="0" y="0"/>
              <a:ext cx="3048000" cy="2667000"/>
            </a:xfrm>
            <a:prstGeom prst="roundRect">
              <a:avLst>
                <a:gd fmla="val 2857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0" y="0"/>
              <a:ext cx="30480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2"/>
            <p:cNvSpPr txBox="1"/>
            <p:nvPr/>
          </p:nvSpPr>
          <p:spPr>
            <a:xfrm>
              <a:off x="0" y="0"/>
              <a:ext cx="3048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190500" spcFirstLastPara="1" rIns="190500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KEY DESIGN DECISION</a:t>
              </a:r>
              <a:endParaRPr b="1" sz="9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Keep Authored Content Minimal</a:t>
              </a:r>
              <a:endParaRPr b="1" sz="15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Questions define the expression; the system generates the playable reasoning process.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37" name="Google Shape;137;p12"/>
          <p:cNvGrpSpPr/>
          <p:nvPr/>
        </p:nvGrpSpPr>
        <p:grpSpPr>
          <a:xfrm>
            <a:off x="3771900" y="1857375"/>
            <a:ext cx="2333700" cy="1238400"/>
            <a:chOff x="0" y="0"/>
            <a:chExt cx="2333700" cy="1238400"/>
          </a:xfrm>
        </p:grpSpPr>
        <p:sp>
          <p:nvSpPr>
            <p:cNvPr id="138" name="Google Shape;138;p12"/>
            <p:cNvSpPr/>
            <p:nvPr/>
          </p:nvSpPr>
          <p:spPr>
            <a:xfrm>
              <a:off x="0" y="0"/>
              <a:ext cx="2333700" cy="1238400"/>
            </a:xfrm>
            <a:prstGeom prst="roundRect">
              <a:avLst>
                <a:gd fmla="val 6153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2"/>
            <p:cNvSpPr txBox="1"/>
            <p:nvPr/>
          </p:nvSpPr>
          <p:spPr>
            <a:xfrm>
              <a:off x="0" y="0"/>
              <a:ext cx="2333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71450" spcFirstLastPara="1" rIns="17145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01 / CONTENT</a:t>
              </a:r>
              <a:endParaRPr b="1" sz="9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12 Levels · 90 Qs</a:t>
              </a:r>
              <a:endParaRPr b="1" sz="12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Progressive difficulty across the entire pipeline.</a:t>
              </a:r>
              <a:endParaRPr b="0" sz="100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40" name="Google Shape;140;p12"/>
          <p:cNvGrpSpPr/>
          <p:nvPr/>
        </p:nvGrpSpPr>
        <p:grpSpPr>
          <a:xfrm>
            <a:off x="6315075" y="1857375"/>
            <a:ext cx="2333700" cy="1238400"/>
            <a:chOff x="0" y="0"/>
            <a:chExt cx="2333700" cy="1238400"/>
          </a:xfrm>
        </p:grpSpPr>
        <p:sp>
          <p:nvSpPr>
            <p:cNvPr id="141" name="Google Shape;141;p12"/>
            <p:cNvSpPr/>
            <p:nvPr/>
          </p:nvSpPr>
          <p:spPr>
            <a:xfrm>
              <a:off x="0" y="0"/>
              <a:ext cx="2333700" cy="1238400"/>
            </a:xfrm>
            <a:prstGeom prst="roundRect">
              <a:avLst>
                <a:gd fmla="val 6153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2"/>
            <p:cNvSpPr txBox="1"/>
            <p:nvPr/>
          </p:nvSpPr>
          <p:spPr>
            <a:xfrm>
              <a:off x="0" y="0"/>
              <a:ext cx="2333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71450" spcFirstLastPara="1" rIns="17145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02 / SYSTEMS</a:t>
              </a:r>
              <a:endParaRPr b="1" sz="9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Step Generation</a:t>
              </a:r>
              <a:endParaRPr b="1" sz="12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Improved human-readable step generation.</a:t>
              </a:r>
              <a:endParaRPr b="0" sz="100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43" name="Google Shape;143;p12"/>
          <p:cNvGrpSpPr/>
          <p:nvPr/>
        </p:nvGrpSpPr>
        <p:grpSpPr>
          <a:xfrm>
            <a:off x="3771900" y="3286125"/>
            <a:ext cx="2333700" cy="1238400"/>
            <a:chOff x="0" y="0"/>
            <a:chExt cx="2333700" cy="1238400"/>
          </a:xfrm>
        </p:grpSpPr>
        <p:sp>
          <p:nvSpPr>
            <p:cNvPr id="144" name="Google Shape;144;p12"/>
            <p:cNvSpPr/>
            <p:nvPr/>
          </p:nvSpPr>
          <p:spPr>
            <a:xfrm>
              <a:off x="0" y="0"/>
              <a:ext cx="2333700" cy="1238400"/>
            </a:xfrm>
            <a:prstGeom prst="roundRect">
              <a:avLst>
                <a:gd fmla="val 6153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2"/>
            <p:cNvSpPr txBox="1"/>
            <p:nvPr/>
          </p:nvSpPr>
          <p:spPr>
            <a:xfrm>
              <a:off x="0" y="0"/>
              <a:ext cx="2333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71450" spcFirstLastPara="1" rIns="17145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03 / FLOW</a:t>
              </a:r>
              <a:endParaRPr b="1" sz="9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Complete Journey</a:t>
              </a:r>
              <a:endParaRPr b="1" sz="12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Home → Lobby → Level → Game → Results</a:t>
              </a:r>
              <a:endParaRPr b="0" sz="9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46" name="Google Shape;146;p12"/>
          <p:cNvGrpSpPr/>
          <p:nvPr/>
        </p:nvGrpSpPr>
        <p:grpSpPr>
          <a:xfrm>
            <a:off x="6315075" y="3286125"/>
            <a:ext cx="2333700" cy="1238400"/>
            <a:chOff x="0" y="0"/>
            <a:chExt cx="2333700" cy="1238400"/>
          </a:xfrm>
        </p:grpSpPr>
        <p:sp>
          <p:nvSpPr>
            <p:cNvPr id="147" name="Google Shape;147;p12"/>
            <p:cNvSpPr/>
            <p:nvPr/>
          </p:nvSpPr>
          <p:spPr>
            <a:xfrm>
              <a:off x="0" y="0"/>
              <a:ext cx="2333700" cy="1238400"/>
            </a:xfrm>
            <a:prstGeom prst="roundRect">
              <a:avLst>
                <a:gd fmla="val 6153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2"/>
            <p:cNvSpPr txBox="1"/>
            <p:nvPr/>
          </p:nvSpPr>
          <p:spPr>
            <a:xfrm>
              <a:off x="0" y="0"/>
              <a:ext cx="2333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71450" spcFirstLastPara="1" rIns="17145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04 / POLISH</a:t>
              </a:r>
              <a:endParaRPr b="1" sz="9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User Experience</a:t>
              </a:r>
              <a:endParaRPr b="1" sz="12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Data-driven Level Cards · Responsive UI · Unified visual language · Lucide icons · SFX</a:t>
              </a:r>
              <a:endParaRPr b="0" sz="90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3"/>
          <p:cNvGrpSpPr/>
          <p:nvPr/>
        </p:nvGrpSpPr>
        <p:grpSpPr>
          <a:xfrm>
            <a:off x="495300" y="428625"/>
            <a:ext cx="857400" cy="209700"/>
            <a:chOff x="0" y="0"/>
            <a:chExt cx="857400" cy="209700"/>
          </a:xfrm>
        </p:grpSpPr>
        <p:sp>
          <p:nvSpPr>
            <p:cNvPr id="155" name="Google Shape;155;p13"/>
            <p:cNvSpPr/>
            <p:nvPr/>
          </p:nvSpPr>
          <p:spPr>
            <a:xfrm>
              <a:off x="0" y="0"/>
              <a:ext cx="857400" cy="209700"/>
            </a:xfrm>
            <a:prstGeom prst="roundRect">
              <a:avLst>
                <a:gd fmla="val 22727" name="adj"/>
              </a:avLst>
            </a:prstGeom>
            <a:solidFill>
              <a:srgbClr val="001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 txBox="1"/>
            <p:nvPr/>
          </p:nvSpPr>
          <p:spPr>
            <a:xfrm>
              <a:off x="0" y="0"/>
              <a:ext cx="857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M3 — EXTEND</a:t>
              </a:r>
              <a:endParaRPr b="1" sz="8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sp>
        <p:nvSpPr>
          <p:cNvPr id="157" name="Google Shape;157;p13"/>
          <p:cNvSpPr txBox="1"/>
          <p:nvPr/>
        </p:nvSpPr>
        <p:spPr>
          <a:xfrm>
            <a:off x="495300" y="714375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One Content Pipeline. Three Ways to Play.</a:t>
            </a:r>
            <a:endParaRPr b="1" sz="2650">
              <a:solidFill>
                <a:srgbClr val="F2F5FA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grpSp>
        <p:nvGrpSpPr>
          <p:cNvPr id="158" name="Google Shape;158;p13"/>
          <p:cNvGrpSpPr/>
          <p:nvPr/>
        </p:nvGrpSpPr>
        <p:grpSpPr>
          <a:xfrm>
            <a:off x="495300" y="1285875"/>
            <a:ext cx="8153400" cy="381000"/>
            <a:chOff x="0" y="0"/>
            <a:chExt cx="8153400" cy="381000"/>
          </a:xfrm>
        </p:grpSpPr>
        <p:sp>
          <p:nvSpPr>
            <p:cNvPr id="159" name="Google Shape;159;p13"/>
            <p:cNvSpPr/>
            <p:nvPr/>
          </p:nvSpPr>
          <p:spPr>
            <a:xfrm>
              <a:off x="0" y="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 txBox="1"/>
            <p:nvPr/>
          </p:nvSpPr>
          <p:spPr>
            <a:xfrm>
              <a:off x="15240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Goal:</a:t>
              </a:r>
              <a:r>
                <a:rPr b="0" lang="en-US" sz="11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Prove the core architecture could support different learning interactions without duplicating mathematical content.</a:t>
              </a:r>
              <a:endParaRPr b="1" sz="11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61" name="Google Shape;161;p13"/>
          <p:cNvGrpSpPr/>
          <p:nvPr/>
        </p:nvGrpSpPr>
        <p:grpSpPr>
          <a:xfrm>
            <a:off x="495300" y="1857375"/>
            <a:ext cx="2590800" cy="2238300"/>
            <a:chOff x="0" y="0"/>
            <a:chExt cx="2590800" cy="2238300"/>
          </a:xfrm>
        </p:grpSpPr>
        <p:sp>
          <p:nvSpPr>
            <p:cNvPr id="162" name="Google Shape;162;p13"/>
            <p:cNvSpPr/>
            <p:nvPr/>
          </p:nvSpPr>
          <p:spPr>
            <a:xfrm>
              <a:off x="0" y="0"/>
              <a:ext cx="2590800" cy="2238300"/>
            </a:xfrm>
            <a:prstGeom prst="roundRect">
              <a:avLst>
                <a:gd fmla="val 3404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4" name="Google Shape;16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" y="2286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3"/>
            <p:cNvSpPr txBox="1"/>
            <p:nvPr/>
          </p:nvSpPr>
          <p:spPr>
            <a:xfrm>
              <a:off x="190500" y="714375"/>
              <a:ext cx="22098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Step Ordering</a:t>
              </a:r>
              <a:endParaRPr b="1" sz="13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Reconstruct the solution.</a:t>
              </a:r>
              <a:endParaRPr b="0" i="1" sz="11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Drag complete steps into the correct sequence.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66" name="Google Shape;166;p13"/>
          <p:cNvGrpSpPr/>
          <p:nvPr/>
        </p:nvGrpSpPr>
        <p:grpSpPr>
          <a:xfrm>
            <a:off x="3276600" y="1857375"/>
            <a:ext cx="2590800" cy="2238300"/>
            <a:chOff x="0" y="0"/>
            <a:chExt cx="2590800" cy="2238300"/>
          </a:xfrm>
        </p:grpSpPr>
        <p:sp>
          <p:nvSpPr>
            <p:cNvPr id="167" name="Google Shape;167;p13"/>
            <p:cNvSpPr/>
            <p:nvPr/>
          </p:nvSpPr>
          <p:spPr>
            <a:xfrm>
              <a:off x="0" y="0"/>
              <a:ext cx="2590800" cy="2238300"/>
            </a:xfrm>
            <a:prstGeom prst="roundRect">
              <a:avLst>
                <a:gd fmla="val 3404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9" name="Google Shape;16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500" y="2286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3"/>
            <p:cNvSpPr txBox="1"/>
            <p:nvPr/>
          </p:nvSpPr>
          <p:spPr>
            <a:xfrm>
              <a:off x="190500" y="714375"/>
              <a:ext cx="22098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Multi-Choice Ordering</a:t>
              </a:r>
              <a:endParaRPr b="1" sz="13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Identify the next step.</a:t>
              </a:r>
              <a:endParaRPr b="0" i="1" sz="11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Choose the correct transformation from plausible alternatives.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71" name="Google Shape;171;p13"/>
          <p:cNvGrpSpPr/>
          <p:nvPr/>
        </p:nvGrpSpPr>
        <p:grpSpPr>
          <a:xfrm>
            <a:off x="6057900" y="1857375"/>
            <a:ext cx="2590800" cy="2238300"/>
            <a:chOff x="0" y="0"/>
            <a:chExt cx="2590800" cy="2238300"/>
          </a:xfrm>
        </p:grpSpPr>
        <p:sp>
          <p:nvSpPr>
            <p:cNvPr id="172" name="Google Shape;172;p13"/>
            <p:cNvSpPr/>
            <p:nvPr/>
          </p:nvSpPr>
          <p:spPr>
            <a:xfrm>
              <a:off x="0" y="0"/>
              <a:ext cx="2590800" cy="2238300"/>
            </a:xfrm>
            <a:prstGeom prst="roundRect">
              <a:avLst>
                <a:gd fmla="val 3404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4" name="Google Shape;174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0500" y="2286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3"/>
            <p:cNvSpPr txBox="1"/>
            <p:nvPr/>
          </p:nvSpPr>
          <p:spPr>
            <a:xfrm>
              <a:off x="190500" y="714375"/>
              <a:ext cx="22098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rPr>
                <a:t>Fill In the Process</a:t>
              </a:r>
              <a:endParaRPr b="1" sz="13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Complete the reasoning.</a:t>
              </a:r>
              <a:endParaRPr b="0" i="1" sz="11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rPr>
                <a:t>Fill missing values inside an existing solution process.</a:t>
              </a:r>
              <a:endParaRPr b="0" sz="1050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176" name="Google Shape;176;p13"/>
          <p:cNvGrpSpPr/>
          <p:nvPr/>
        </p:nvGrpSpPr>
        <p:grpSpPr>
          <a:xfrm>
            <a:off x="495300" y="4286250"/>
            <a:ext cx="8153400" cy="400200"/>
            <a:chOff x="0" y="0"/>
            <a:chExt cx="8153400" cy="400200"/>
          </a:xfrm>
        </p:grpSpPr>
        <p:sp>
          <p:nvSpPr>
            <p:cNvPr id="177" name="Google Shape;177;p13"/>
            <p:cNvSpPr/>
            <p:nvPr/>
          </p:nvSpPr>
          <p:spPr>
            <a:xfrm>
              <a:off x="0" y="0"/>
              <a:ext cx="8153400" cy="400200"/>
            </a:xfrm>
            <a:prstGeom prst="roundRect">
              <a:avLst>
                <a:gd fmla="val 14285" name="adj"/>
              </a:avLst>
            </a:prstGeom>
            <a:solidFill>
              <a:srgbClr val="00194D"/>
            </a:solidFill>
            <a:ln cap="flat" cmpd="sng" w="14300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8" name="Google Shape;178;p13"/>
            <p:cNvPicPr preferRelativeResize="0"/>
            <p:nvPr/>
          </p:nvPicPr>
          <p:blipFill rotWithShape="1">
            <a:blip r:embed="rId6">
              <a:alphaModFix/>
            </a:blip>
            <a:srcRect b="0" l="1419" r="1419" t="0"/>
            <a:stretch/>
          </p:blipFill>
          <p:spPr>
            <a:xfrm>
              <a:off x="171450" y="142875"/>
              <a:ext cx="152400" cy="12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3"/>
            <p:cNvSpPr txBox="1"/>
            <p:nvPr/>
          </p:nvSpPr>
          <p:spPr>
            <a:xfrm>
              <a:off x="428625" y="0"/>
              <a:ext cx="753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Shared Foundation:</a:t>
              </a:r>
              <a:r>
                <a:rPr b="0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Same Questions → Same Parser → Same Step Generator → Different Interaction</a:t>
              </a:r>
              <a:endParaRPr b="1" sz="10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/>
          <p:nvPr/>
        </p:nvSpPr>
        <p:spPr>
          <a:xfrm>
            <a:off x="496119" y="494928"/>
            <a:ext cx="8151763" cy="460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Playtest → Learn → Iterate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496119" y="1893317"/>
            <a:ext cx="2628230" cy="23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rPr>
              <a:t>The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496119" y="2265387"/>
            <a:ext cx="2628230" cy="736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Mathematically correct did </a:t>
            </a: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not</a:t>
            </a: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always mean pedagogically useful. Early procedural solutions sometimes contained: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496119" y="3129930"/>
            <a:ext cx="2628230" cy="885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Char char="•"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Unnatural decomposition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Char char="•"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Redundant transformations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Char char="•"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Unnecessary parentheses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Char char="•"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Artificial intermediate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3474988" y="1309985"/>
            <a:ext cx="5177582" cy="23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rPr>
              <a:t>Design 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3474988" y="1682055"/>
            <a:ext cx="5177582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Stop optimizing for </a:t>
            </a:r>
            <a:r>
              <a:rPr b="0" i="1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minimum steps</a:t>
            </a: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. Instead, generate the </a:t>
            </a: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minimum number of meaningful, human-readable reasoning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3474988" y="2245444"/>
            <a:ext cx="5177582" cy="19050"/>
          </a:xfrm>
          <a:prstGeom prst="roundRect">
            <a:avLst>
              <a:gd fmla="val 50000" name="adj"/>
            </a:avLst>
          </a:prstGeom>
          <a:solidFill>
            <a:srgbClr val="EBEDF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988" y="2459385"/>
            <a:ext cx="5177582" cy="202971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/>
          <p:nvPr/>
        </p:nvSpPr>
        <p:spPr>
          <a:xfrm>
            <a:off x="3598973" y="2558926"/>
            <a:ext cx="947789" cy="158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900"/>
              <a:buFont typeface="Geist"/>
              <a:buNone/>
            </a:pPr>
            <a:r>
              <a:rPr b="1" i="0" lang="en-US" sz="9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7580701" y="2558926"/>
            <a:ext cx="947789" cy="158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900"/>
              <a:buFont typeface="Geist"/>
              <a:buNone/>
            </a:pPr>
            <a:r>
              <a:rPr b="1" i="0" lang="en-US" sz="9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Play &amp; Observe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7580701" y="4231097"/>
            <a:ext cx="947789" cy="158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900"/>
              <a:buFont typeface="Geist"/>
              <a:buNone/>
            </a:pPr>
            <a:r>
              <a:rPr b="1" i="0" lang="en-US" sz="9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Adjust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3598973" y="4231097"/>
            <a:ext cx="947789" cy="158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900"/>
              <a:buFont typeface="Geist"/>
              <a:buNone/>
            </a:pPr>
            <a:r>
              <a:rPr b="1" i="0" lang="en-US" sz="9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Stabilize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5"/>
          <p:cNvGrpSpPr/>
          <p:nvPr/>
        </p:nvGrpSpPr>
        <p:grpSpPr>
          <a:xfrm>
            <a:off x="495300" y="428625"/>
            <a:ext cx="1143000" cy="209700"/>
            <a:chOff x="0" y="0"/>
            <a:chExt cx="1143000" cy="209700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0"/>
              <a:ext cx="1143000" cy="209700"/>
            </a:xfrm>
            <a:prstGeom prst="roundRect">
              <a:avLst>
                <a:gd fmla="val 22727" name="adj"/>
              </a:avLst>
            </a:prstGeom>
            <a:solidFill>
              <a:srgbClr val="001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5"/>
            <p:cNvSpPr txBox="1"/>
            <p:nvPr/>
          </p:nvSpPr>
          <p:spPr>
            <a:xfrm>
              <a:off x="0" y="0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M4 — COMPLETE</a:t>
              </a:r>
              <a:endParaRPr b="1" sz="8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sp>
        <p:nvSpPr>
          <p:cNvPr id="205" name="Google Shape;205;p15"/>
          <p:cNvSpPr txBox="1"/>
          <p:nvPr/>
        </p:nvSpPr>
        <p:spPr>
          <a:xfrm>
            <a:off x="495300" y="714375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Persistence, Review &amp; Replay</a:t>
            </a:r>
            <a:endParaRPr b="1" sz="2650">
              <a:solidFill>
                <a:srgbClr val="F2F5FA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grpSp>
        <p:nvGrpSpPr>
          <p:cNvPr id="206" name="Google Shape;206;p15"/>
          <p:cNvGrpSpPr/>
          <p:nvPr/>
        </p:nvGrpSpPr>
        <p:grpSpPr>
          <a:xfrm>
            <a:off x="495300" y="1285875"/>
            <a:ext cx="8153400" cy="381000"/>
            <a:chOff x="0" y="0"/>
            <a:chExt cx="8153400" cy="381000"/>
          </a:xfrm>
        </p:grpSpPr>
        <p:sp>
          <p:nvSpPr>
            <p:cNvPr id="207" name="Google Shape;207;p15"/>
            <p:cNvSpPr/>
            <p:nvPr/>
          </p:nvSpPr>
          <p:spPr>
            <a:xfrm>
              <a:off x="0" y="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 txBox="1"/>
            <p:nvPr/>
          </p:nvSpPr>
          <p:spPr>
            <a:xfrm>
              <a:off x="15240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Goal:</a:t>
              </a:r>
              <a:r>
                <a:rPr b="0" lang="en-US" sz="11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Make player performance persist beyond a single Level and create reasons to review, improve, and replay.</a:t>
              </a:r>
              <a:endParaRPr b="1" sz="11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209" name="Google Shape;209;p15"/>
          <p:cNvGrpSpPr/>
          <p:nvPr/>
        </p:nvGrpSpPr>
        <p:grpSpPr>
          <a:xfrm>
            <a:off x="495300" y="1857375"/>
            <a:ext cx="3905400" cy="2095500"/>
            <a:chOff x="0" y="0"/>
            <a:chExt cx="3905400" cy="2095500"/>
          </a:xfrm>
        </p:grpSpPr>
        <p:sp>
          <p:nvSpPr>
            <p:cNvPr id="210" name="Google Shape;210;p15"/>
            <p:cNvSpPr/>
            <p:nvPr/>
          </p:nvSpPr>
          <p:spPr>
            <a:xfrm>
              <a:off x="0" y="0"/>
              <a:ext cx="3905400" cy="2095500"/>
            </a:xfrm>
            <a:prstGeom prst="roundRect">
              <a:avLst>
                <a:gd fmla="val 3636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2" name="Google Shape;212;p15"/>
            <p:cNvGrpSpPr/>
            <p:nvPr/>
          </p:nvGrpSpPr>
          <p:grpSpPr>
            <a:xfrm>
              <a:off x="190500" y="171450"/>
              <a:ext cx="3524250" cy="377952"/>
              <a:chOff x="0" y="0"/>
              <a:chExt cx="3524250" cy="377952"/>
            </a:xfrm>
          </p:grpSpPr>
          <p:sp>
            <p:nvSpPr>
              <p:cNvPr id="213" name="Google Shape;213;p15"/>
              <p:cNvSpPr txBox="1"/>
              <p:nvPr/>
            </p:nvSpPr>
            <p:spPr>
              <a:xfrm>
                <a:off x="0" y="35052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D4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rate_review</a:t>
                </a:r>
                <a:endParaRPr sz="2400">
                  <a:solidFill>
                    <a:srgbClr val="00D4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14" name="Google Shape;214;p15"/>
              <p:cNvSpPr txBox="1"/>
              <p:nvPr/>
            </p:nvSpPr>
            <p:spPr>
              <a:xfrm>
                <a:off x="438150" y="0"/>
                <a:ext cx="30861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2F5FA"/>
                    </a:solidFill>
                    <a:latin typeface="Geist"/>
                    <a:ea typeface="Geist"/>
                    <a:cs typeface="Geist"/>
                    <a:sym typeface="Geist"/>
                  </a:rPr>
                  <a:t>Performance &amp; Review</a:t>
                </a:r>
                <a:endParaRPr b="1" sz="13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</p:grpSp>
        <p:sp>
          <p:nvSpPr>
            <p:cNvPr id="215" name="Google Shape;215;p15"/>
            <p:cNvSpPr txBox="1"/>
            <p:nvPr/>
          </p:nvSpPr>
          <p:spPr>
            <a:xfrm>
              <a:off x="190500" y="619125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Question &amp; Level Score, 1–3 Star Rating, Limited Hints</a:t>
              </a:r>
              <a:endParaRPr b="0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Mistake Book with rule explanations &amp; correct solution review</a:t>
              </a:r>
              <a:endParaRPr b="0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Random Mistake Practice mode</a:t>
              </a:r>
              <a:endParaRPr b="0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216" name="Google Shape;216;p15"/>
          <p:cNvGrpSpPr/>
          <p:nvPr/>
        </p:nvGrpSpPr>
        <p:grpSpPr>
          <a:xfrm>
            <a:off x="4743450" y="1857375"/>
            <a:ext cx="3905400" cy="2095500"/>
            <a:chOff x="0" y="0"/>
            <a:chExt cx="3905400" cy="2095500"/>
          </a:xfrm>
        </p:grpSpPr>
        <p:sp>
          <p:nvSpPr>
            <p:cNvPr id="217" name="Google Shape;217;p15"/>
            <p:cNvSpPr/>
            <p:nvPr/>
          </p:nvSpPr>
          <p:spPr>
            <a:xfrm>
              <a:off x="0" y="0"/>
              <a:ext cx="3905400" cy="2095500"/>
            </a:xfrm>
            <a:prstGeom prst="roundRect">
              <a:avLst>
                <a:gd fmla="val 3636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15"/>
            <p:cNvGrpSpPr/>
            <p:nvPr/>
          </p:nvGrpSpPr>
          <p:grpSpPr>
            <a:xfrm>
              <a:off x="190500" y="171450"/>
              <a:ext cx="3524250" cy="377952"/>
              <a:chOff x="0" y="0"/>
              <a:chExt cx="3524250" cy="377952"/>
            </a:xfrm>
          </p:grpSpPr>
          <p:sp>
            <p:nvSpPr>
              <p:cNvPr id="220" name="Google Shape;220;p15"/>
              <p:cNvSpPr txBox="1"/>
              <p:nvPr/>
            </p:nvSpPr>
            <p:spPr>
              <a:xfrm>
                <a:off x="0" y="35052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D4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restore</a:t>
                </a:r>
                <a:endParaRPr sz="2400">
                  <a:solidFill>
                    <a:srgbClr val="00D4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21" name="Google Shape;221;p15"/>
              <p:cNvSpPr txBox="1"/>
              <p:nvPr/>
            </p:nvSpPr>
            <p:spPr>
              <a:xfrm>
                <a:off x="438150" y="0"/>
                <a:ext cx="30861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2F5FA"/>
                    </a:solidFill>
                    <a:latin typeface="Geist"/>
                    <a:ea typeface="Geist"/>
                    <a:cs typeface="Geist"/>
                    <a:sym typeface="Geist"/>
                  </a:rPr>
                  <a:t>Persistence &amp; Replay</a:t>
                </a:r>
                <a:endParaRPr b="1" sz="13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</p:grpSp>
        <p:sp>
          <p:nvSpPr>
            <p:cNvPr id="222" name="Google Shape;222;p15"/>
            <p:cNvSpPr txBox="1"/>
            <p:nvPr/>
          </p:nvSpPr>
          <p:spPr>
            <a:xfrm>
              <a:off x="190500" y="619125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Versioned Local Save, Mode-specific progress, Best Scores</a:t>
              </a:r>
              <a:endParaRPr b="0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Zen Mode &amp; Survival Mode with persistent personal bests</a:t>
              </a:r>
              <a:endParaRPr b="0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EBEDF0"/>
                </a:buClr>
                <a:buSzPts val="1050"/>
                <a:buFont typeface="Geist"/>
                <a:buChar char="●"/>
              </a:pPr>
              <a:r>
                <a:rPr b="0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Settings, Language, Tutorial state</a:t>
              </a:r>
              <a:endParaRPr b="0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223" name="Google Shape;223;p15"/>
          <p:cNvGrpSpPr/>
          <p:nvPr/>
        </p:nvGrpSpPr>
        <p:grpSpPr>
          <a:xfrm>
            <a:off x="495300" y="4191000"/>
            <a:ext cx="8153400" cy="400200"/>
            <a:chOff x="0" y="0"/>
            <a:chExt cx="8153400" cy="400200"/>
          </a:xfrm>
        </p:grpSpPr>
        <p:sp>
          <p:nvSpPr>
            <p:cNvPr id="224" name="Google Shape;224;p15"/>
            <p:cNvSpPr/>
            <p:nvPr/>
          </p:nvSpPr>
          <p:spPr>
            <a:xfrm>
              <a:off x="0" y="0"/>
              <a:ext cx="8153400" cy="400200"/>
            </a:xfrm>
            <a:prstGeom prst="roundRect">
              <a:avLst>
                <a:gd fmla="val 14285" name="adj"/>
              </a:avLst>
            </a:prstGeom>
            <a:solidFill>
              <a:srgbClr val="00194D"/>
            </a:solidFill>
            <a:ln cap="flat" cmpd="sng" w="14300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5"/>
            <p:cNvSpPr txBox="1"/>
            <p:nvPr/>
          </p:nvSpPr>
          <p:spPr>
            <a:xfrm>
              <a:off x="0" y="0"/>
              <a:ext cx="815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Play </a:t>
              </a:r>
              <a:r>
                <a:rPr b="0" lang="en-US" sz="11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➔</a:t>
              </a: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 Feedback </a:t>
              </a:r>
              <a:r>
                <a:rPr b="0" lang="en-US" sz="11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➔</a:t>
              </a: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 Results </a:t>
              </a:r>
              <a:r>
                <a:rPr b="0" lang="en-US" sz="11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➔</a:t>
              </a: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 Review </a:t>
              </a:r>
              <a:r>
                <a:rPr b="0" lang="en-US" sz="11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➔</a:t>
              </a: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 Practice </a:t>
              </a:r>
              <a:r>
                <a:rPr b="0" lang="en-US" sz="11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➔</a:t>
              </a:r>
              <a:r>
                <a:rPr b="1" lang="en-US" sz="11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 Improve</a:t>
              </a:r>
              <a:endParaRPr b="1" sz="11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/>
          <p:nvPr/>
        </p:nvSpPr>
        <p:spPr>
          <a:xfrm>
            <a:off x="496119" y="416868"/>
            <a:ext cx="8151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550"/>
              <a:buFont typeface="Geist"/>
              <a:buNone/>
            </a:pPr>
            <a:r>
              <a:rPr b="1" i="0" lang="en-US" sz="25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The Final Build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" name="Google Shape;232;p16"/>
          <p:cNvGrpSpPr/>
          <p:nvPr/>
        </p:nvGrpSpPr>
        <p:grpSpPr>
          <a:xfrm>
            <a:off x="495300" y="1333500"/>
            <a:ext cx="2590800" cy="1285800"/>
            <a:chOff x="0" y="0"/>
            <a:chExt cx="2590800" cy="1285800"/>
          </a:xfrm>
        </p:grpSpPr>
        <p:sp>
          <p:nvSpPr>
            <p:cNvPr id="233" name="Google Shape;233;p16"/>
            <p:cNvSpPr/>
            <p:nvPr/>
          </p:nvSpPr>
          <p:spPr>
            <a:xfrm>
              <a:off x="0" y="0"/>
              <a:ext cx="2590800" cy="1285800"/>
            </a:xfrm>
            <a:prstGeom prst="roundRect">
              <a:avLst>
                <a:gd fmla="val 5925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6"/>
            <p:cNvSpPr txBox="1"/>
            <p:nvPr/>
          </p:nvSpPr>
          <p:spPr>
            <a:xfrm>
              <a:off x="0" y="142875"/>
              <a:ext cx="25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36 + 3</a:t>
              </a:r>
              <a:endParaRPr b="1" sz="28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Levels</a:t>
              </a:r>
              <a:endParaRPr b="1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236" name="Google Shape;236;p16"/>
          <p:cNvGrpSpPr/>
          <p:nvPr/>
        </p:nvGrpSpPr>
        <p:grpSpPr>
          <a:xfrm>
            <a:off x="3276600" y="1333500"/>
            <a:ext cx="2590800" cy="1285800"/>
            <a:chOff x="0" y="0"/>
            <a:chExt cx="2590800" cy="1285800"/>
          </a:xfrm>
        </p:grpSpPr>
        <p:sp>
          <p:nvSpPr>
            <p:cNvPr id="237" name="Google Shape;237;p16"/>
            <p:cNvSpPr/>
            <p:nvPr/>
          </p:nvSpPr>
          <p:spPr>
            <a:xfrm>
              <a:off x="0" y="0"/>
              <a:ext cx="2590800" cy="1285800"/>
            </a:xfrm>
            <a:prstGeom prst="roundRect">
              <a:avLst>
                <a:gd fmla="val 5925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6"/>
            <p:cNvSpPr txBox="1"/>
            <p:nvPr/>
          </p:nvSpPr>
          <p:spPr>
            <a:xfrm>
              <a:off x="0" y="142875"/>
              <a:ext cx="25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300+</a:t>
              </a:r>
              <a:endParaRPr b="1" sz="28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Questions</a:t>
              </a:r>
              <a:endParaRPr b="1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240" name="Google Shape;240;p16"/>
          <p:cNvGrpSpPr/>
          <p:nvPr/>
        </p:nvGrpSpPr>
        <p:grpSpPr>
          <a:xfrm>
            <a:off x="6057900" y="1333500"/>
            <a:ext cx="2590800" cy="1285800"/>
            <a:chOff x="0" y="0"/>
            <a:chExt cx="2590800" cy="1285800"/>
          </a:xfrm>
        </p:grpSpPr>
        <p:sp>
          <p:nvSpPr>
            <p:cNvPr id="241" name="Google Shape;241;p16"/>
            <p:cNvSpPr/>
            <p:nvPr/>
          </p:nvSpPr>
          <p:spPr>
            <a:xfrm>
              <a:off x="0" y="0"/>
              <a:ext cx="2590800" cy="1285800"/>
            </a:xfrm>
            <a:prstGeom prst="roundRect">
              <a:avLst>
                <a:gd fmla="val 5925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6"/>
            <p:cNvSpPr txBox="1"/>
            <p:nvPr/>
          </p:nvSpPr>
          <p:spPr>
            <a:xfrm>
              <a:off x="0" y="142875"/>
              <a:ext cx="25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3</a:t>
              </a:r>
              <a:endParaRPr b="1" sz="28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Core Game Modes</a:t>
              </a:r>
              <a:endParaRPr b="1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244" name="Google Shape;244;p16"/>
          <p:cNvGrpSpPr/>
          <p:nvPr/>
        </p:nvGrpSpPr>
        <p:grpSpPr>
          <a:xfrm>
            <a:off x="495300" y="2809875"/>
            <a:ext cx="2590800" cy="1285800"/>
            <a:chOff x="0" y="0"/>
            <a:chExt cx="2590800" cy="1285800"/>
          </a:xfrm>
        </p:grpSpPr>
        <p:sp>
          <p:nvSpPr>
            <p:cNvPr id="245" name="Google Shape;245;p16"/>
            <p:cNvSpPr/>
            <p:nvPr/>
          </p:nvSpPr>
          <p:spPr>
            <a:xfrm>
              <a:off x="0" y="0"/>
              <a:ext cx="2590800" cy="1285800"/>
            </a:xfrm>
            <a:prstGeom prst="roundRect">
              <a:avLst>
                <a:gd fmla="val 5925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6"/>
            <p:cNvSpPr txBox="1"/>
            <p:nvPr/>
          </p:nvSpPr>
          <p:spPr>
            <a:xfrm>
              <a:off x="0" y="142875"/>
              <a:ext cx="25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2</a:t>
              </a:r>
              <a:endParaRPr b="1" sz="28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Replay Modes</a:t>
              </a:r>
              <a:endParaRPr b="1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248" name="Google Shape;248;p16"/>
          <p:cNvGrpSpPr/>
          <p:nvPr/>
        </p:nvGrpSpPr>
        <p:grpSpPr>
          <a:xfrm>
            <a:off x="3276600" y="2809875"/>
            <a:ext cx="2590800" cy="1285800"/>
            <a:chOff x="0" y="0"/>
            <a:chExt cx="2590800" cy="1285800"/>
          </a:xfrm>
        </p:grpSpPr>
        <p:sp>
          <p:nvSpPr>
            <p:cNvPr id="249" name="Google Shape;249;p16"/>
            <p:cNvSpPr/>
            <p:nvPr/>
          </p:nvSpPr>
          <p:spPr>
            <a:xfrm>
              <a:off x="0" y="0"/>
              <a:ext cx="2590800" cy="1285800"/>
            </a:xfrm>
            <a:prstGeom prst="roundRect">
              <a:avLst>
                <a:gd fmla="val 5925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6"/>
            <p:cNvSpPr txBox="1"/>
            <p:nvPr/>
          </p:nvSpPr>
          <p:spPr>
            <a:xfrm>
              <a:off x="0" y="142875"/>
              <a:ext cx="25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2</a:t>
              </a:r>
              <a:endParaRPr b="1" sz="28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Languages</a:t>
              </a:r>
              <a:endParaRPr b="1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252" name="Google Shape;252;p16"/>
          <p:cNvGrpSpPr/>
          <p:nvPr/>
        </p:nvGrpSpPr>
        <p:grpSpPr>
          <a:xfrm>
            <a:off x="6057900" y="2809875"/>
            <a:ext cx="2590800" cy="1285800"/>
            <a:chOff x="0" y="0"/>
            <a:chExt cx="2590800" cy="1285800"/>
          </a:xfrm>
        </p:grpSpPr>
        <p:sp>
          <p:nvSpPr>
            <p:cNvPr id="253" name="Google Shape;253;p16"/>
            <p:cNvSpPr/>
            <p:nvPr/>
          </p:nvSpPr>
          <p:spPr>
            <a:xfrm>
              <a:off x="0" y="0"/>
              <a:ext cx="2590800" cy="1285800"/>
            </a:xfrm>
            <a:prstGeom prst="roundRect">
              <a:avLst>
                <a:gd fmla="val 5925" name="adj"/>
              </a:avLst>
            </a:prstGeom>
            <a:solidFill>
              <a:srgbClr val="131B26"/>
            </a:solidFill>
            <a:ln cap="flat" cmpd="sng" w="14300">
              <a:solidFill>
                <a:srgbClr val="2433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50000" name="adj"/>
              </a:avLst>
            </a:prstGeom>
            <a:solidFill>
              <a:srgbClr val="00D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6"/>
            <p:cNvSpPr txBox="1"/>
            <p:nvPr/>
          </p:nvSpPr>
          <p:spPr>
            <a:xfrm>
              <a:off x="0" y="142875"/>
              <a:ext cx="25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1</a:t>
              </a:r>
              <a:endParaRPr b="1" sz="28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Shared Content Pipeline</a:t>
              </a:r>
              <a:endParaRPr b="1" sz="10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256" name="Google Shape;256;p16"/>
          <p:cNvGrpSpPr/>
          <p:nvPr/>
        </p:nvGrpSpPr>
        <p:grpSpPr>
          <a:xfrm>
            <a:off x="495300" y="4286250"/>
            <a:ext cx="8153400" cy="400200"/>
            <a:chOff x="0" y="0"/>
            <a:chExt cx="8153400" cy="400200"/>
          </a:xfrm>
        </p:grpSpPr>
        <p:sp>
          <p:nvSpPr>
            <p:cNvPr id="257" name="Google Shape;257;p16"/>
            <p:cNvSpPr/>
            <p:nvPr/>
          </p:nvSpPr>
          <p:spPr>
            <a:xfrm>
              <a:off x="0" y="0"/>
              <a:ext cx="8153400" cy="400200"/>
            </a:xfrm>
            <a:prstGeom prst="roundRect">
              <a:avLst>
                <a:gd fmla="val 14285" name="adj"/>
              </a:avLst>
            </a:prstGeom>
            <a:solidFill>
              <a:srgbClr val="00194D"/>
            </a:solidFill>
            <a:ln cap="flat" cmpd="sng" w="14300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6"/>
            <p:cNvSpPr txBox="1"/>
            <p:nvPr/>
          </p:nvSpPr>
          <p:spPr>
            <a:xfrm>
              <a:off x="0" y="0"/>
              <a:ext cx="815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Persistent Progress  •  Mistake Practice  •  Tutorials  •  Settings  •  Search &amp; Filters  •  Progressive Feedback</a:t>
              </a:r>
              <a:endParaRPr b="1" sz="10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/>
          <p:nvPr/>
        </p:nvSpPr>
        <p:spPr>
          <a:xfrm>
            <a:off x="496119" y="440308"/>
            <a:ext cx="81519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250"/>
              <a:buFont typeface="Geist"/>
              <a:buNone/>
            </a:pPr>
            <a:r>
              <a:rPr b="1" i="0" lang="en-US" sz="22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What I Learned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" name="Google Shape;265;p17"/>
          <p:cNvGrpSpPr/>
          <p:nvPr/>
        </p:nvGrpSpPr>
        <p:grpSpPr>
          <a:xfrm>
            <a:off x="495300" y="1238250"/>
            <a:ext cx="3905100" cy="2628900"/>
            <a:chOff x="495300" y="1238250"/>
            <a:chExt cx="3905100" cy="2628900"/>
          </a:xfrm>
        </p:grpSpPr>
        <p:grpSp>
          <p:nvGrpSpPr>
            <p:cNvPr id="266" name="Google Shape;266;p17"/>
            <p:cNvGrpSpPr/>
            <p:nvPr/>
          </p:nvGrpSpPr>
          <p:grpSpPr>
            <a:xfrm>
              <a:off x="495300" y="1238250"/>
              <a:ext cx="3905100" cy="571500"/>
              <a:chOff x="0" y="0"/>
              <a:chExt cx="3905100" cy="571500"/>
            </a:xfrm>
          </p:grpSpPr>
          <p:sp>
            <p:nvSpPr>
              <p:cNvPr id="267" name="Google Shape;267;p17"/>
              <p:cNvSpPr/>
              <p:nvPr/>
            </p:nvSpPr>
            <p:spPr>
              <a:xfrm>
                <a:off x="0" y="19050"/>
                <a:ext cx="228600" cy="171600"/>
              </a:xfrm>
              <a:prstGeom prst="roundRect">
                <a:avLst>
                  <a:gd fmla="val 22222" name="adj"/>
                </a:avLst>
              </a:prstGeom>
              <a:solidFill>
                <a:srgbClr val="00194D"/>
              </a:solidFill>
              <a:ln cap="flat" cmpd="sng" w="9525">
                <a:solidFill>
                  <a:srgbClr val="00D4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7"/>
              <p:cNvSpPr txBox="1"/>
              <p:nvPr/>
            </p:nvSpPr>
            <p:spPr>
              <a:xfrm>
                <a:off x="0" y="19050"/>
                <a:ext cx="2286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00D4FF"/>
                    </a:solidFill>
                    <a:latin typeface="Geist"/>
                    <a:ea typeface="Geist"/>
                    <a:cs typeface="Geist"/>
                    <a:sym typeface="Geist"/>
                  </a:rPr>
                  <a:t>01</a:t>
                </a:r>
                <a:endParaRPr b="1" sz="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  <p:sp>
            <p:nvSpPr>
              <p:cNvPr id="269" name="Google Shape;269;p17"/>
              <p:cNvSpPr txBox="1"/>
              <p:nvPr/>
            </p:nvSpPr>
            <p:spPr>
              <a:xfrm>
                <a:off x="342900" y="0"/>
                <a:ext cx="3562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2F5FA"/>
                    </a:solidFill>
                    <a:latin typeface="Geist"/>
                    <a:ea typeface="Geist"/>
                    <a:cs typeface="Geist"/>
                    <a:sym typeface="Geist"/>
                  </a:rPr>
                  <a:t>Design for Iteration</a:t>
                </a:r>
                <a:endParaRPr b="1" sz="11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Geist"/>
                    <a:ea typeface="Geist"/>
                    <a:cs typeface="Geist"/>
                    <a:sym typeface="Geist"/>
                  </a:rPr>
                  <a:t>Build the smallest complete experience, test it, then expand.</a:t>
                </a:r>
                <a:endParaRPr b="0" sz="9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</p:grpSp>
        <p:grpSp>
          <p:nvGrpSpPr>
            <p:cNvPr id="270" name="Google Shape;270;p17"/>
            <p:cNvGrpSpPr/>
            <p:nvPr/>
          </p:nvGrpSpPr>
          <p:grpSpPr>
            <a:xfrm>
              <a:off x="495300" y="1924050"/>
              <a:ext cx="3905100" cy="571500"/>
              <a:chOff x="0" y="0"/>
              <a:chExt cx="3905100" cy="571500"/>
            </a:xfrm>
          </p:grpSpPr>
          <p:sp>
            <p:nvSpPr>
              <p:cNvPr id="271" name="Google Shape;271;p17"/>
              <p:cNvSpPr/>
              <p:nvPr/>
            </p:nvSpPr>
            <p:spPr>
              <a:xfrm>
                <a:off x="0" y="19050"/>
                <a:ext cx="228600" cy="171600"/>
              </a:xfrm>
              <a:prstGeom prst="roundRect">
                <a:avLst>
                  <a:gd fmla="val 22222" name="adj"/>
                </a:avLst>
              </a:prstGeom>
              <a:solidFill>
                <a:srgbClr val="00194D"/>
              </a:solidFill>
              <a:ln cap="flat" cmpd="sng" w="9525">
                <a:solidFill>
                  <a:srgbClr val="00D4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7"/>
              <p:cNvSpPr txBox="1"/>
              <p:nvPr/>
            </p:nvSpPr>
            <p:spPr>
              <a:xfrm>
                <a:off x="0" y="19050"/>
                <a:ext cx="2286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00D4FF"/>
                    </a:solidFill>
                    <a:latin typeface="Geist"/>
                    <a:ea typeface="Geist"/>
                    <a:cs typeface="Geist"/>
                    <a:sym typeface="Geist"/>
                  </a:rPr>
                  <a:t>02</a:t>
                </a:r>
                <a:endParaRPr b="1" sz="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  <p:sp>
            <p:nvSpPr>
              <p:cNvPr id="273" name="Google Shape;273;p17"/>
              <p:cNvSpPr txBox="1"/>
              <p:nvPr/>
            </p:nvSpPr>
            <p:spPr>
              <a:xfrm>
                <a:off x="342900" y="0"/>
                <a:ext cx="3562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2F5FA"/>
                    </a:solidFill>
                    <a:latin typeface="Geist"/>
                    <a:ea typeface="Geist"/>
                    <a:cs typeface="Geist"/>
                    <a:sym typeface="Geist"/>
                  </a:rPr>
                  <a:t>Separate Content from Presentation</a:t>
                </a:r>
                <a:endParaRPr b="1" sz="11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Geist"/>
                    <a:ea typeface="Geist"/>
                    <a:cs typeface="Geist"/>
                    <a:sym typeface="Geist"/>
                  </a:rPr>
                  <a:t>One mathematical content pipeline can support multiple gameplay experiences.</a:t>
                </a:r>
                <a:endParaRPr b="0" sz="9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</p:grpSp>
        <p:grpSp>
          <p:nvGrpSpPr>
            <p:cNvPr id="274" name="Google Shape;274;p17"/>
            <p:cNvGrpSpPr/>
            <p:nvPr/>
          </p:nvGrpSpPr>
          <p:grpSpPr>
            <a:xfrm>
              <a:off x="495300" y="2609850"/>
              <a:ext cx="3905100" cy="571500"/>
              <a:chOff x="0" y="0"/>
              <a:chExt cx="3905100" cy="571500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0" y="19050"/>
                <a:ext cx="228600" cy="171600"/>
              </a:xfrm>
              <a:prstGeom prst="roundRect">
                <a:avLst>
                  <a:gd fmla="val 22222" name="adj"/>
                </a:avLst>
              </a:prstGeom>
              <a:solidFill>
                <a:srgbClr val="00194D"/>
              </a:solidFill>
              <a:ln cap="flat" cmpd="sng" w="9525">
                <a:solidFill>
                  <a:srgbClr val="00D4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7"/>
              <p:cNvSpPr txBox="1"/>
              <p:nvPr/>
            </p:nvSpPr>
            <p:spPr>
              <a:xfrm>
                <a:off x="0" y="19050"/>
                <a:ext cx="2286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00D4FF"/>
                    </a:solidFill>
                    <a:latin typeface="Geist"/>
                    <a:ea typeface="Geist"/>
                    <a:cs typeface="Geist"/>
                    <a:sym typeface="Geist"/>
                  </a:rPr>
                  <a:t>03</a:t>
                </a:r>
                <a:endParaRPr b="1" sz="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  <p:sp>
            <p:nvSpPr>
              <p:cNvPr id="277" name="Google Shape;277;p17"/>
              <p:cNvSpPr txBox="1"/>
              <p:nvPr/>
            </p:nvSpPr>
            <p:spPr>
              <a:xfrm>
                <a:off x="342900" y="0"/>
                <a:ext cx="3562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2F5FA"/>
                    </a:solidFill>
                    <a:latin typeface="Geist"/>
                    <a:ea typeface="Geist"/>
                    <a:cs typeface="Geist"/>
                    <a:sym typeface="Geist"/>
                  </a:rPr>
                  <a:t>Test Meaning, Not Only Correctness</a:t>
                </a:r>
                <a:endParaRPr b="1" sz="11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Geist"/>
                    <a:ea typeface="Geist"/>
                    <a:cs typeface="Geist"/>
                    <a:sym typeface="Geist"/>
                  </a:rPr>
                  <a:t>A technically correct system can still produce a poor learning experience.</a:t>
                </a:r>
                <a:endParaRPr b="0" sz="9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</p:grpSp>
        <p:grpSp>
          <p:nvGrpSpPr>
            <p:cNvPr id="278" name="Google Shape;278;p17"/>
            <p:cNvGrpSpPr/>
            <p:nvPr/>
          </p:nvGrpSpPr>
          <p:grpSpPr>
            <a:xfrm>
              <a:off x="495300" y="3295650"/>
              <a:ext cx="3905100" cy="571500"/>
              <a:chOff x="0" y="0"/>
              <a:chExt cx="3905100" cy="571500"/>
            </a:xfrm>
          </p:grpSpPr>
          <p:sp>
            <p:nvSpPr>
              <p:cNvPr id="279" name="Google Shape;279;p17"/>
              <p:cNvSpPr/>
              <p:nvPr/>
            </p:nvSpPr>
            <p:spPr>
              <a:xfrm>
                <a:off x="0" y="19050"/>
                <a:ext cx="228600" cy="171600"/>
              </a:xfrm>
              <a:prstGeom prst="roundRect">
                <a:avLst>
                  <a:gd fmla="val 22222" name="adj"/>
                </a:avLst>
              </a:prstGeom>
              <a:solidFill>
                <a:srgbClr val="00194D"/>
              </a:solidFill>
              <a:ln cap="flat" cmpd="sng" w="9525">
                <a:solidFill>
                  <a:srgbClr val="00D4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7"/>
              <p:cNvSpPr txBox="1"/>
              <p:nvPr/>
            </p:nvSpPr>
            <p:spPr>
              <a:xfrm>
                <a:off x="0" y="19050"/>
                <a:ext cx="2286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00D4FF"/>
                    </a:solidFill>
                    <a:latin typeface="Geist"/>
                    <a:ea typeface="Geist"/>
                    <a:cs typeface="Geist"/>
                    <a:sym typeface="Geist"/>
                  </a:rPr>
                  <a:t>04</a:t>
                </a:r>
                <a:endParaRPr b="1" sz="8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  <p:sp>
            <p:nvSpPr>
              <p:cNvPr id="281" name="Google Shape;281;p17"/>
              <p:cNvSpPr txBox="1"/>
              <p:nvPr/>
            </p:nvSpPr>
            <p:spPr>
              <a:xfrm>
                <a:off x="342900" y="0"/>
                <a:ext cx="3562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2F5FA"/>
                    </a:solidFill>
                    <a:latin typeface="Geist"/>
                    <a:ea typeface="Geist"/>
                    <a:cs typeface="Geist"/>
                    <a:sym typeface="Geist"/>
                  </a:rPr>
                  <a:t>Keep Every Milestone Playable</a:t>
                </a:r>
                <a:endParaRPr b="1" sz="11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Geist"/>
                    <a:ea typeface="Geist"/>
                    <a:cs typeface="Geist"/>
                    <a:sym typeface="Geist"/>
                  </a:rPr>
                  <a:t>Each milestone should leave behind a stable, presentable build — not disconnected unfinished systems.</a:t>
                </a:r>
                <a:endParaRPr b="0" sz="9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</p:grpSp>
      </p:grpSp>
      <p:grpSp>
        <p:nvGrpSpPr>
          <p:cNvPr id="282" name="Google Shape;282;p17"/>
          <p:cNvGrpSpPr/>
          <p:nvPr/>
        </p:nvGrpSpPr>
        <p:grpSpPr>
          <a:xfrm>
            <a:off x="4743450" y="1238250"/>
            <a:ext cx="3905400" cy="2552700"/>
            <a:chOff x="4743450" y="1238250"/>
            <a:chExt cx="3905400" cy="2552700"/>
          </a:xfrm>
        </p:grpSpPr>
        <p:sp>
          <p:nvSpPr>
            <p:cNvPr id="283" name="Google Shape;283;p17"/>
            <p:cNvSpPr txBox="1"/>
            <p:nvPr/>
          </p:nvSpPr>
          <p:spPr>
            <a:xfrm>
              <a:off x="4743450" y="123825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What's Next</a:t>
              </a:r>
              <a:endParaRPr b="1" sz="130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grpSp>
          <p:nvGrpSpPr>
            <p:cNvPr id="284" name="Google Shape;284;p17"/>
            <p:cNvGrpSpPr/>
            <p:nvPr/>
          </p:nvGrpSpPr>
          <p:grpSpPr>
            <a:xfrm>
              <a:off x="4743450" y="1619250"/>
              <a:ext cx="3905400" cy="647700"/>
              <a:chOff x="0" y="0"/>
              <a:chExt cx="3905400" cy="647700"/>
            </a:xfrm>
          </p:grpSpPr>
          <p:sp>
            <p:nvSpPr>
              <p:cNvPr id="285" name="Google Shape;285;p17"/>
              <p:cNvSpPr/>
              <p:nvPr/>
            </p:nvSpPr>
            <p:spPr>
              <a:xfrm>
                <a:off x="0" y="0"/>
                <a:ext cx="3905400" cy="647700"/>
              </a:xfrm>
              <a:prstGeom prst="roundRect">
                <a:avLst>
                  <a:gd fmla="val 8823" name="adj"/>
                </a:avLst>
              </a:prstGeom>
              <a:solidFill>
                <a:srgbClr val="131B26"/>
              </a:solidFill>
              <a:ln cap="flat" cmpd="sng" w="9525">
                <a:solidFill>
                  <a:srgbClr val="24334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>
                <a:off x="0" y="0"/>
                <a:ext cx="39054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00D4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7"/>
              <p:cNvSpPr txBox="1"/>
              <p:nvPr/>
            </p:nvSpPr>
            <p:spPr>
              <a:xfrm>
                <a:off x="152400" y="114300"/>
                <a:ext cx="36006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D4FF"/>
                    </a:solidFill>
                    <a:latin typeface="Geist"/>
                    <a:ea typeface="Geist"/>
                    <a:cs typeface="Geist"/>
                    <a:sym typeface="Geist"/>
                  </a:rPr>
                  <a:t>M5</a:t>
                </a:r>
                <a:r>
                  <a:rPr b="1" lang="en-US" sz="1100">
                    <a:solidFill>
                      <a:srgbClr val="F2F5FA"/>
                    </a:solidFill>
                    <a:latin typeface="Geist"/>
                    <a:ea typeface="Geist"/>
                    <a:cs typeface="Geist"/>
                    <a:sym typeface="Geist"/>
                  </a:rPr>
                  <a:t> Analytics &amp; Adaptive Learning</a:t>
                </a:r>
                <a:endParaRPr b="1" sz="11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Geist"/>
                    <a:ea typeface="Geist"/>
                    <a:cs typeface="Geist"/>
                    <a:sym typeface="Geist"/>
                  </a:rPr>
                  <a:t>Behavior Tracking &amp; Personalized Practice</a:t>
                </a:r>
                <a:endParaRPr b="0" sz="9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</p:grpSp>
        <p:grpSp>
          <p:nvGrpSpPr>
            <p:cNvPr id="288" name="Google Shape;288;p17"/>
            <p:cNvGrpSpPr/>
            <p:nvPr/>
          </p:nvGrpSpPr>
          <p:grpSpPr>
            <a:xfrm>
              <a:off x="4743450" y="2381250"/>
              <a:ext cx="3905400" cy="647700"/>
              <a:chOff x="0" y="0"/>
              <a:chExt cx="3905400" cy="647700"/>
            </a:xfrm>
          </p:grpSpPr>
          <p:sp>
            <p:nvSpPr>
              <p:cNvPr id="289" name="Google Shape;289;p17"/>
              <p:cNvSpPr/>
              <p:nvPr/>
            </p:nvSpPr>
            <p:spPr>
              <a:xfrm>
                <a:off x="0" y="0"/>
                <a:ext cx="3905400" cy="647700"/>
              </a:xfrm>
              <a:prstGeom prst="roundRect">
                <a:avLst>
                  <a:gd fmla="val 8823" name="adj"/>
                </a:avLst>
              </a:prstGeom>
              <a:solidFill>
                <a:srgbClr val="131B26"/>
              </a:solidFill>
              <a:ln cap="flat" cmpd="sng" w="9525">
                <a:solidFill>
                  <a:srgbClr val="24334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7"/>
              <p:cNvSpPr/>
              <p:nvPr/>
            </p:nvSpPr>
            <p:spPr>
              <a:xfrm>
                <a:off x="0" y="0"/>
                <a:ext cx="39054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00D4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7"/>
              <p:cNvSpPr txBox="1"/>
              <p:nvPr/>
            </p:nvSpPr>
            <p:spPr>
              <a:xfrm>
                <a:off x="152400" y="114300"/>
                <a:ext cx="36006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D4FF"/>
                    </a:solidFill>
                    <a:latin typeface="Geist"/>
                    <a:ea typeface="Geist"/>
                    <a:cs typeface="Geist"/>
                    <a:sym typeface="Geist"/>
                  </a:rPr>
                  <a:t>M6</a:t>
                </a:r>
                <a:r>
                  <a:rPr b="1" lang="en-US" sz="1100">
                    <a:solidFill>
                      <a:srgbClr val="F2F5FA"/>
                    </a:solidFill>
                    <a:latin typeface="Geist"/>
                    <a:ea typeface="Geist"/>
                    <a:cs typeface="Geist"/>
                    <a:sym typeface="Geist"/>
                  </a:rPr>
                  <a:t> Content Authoring Pipeline</a:t>
                </a:r>
                <a:endParaRPr b="1" sz="11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Geist"/>
                    <a:ea typeface="Geist"/>
                    <a:cs typeface="Geist"/>
                    <a:sym typeface="Geist"/>
                  </a:rPr>
                  <a:t>CSV/JSON Upload &amp; Visual Content Editor</a:t>
                </a:r>
                <a:endParaRPr b="0" sz="9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</p:grpSp>
        <p:grpSp>
          <p:nvGrpSpPr>
            <p:cNvPr id="292" name="Google Shape;292;p17"/>
            <p:cNvGrpSpPr/>
            <p:nvPr/>
          </p:nvGrpSpPr>
          <p:grpSpPr>
            <a:xfrm>
              <a:off x="4743450" y="3143250"/>
              <a:ext cx="3905400" cy="647700"/>
              <a:chOff x="0" y="0"/>
              <a:chExt cx="3905400" cy="647700"/>
            </a:xfrm>
          </p:grpSpPr>
          <p:sp>
            <p:nvSpPr>
              <p:cNvPr id="293" name="Google Shape;293;p17"/>
              <p:cNvSpPr/>
              <p:nvPr/>
            </p:nvSpPr>
            <p:spPr>
              <a:xfrm>
                <a:off x="0" y="0"/>
                <a:ext cx="3905400" cy="647700"/>
              </a:xfrm>
              <a:prstGeom prst="roundRect">
                <a:avLst>
                  <a:gd fmla="val 8823" name="adj"/>
                </a:avLst>
              </a:prstGeom>
              <a:solidFill>
                <a:srgbClr val="131B26"/>
              </a:solidFill>
              <a:ln cap="flat" cmpd="sng" w="9525">
                <a:solidFill>
                  <a:srgbClr val="24334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7"/>
              <p:cNvSpPr/>
              <p:nvPr/>
            </p:nvSpPr>
            <p:spPr>
              <a:xfrm>
                <a:off x="0" y="0"/>
                <a:ext cx="39054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00D4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7"/>
              <p:cNvSpPr txBox="1"/>
              <p:nvPr/>
            </p:nvSpPr>
            <p:spPr>
              <a:xfrm>
                <a:off x="152400" y="114300"/>
                <a:ext cx="36006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D4FF"/>
                    </a:solidFill>
                    <a:latin typeface="Geist"/>
                    <a:ea typeface="Geist"/>
                    <a:cs typeface="Geist"/>
                    <a:sym typeface="Geist"/>
                  </a:rPr>
                  <a:t>M7</a:t>
                </a:r>
                <a:r>
                  <a:rPr b="1" lang="en-US" sz="1100">
                    <a:solidFill>
                      <a:srgbClr val="F2F5FA"/>
                    </a:solidFill>
                    <a:latin typeface="Geist"/>
                    <a:ea typeface="Geist"/>
                    <a:cs typeface="Geist"/>
                    <a:sym typeface="Geist"/>
                  </a:rPr>
                  <a:t> Guided Smart Tutor</a:t>
                </a:r>
                <a:endParaRPr b="1" sz="1100">
                  <a:solidFill>
                    <a:srgbClr val="F2F5FA"/>
                  </a:solidFill>
                  <a:latin typeface="Geist"/>
                  <a:ea typeface="Geist"/>
                  <a:cs typeface="Geist"/>
                  <a:sym typeface="Geis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Geist"/>
                    <a:ea typeface="Geist"/>
                    <a:cs typeface="Geist"/>
                    <a:sym typeface="Geist"/>
                  </a:rPr>
                  <a:t>AI Teaching Assistant</a:t>
                </a:r>
                <a:endParaRPr b="0" sz="950">
                  <a:solidFill>
                    <a:srgbClr val="94A3B8"/>
                  </a:solidFill>
                  <a:latin typeface="Geist"/>
                  <a:ea typeface="Geist"/>
                  <a:cs typeface="Geist"/>
                  <a:sym typeface="Geist"/>
                </a:endParaRPr>
              </a:p>
            </p:txBody>
          </p:sp>
        </p:grpSp>
      </p:grpSp>
      <p:grpSp>
        <p:nvGrpSpPr>
          <p:cNvPr id="296" name="Google Shape;296;p17"/>
          <p:cNvGrpSpPr/>
          <p:nvPr/>
        </p:nvGrpSpPr>
        <p:grpSpPr>
          <a:xfrm>
            <a:off x="495300" y="4191000"/>
            <a:ext cx="8153400" cy="400200"/>
            <a:chOff x="0" y="0"/>
            <a:chExt cx="8153400" cy="400200"/>
          </a:xfrm>
        </p:grpSpPr>
        <p:sp>
          <p:nvSpPr>
            <p:cNvPr id="297" name="Google Shape;297;p17"/>
            <p:cNvSpPr/>
            <p:nvPr/>
          </p:nvSpPr>
          <p:spPr>
            <a:xfrm>
              <a:off x="0" y="0"/>
              <a:ext cx="8153400" cy="400200"/>
            </a:xfrm>
            <a:prstGeom prst="roundRect">
              <a:avLst>
                <a:gd fmla="val 14285" name="adj"/>
              </a:avLst>
            </a:prstGeom>
            <a:solidFill>
              <a:srgbClr val="00194D"/>
            </a:solidFill>
            <a:ln cap="flat" cmpd="sng" w="9525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7"/>
            <p:cNvSpPr txBox="1"/>
            <p:nvPr/>
          </p:nvSpPr>
          <p:spPr>
            <a:xfrm>
              <a:off x="190500" y="0"/>
              <a:ext cx="777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0D4FF"/>
                  </a:solidFill>
                  <a:latin typeface="Geist"/>
                  <a:ea typeface="Geist"/>
                  <a:cs typeface="Geist"/>
                  <a:sym typeface="Geist"/>
                </a:rPr>
                <a:t>MathSmith was built as an extensible foundation — </a:t>
              </a:r>
              <a:r>
                <a:rPr b="0" lang="en-US" sz="10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not a one-off prototype.</a:t>
              </a:r>
              <a:endParaRPr b="1" sz="1050">
                <a:solidFill>
                  <a:srgbClr val="00D4FF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