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embeddedFontLst>
    <p:embeddedFont>
      <p:font typeface="Geist"/>
      <p:bold r:id="rId16"/>
      <p:boldItalic r:id="rId17"/>
    </p:embeddedFont>
    <p:embeddedFont>
      <p:font typeface="Geist Light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GeistLight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GeistLight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Geist-boldItalic.fntdata"/><Relationship Id="rId16" Type="http://schemas.openxmlformats.org/officeDocument/2006/relationships/font" Target="fonts/Geist-bold.fntdata"/><Relationship Id="rId5" Type="http://schemas.openxmlformats.org/officeDocument/2006/relationships/slide" Target="slides/slide1.xml"/><Relationship Id="rId19" Type="http://schemas.openxmlformats.org/officeDocument/2006/relationships/font" Target="fonts/GeistLight-bold.fntdata"/><Relationship Id="rId6" Type="http://schemas.openxmlformats.org/officeDocument/2006/relationships/slide" Target="slides/slide2.xml"/><Relationship Id="rId18" Type="http://schemas.openxmlformats.org/officeDocument/2006/relationships/font" Target="fonts/GeistLight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620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496119" y="1748210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650"/>
              <a:buFont typeface="Geist"/>
              <a:buNone/>
            </a:pPr>
            <a:r>
              <a:rPr b="1" i="0" lang="en-US" sz="2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MathSmith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4"/>
          <p:cNvSpPr/>
          <p:nvPr/>
        </p:nvSpPr>
        <p:spPr>
          <a:xfrm>
            <a:off x="496119" y="2492425"/>
            <a:ext cx="8151763" cy="5279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A Data-Driven Math Learning Game Prototype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25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Learn the process, not just the answer.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496119" y="3179862"/>
            <a:ext cx="555054" cy="215354"/>
          </a:xfrm>
          <a:prstGeom prst="roundRect">
            <a:avLst>
              <a:gd fmla="val 22119" name="adj"/>
            </a:avLst>
          </a:prstGeom>
          <a:noFill/>
          <a:ln cap="flat" cmpd="sng" w="9525">
            <a:solidFill>
              <a:srgbClr val="629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4"/>
          <p:cNvSpPr/>
          <p:nvPr/>
        </p:nvSpPr>
        <p:spPr>
          <a:xfrm>
            <a:off x="581174" y="3222352"/>
            <a:ext cx="842144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6296FF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6296FF"/>
                </a:solidFill>
                <a:latin typeface="Geist"/>
                <a:ea typeface="Geist"/>
                <a:cs typeface="Geist"/>
                <a:sym typeface="Geist"/>
              </a:rPr>
              <a:t>GODOT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1122015" y="3179862"/>
            <a:ext cx="931515" cy="215354"/>
          </a:xfrm>
          <a:prstGeom prst="roundRect">
            <a:avLst>
              <a:gd fmla="val 22119" name="adj"/>
            </a:avLst>
          </a:prstGeom>
          <a:noFill/>
          <a:ln cap="flat" cmpd="sng" w="9525">
            <a:solidFill>
              <a:srgbClr val="629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1207071" y="3222352"/>
            <a:ext cx="1218605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6296FF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6296FF"/>
                </a:solidFill>
                <a:latin typeface="Geist"/>
                <a:ea typeface="Geist"/>
                <a:cs typeface="Geist"/>
                <a:sym typeface="Geist"/>
              </a:rPr>
              <a:t>GAME DESIGN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2124373" y="3179862"/>
            <a:ext cx="1226716" cy="215354"/>
          </a:xfrm>
          <a:prstGeom prst="roundRect">
            <a:avLst>
              <a:gd fmla="val 22119" name="adj"/>
            </a:avLst>
          </a:prstGeom>
          <a:noFill/>
          <a:ln cap="flat" cmpd="sng" w="9525">
            <a:solidFill>
              <a:srgbClr val="629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2209428" y="3222352"/>
            <a:ext cx="1513805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6296FF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6296FF"/>
                </a:solidFill>
                <a:latin typeface="Geist"/>
                <a:ea typeface="Geist"/>
                <a:cs typeface="Geist"/>
                <a:sym typeface="Geist"/>
              </a:rPr>
              <a:t>TECHNICAL DESIGN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3421931" y="3179862"/>
            <a:ext cx="1722239" cy="215354"/>
          </a:xfrm>
          <a:prstGeom prst="roundRect">
            <a:avLst>
              <a:gd fmla="val 22119" name="adj"/>
            </a:avLst>
          </a:prstGeom>
          <a:noFill/>
          <a:ln cap="flat" cmpd="sng" w="9525">
            <a:solidFill>
              <a:srgbClr val="629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3506986" y="3222352"/>
            <a:ext cx="2009329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6296FF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6296FF"/>
                </a:solidFill>
                <a:latin typeface="Geist"/>
                <a:ea typeface="Geist"/>
                <a:cs typeface="Geist"/>
                <a:sym typeface="Geist"/>
              </a:rPr>
              <a:t>EDUCATIONAL GAME DESIGN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496119" y="1328365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700"/>
              <a:buFont typeface="Geist"/>
              <a:buNone/>
            </a:pPr>
            <a:r>
              <a:rPr b="1" i="0" lang="en-US" sz="27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What I Wanted to Prove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" name="Google Shape;3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19" y="2072580"/>
            <a:ext cx="2622724" cy="174248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5"/>
          <p:cNvSpPr/>
          <p:nvPr/>
        </p:nvSpPr>
        <p:spPr>
          <a:xfrm>
            <a:off x="733127" y="2233389"/>
            <a:ext cx="2224906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Design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733127" y="2548756"/>
            <a:ext cx="2224906" cy="1105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Can players learn mathematical reasoning by </a:t>
            </a: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rebuilding the solution process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? Turn calculation steps into interactive gameplay instead of asking only for a final answer.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" name="Google Shape;3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60601" y="2072580"/>
            <a:ext cx="2622724" cy="174248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>
            <a:off x="3497610" y="2233389"/>
            <a:ext cx="2224906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Technical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3497610" y="2548756"/>
            <a:ext cx="2224906" cy="1105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Can mathematical expressions </a:t>
            </a: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automatically become playable content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? Build a reusable system that parses expressions and generates human-readable solution steps at runtime.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" name="Google Shape;4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5083" y="2072580"/>
            <a:ext cx="2622724" cy="174248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"/>
          <p:cNvSpPr/>
          <p:nvPr/>
        </p:nvSpPr>
        <p:spPr>
          <a:xfrm>
            <a:off x="6262092" y="2233389"/>
            <a:ext cx="2224906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6262092" y="2548756"/>
            <a:ext cx="2224906" cy="9212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Can I rapidly build an </a:t>
            </a: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extensible, presentable vertical slice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? Prioritize the highest-risk systems first while keeping the project playable throughout development.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"/>
          <p:cNvSpPr/>
          <p:nvPr/>
        </p:nvSpPr>
        <p:spPr>
          <a:xfrm>
            <a:off x="496119" y="883221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650"/>
              <a:buFont typeface="Geist"/>
              <a:buNone/>
            </a:pPr>
            <a:r>
              <a:rPr b="1" i="0" lang="en-US" sz="2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Before I Build — Define, Align, De-risk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496119" y="1715988"/>
            <a:ext cx="1880592" cy="2119089"/>
          </a:xfrm>
          <a:prstGeom prst="roundRect">
            <a:avLst>
              <a:gd fmla="val 3166" name="adj"/>
            </a:avLst>
          </a:prstGeom>
          <a:solidFill>
            <a:srgbClr val="101620"/>
          </a:solidFill>
          <a:ln cap="flat" cmpd="sng" w="14275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652165" y="1872035"/>
            <a:ext cx="1568500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Design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652165" y="2244105"/>
            <a:ext cx="1568500" cy="12046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Target player &amp; learning goals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Core player verbs &amp; feedback loop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Success criteria &amp; key assumptions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2518470" y="1715988"/>
            <a:ext cx="1880592" cy="2119089"/>
          </a:xfrm>
          <a:prstGeom prst="roundRect">
            <a:avLst>
              <a:gd fmla="val 3166" name="adj"/>
            </a:avLst>
          </a:prstGeom>
          <a:solidFill>
            <a:srgbClr val="101620"/>
          </a:solidFill>
          <a:ln cap="flat" cmpd="sng" w="14275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6"/>
          <p:cNvSpPr/>
          <p:nvPr/>
        </p:nvSpPr>
        <p:spPr>
          <a:xfrm>
            <a:off x="2674516" y="1872035"/>
            <a:ext cx="1568500" cy="460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Scope &amp; 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2674516" y="2474416"/>
            <a:ext cx="1568500" cy="12046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Must Have / Should Have / Nice to Have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Highest-risk assumptions &amp; MVP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Playable milestones &amp; dependencies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4749701" y="1715988"/>
            <a:ext cx="1880592" cy="2073027"/>
          </a:xfrm>
          <a:prstGeom prst="roundRect">
            <a:avLst>
              <a:gd fmla="val 3166" name="adj"/>
            </a:avLst>
          </a:prstGeom>
          <a:solidFill>
            <a:srgbClr val="101620"/>
          </a:solidFill>
          <a:ln cap="flat" cmpd="sng" w="14275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6"/>
          <p:cNvSpPr/>
          <p:nvPr/>
        </p:nvSpPr>
        <p:spPr>
          <a:xfrm>
            <a:off x="4905747" y="1872035"/>
            <a:ext cx="1568500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Resources &amp; Tools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4905747" y="2244105"/>
            <a:ext cx="1568500" cy="13888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Engine, plugins, existing systems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Art, UI, audio, content pipelines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Team expertise &amp; technical constraints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6772052" y="1715988"/>
            <a:ext cx="1880592" cy="2073027"/>
          </a:xfrm>
          <a:prstGeom prst="roundRect">
            <a:avLst>
              <a:gd fmla="val 3166" name="adj"/>
            </a:avLst>
          </a:prstGeom>
          <a:solidFill>
            <a:srgbClr val="101620"/>
          </a:solidFill>
          <a:ln cap="flat" cmpd="sng" w="14275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6"/>
          <p:cNvSpPr/>
          <p:nvPr/>
        </p:nvSpPr>
        <p:spPr>
          <a:xfrm>
            <a:off x="6928098" y="1872035"/>
            <a:ext cx="1568500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Team Alignment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6928098" y="2244105"/>
            <a:ext cx="1568500" cy="9708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Design, Engineering, Art/UI, Content, Production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Shared Definition of Done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4292501" y="3948485"/>
            <a:ext cx="4360143" cy="184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Geist"/>
              <a:buNone/>
            </a:pPr>
            <a:r>
              <a:rPr b="0" i="1" lang="en-US" sz="11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Define → Align → De-risk → Build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/>
          <p:cNvSpPr/>
          <p:nvPr/>
        </p:nvSpPr>
        <p:spPr>
          <a:xfrm>
            <a:off x="496119" y="434578"/>
            <a:ext cx="8151763" cy="431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500"/>
              <a:buFont typeface="Geist"/>
              <a:buNone/>
            </a:pPr>
            <a:r>
              <a:rPr b="1" i="0" lang="en-US" sz="25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Milestone Strategy — </a:t>
            </a:r>
            <a:r>
              <a:rPr b="1" i="0" lang="en-US" sz="25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Always Keep It Playable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7"/>
          <p:cNvSpPr/>
          <p:nvPr/>
        </p:nvSpPr>
        <p:spPr>
          <a:xfrm>
            <a:off x="496119" y="1115616"/>
            <a:ext cx="8608963" cy="1673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Each milestone expanded multiple parts of the project while preserving a complete end-to-end player experience.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1" name="Google Shape;7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19" y="1423095"/>
            <a:ext cx="4075881" cy="53161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7"/>
          <p:cNvSpPr/>
          <p:nvPr/>
        </p:nvSpPr>
        <p:spPr>
          <a:xfrm>
            <a:off x="629022" y="2079278"/>
            <a:ext cx="3810074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M1 — Prove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629022" y="2369939"/>
            <a:ext cx="3810074" cy="4094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Core Gameplay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55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Gameplay · Math Systems · Data · Basic UI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" name="Google Shape;7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0" y="1423095"/>
            <a:ext cx="4075881" cy="531614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7"/>
          <p:cNvSpPr/>
          <p:nvPr/>
        </p:nvSpPr>
        <p:spPr>
          <a:xfrm>
            <a:off x="4704904" y="2079278"/>
            <a:ext cx="3810074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M2 — Scale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4704904" y="2369939"/>
            <a:ext cx="3810074" cy="4094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Complete Product Flow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55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Content · Architecture · Navigation · UI/UX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7" name="Google Shape;7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6119" y="2912269"/>
            <a:ext cx="4075881" cy="53161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7"/>
          <p:cNvSpPr/>
          <p:nvPr/>
        </p:nvSpPr>
        <p:spPr>
          <a:xfrm>
            <a:off x="629022" y="3568452"/>
            <a:ext cx="3810074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M3 — Extend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629022" y="3859113"/>
            <a:ext cx="3810074" cy="4094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Gameplay Framework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55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Gameplay Modes · Feedback · Content · Polish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0" name="Google Shape;80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0" y="2912269"/>
            <a:ext cx="4075881" cy="53161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7"/>
          <p:cNvSpPr/>
          <p:nvPr/>
        </p:nvSpPr>
        <p:spPr>
          <a:xfrm>
            <a:off x="4704904" y="3568452"/>
            <a:ext cx="3810074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M4 — Complete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4704904" y="3859113"/>
            <a:ext cx="3810074" cy="4094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Learning &amp; Replay Loop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55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Progression · Save · Review · Replay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267519" y="4541565"/>
            <a:ext cx="8608963" cy="1673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Geist"/>
              <a:buNone/>
            </a:pPr>
            <a:r>
              <a:rPr b="0" i="1" lang="en-US" sz="10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Prove → Scale → Extend → Complete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8"/>
          <p:cNvSpPr/>
          <p:nvPr/>
        </p:nvSpPr>
        <p:spPr>
          <a:xfrm>
            <a:off x="496119" y="1009576"/>
            <a:ext cx="840135" cy="215354"/>
          </a:xfrm>
          <a:prstGeom prst="roundRect">
            <a:avLst>
              <a:gd fmla="val 22119" name="adj"/>
            </a:avLst>
          </a:prstGeom>
          <a:solidFill>
            <a:srgbClr val="0019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8"/>
          <p:cNvSpPr/>
          <p:nvPr/>
        </p:nvSpPr>
        <p:spPr>
          <a:xfrm>
            <a:off x="581174" y="1052066"/>
            <a:ext cx="1127224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M1 — PROVE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8"/>
          <p:cNvSpPr/>
          <p:nvPr/>
        </p:nvSpPr>
        <p:spPr>
          <a:xfrm>
            <a:off x="496119" y="1281633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650"/>
              <a:buFont typeface="Geist"/>
              <a:buNone/>
            </a:pPr>
            <a:r>
              <a:rPr b="1" i="0" lang="en-US" sz="2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Validate the Core Mechanic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8"/>
          <p:cNvSpPr/>
          <p:nvPr/>
        </p:nvSpPr>
        <p:spPr>
          <a:xfrm>
            <a:off x="496119" y="2082478"/>
            <a:ext cx="3902943" cy="368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Goal: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Validate whether rebuilding mathematical reasoning could work as a game mechanic.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8"/>
          <p:cNvSpPr/>
          <p:nvPr/>
        </p:nvSpPr>
        <p:spPr>
          <a:xfrm>
            <a:off x="496119" y="2592735"/>
            <a:ext cx="3902943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Built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496119" y="2964805"/>
            <a:ext cx="3902943" cy="1119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JSON-driven questions and levels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Expression Parser &amp; Procedural Step Generator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Step Ordering gameplay with drag &amp; drop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Check / Next / Hint feedback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Complete question-to-question flow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4647605" y="1954932"/>
            <a:ext cx="4107135" cy="2178918"/>
          </a:xfrm>
          <a:prstGeom prst="roundRect">
            <a:avLst>
              <a:gd fmla="val 4685" name="adj"/>
            </a:avLst>
          </a:prstGeom>
          <a:solidFill>
            <a:srgbClr val="00D4FF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8"/>
          <p:cNvSpPr/>
          <p:nvPr/>
        </p:nvSpPr>
        <p:spPr>
          <a:xfrm>
            <a:off x="4789363" y="2096691"/>
            <a:ext cx="3823618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Key Result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4789363" y="2468761"/>
            <a:ext cx="3823618" cy="5527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A mathematical expression could become an </a:t>
            </a:r>
            <a:r>
              <a:rPr b="1" i="0" lang="en-US" sz="110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interactive step-ordering puzzle</a:t>
            </a:r>
            <a:r>
              <a:rPr b="0" i="0" lang="en-US" sz="1100" u="none" cap="none" strike="noStrike">
                <a:solidFill>
                  <a:srgbClr val="000000"/>
                </a:solidFill>
                <a:latin typeface="Geist"/>
                <a:ea typeface="Geist"/>
                <a:cs typeface="Geist"/>
                <a:sym typeface="Geist"/>
              </a:rPr>
              <a:t> without manually authoring its solution.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9"/>
          <p:cNvSpPr/>
          <p:nvPr/>
        </p:nvSpPr>
        <p:spPr>
          <a:xfrm>
            <a:off x="496119" y="406747"/>
            <a:ext cx="797719" cy="201885"/>
          </a:xfrm>
          <a:prstGeom prst="roundRect">
            <a:avLst>
              <a:gd fmla="val 22120" name="adj"/>
            </a:avLst>
          </a:prstGeom>
          <a:solidFill>
            <a:srgbClr val="0019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9"/>
          <p:cNvSpPr/>
          <p:nvPr/>
        </p:nvSpPr>
        <p:spPr>
          <a:xfrm>
            <a:off x="575816" y="446559"/>
            <a:ext cx="1095524" cy="122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800"/>
              <a:buFont typeface="Geist"/>
              <a:buNone/>
            </a:pPr>
            <a:r>
              <a:rPr b="0" i="0" lang="en-US" sz="8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M2 — SCALE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9"/>
          <p:cNvSpPr/>
          <p:nvPr/>
        </p:nvSpPr>
        <p:spPr>
          <a:xfrm>
            <a:off x="496119" y="658416"/>
            <a:ext cx="8151763" cy="431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500"/>
              <a:buFont typeface="Geist"/>
              <a:buNone/>
            </a:pPr>
            <a:r>
              <a:rPr b="1" i="0" lang="en-US" sz="25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Test Whether the System Could Scale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9"/>
          <p:cNvSpPr/>
          <p:nvPr/>
        </p:nvSpPr>
        <p:spPr>
          <a:xfrm>
            <a:off x="496119" y="1389236"/>
            <a:ext cx="3913808" cy="3347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1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Goal:</a:t>
            </a: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Test whether the core system could scale beyond a single gameplay prototype.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9"/>
          <p:cNvSpPr/>
          <p:nvPr/>
        </p:nvSpPr>
        <p:spPr>
          <a:xfrm>
            <a:off x="496119" y="1848520"/>
            <a:ext cx="3913808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Key Design Decision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9"/>
          <p:cNvSpPr/>
          <p:nvPr/>
        </p:nvSpPr>
        <p:spPr>
          <a:xfrm>
            <a:off x="496119" y="2189038"/>
            <a:ext cx="3913808" cy="5020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1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Keep authored content minimal.</a:t>
            </a: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Questions define the expression; the system generates the playable reasoning process.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9" name="Google Shape;10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8836" y="1417290"/>
            <a:ext cx="1894582" cy="135999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5586413" y="1494234"/>
            <a:ext cx="199355" cy="259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450"/>
              <a:buFont typeface="Geist"/>
              <a:buNone/>
            </a:pPr>
            <a:r>
              <a:rPr b="1" i="0" lang="en-US" sz="1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1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4886027" y="1954857"/>
            <a:ext cx="1600200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Content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4886027" y="2295376"/>
            <a:ext cx="1600200" cy="3347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12 Levels · 90 Questions · Progressive difficulty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3" name="Google Shape;11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57988" y="1417290"/>
            <a:ext cx="1894656" cy="135999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9"/>
          <p:cNvSpPr/>
          <p:nvPr/>
        </p:nvSpPr>
        <p:spPr>
          <a:xfrm>
            <a:off x="7605638" y="1494234"/>
            <a:ext cx="199355" cy="259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500"/>
              <a:buFont typeface="Geist"/>
              <a:buNone/>
            </a:pPr>
            <a:r>
              <a:rPr b="1" i="0" lang="en-US" sz="15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6905179" y="1954857"/>
            <a:ext cx="1600274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Systems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6905179" y="2295376"/>
            <a:ext cx="1600274" cy="3347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Improved human-readable Step Generation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7" name="Google Shape;11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38836" y="2901851"/>
            <a:ext cx="1894582" cy="169470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9"/>
          <p:cNvSpPr/>
          <p:nvPr/>
        </p:nvSpPr>
        <p:spPr>
          <a:xfrm>
            <a:off x="5586413" y="2978795"/>
            <a:ext cx="199355" cy="259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500"/>
              <a:buFont typeface="Geist"/>
              <a:buNone/>
            </a:pPr>
            <a:r>
              <a:rPr b="1" i="0" lang="en-US" sz="15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4886027" y="3439418"/>
            <a:ext cx="1600200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Flow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9"/>
          <p:cNvSpPr/>
          <p:nvPr/>
        </p:nvSpPr>
        <p:spPr>
          <a:xfrm>
            <a:off x="4886027" y="3779937"/>
            <a:ext cx="1600200" cy="3347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Home → Lobby → Level → Game → Results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1" name="Google Shape;12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57988" y="2901851"/>
            <a:ext cx="1894656" cy="1694706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9"/>
          <p:cNvSpPr/>
          <p:nvPr/>
        </p:nvSpPr>
        <p:spPr>
          <a:xfrm>
            <a:off x="7605638" y="2978795"/>
            <a:ext cx="199355" cy="259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500"/>
              <a:buFont typeface="Geist"/>
              <a:buNone/>
            </a:pPr>
            <a:r>
              <a:rPr b="1" i="0" lang="en-US" sz="15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9"/>
          <p:cNvSpPr/>
          <p:nvPr/>
        </p:nvSpPr>
        <p:spPr>
          <a:xfrm>
            <a:off x="6905179" y="3439418"/>
            <a:ext cx="1600274" cy="21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Polish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9"/>
          <p:cNvSpPr/>
          <p:nvPr/>
        </p:nvSpPr>
        <p:spPr>
          <a:xfrm>
            <a:off x="6905179" y="3779937"/>
            <a:ext cx="1600274" cy="669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00"/>
              <a:buFont typeface="Geist"/>
              <a:buNone/>
            </a:pPr>
            <a:r>
              <a:rPr b="0" i="0" lang="en-US" sz="10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Data-driven Level Cards · Responsive UI · Unified visual language · Lucide icons · SFX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0"/>
          <p:cNvSpPr/>
          <p:nvPr/>
        </p:nvSpPr>
        <p:spPr>
          <a:xfrm>
            <a:off x="496119" y="842888"/>
            <a:ext cx="921990" cy="215354"/>
          </a:xfrm>
          <a:prstGeom prst="roundRect">
            <a:avLst>
              <a:gd fmla="val 22119" name="adj"/>
            </a:avLst>
          </a:prstGeom>
          <a:solidFill>
            <a:srgbClr val="0019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0"/>
          <p:cNvSpPr/>
          <p:nvPr/>
        </p:nvSpPr>
        <p:spPr>
          <a:xfrm>
            <a:off x="581174" y="885379"/>
            <a:ext cx="1209080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M3 — EXTEND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496119" y="1114946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650"/>
              <a:buFont typeface="Geist"/>
              <a:buNone/>
            </a:pPr>
            <a:r>
              <a:rPr b="1" i="0" lang="en-US" sz="2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One Content Pipeline. Three Ways to Play.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496119" y="1788244"/>
            <a:ext cx="8608963" cy="184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Goal: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Prove the core architecture could support different learning interactions without duplicating mathematical content.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4" name="Google Shape;13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19" y="2131963"/>
            <a:ext cx="354360" cy="35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0"/>
          <p:cNvSpPr/>
          <p:nvPr/>
        </p:nvSpPr>
        <p:spPr>
          <a:xfrm>
            <a:off x="496119" y="2663503"/>
            <a:ext cx="2599134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Step Ordering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0"/>
          <p:cNvSpPr/>
          <p:nvPr/>
        </p:nvSpPr>
        <p:spPr>
          <a:xfrm>
            <a:off x="496119" y="2978869"/>
            <a:ext cx="2599134" cy="6378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1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Reconstruct the solution.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Drag complete steps into the correct sequence.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72433" y="2131963"/>
            <a:ext cx="354360" cy="35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0"/>
          <p:cNvSpPr/>
          <p:nvPr/>
        </p:nvSpPr>
        <p:spPr>
          <a:xfrm>
            <a:off x="3272433" y="2663503"/>
            <a:ext cx="2599134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Multi-Choice Ordering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3272433" y="2978869"/>
            <a:ext cx="2599134" cy="6378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1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Identify the next step.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Choose the correct transformation from plausible alternatives.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0" name="Google Shape;140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48747" y="2131963"/>
            <a:ext cx="354360" cy="35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0"/>
          <p:cNvSpPr/>
          <p:nvPr/>
        </p:nvSpPr>
        <p:spPr>
          <a:xfrm>
            <a:off x="6048747" y="2663503"/>
            <a:ext cx="2599134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Fill In the Process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/>
          <p:nvPr/>
        </p:nvSpPr>
        <p:spPr>
          <a:xfrm>
            <a:off x="6048747" y="2978869"/>
            <a:ext cx="2599134" cy="6378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1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Complete the reasoning.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Fill missing values inside an existing solution process.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/>
          <p:nvPr/>
        </p:nvSpPr>
        <p:spPr>
          <a:xfrm>
            <a:off x="496119" y="3776142"/>
            <a:ext cx="8151763" cy="524396"/>
          </a:xfrm>
          <a:prstGeom prst="roundRect">
            <a:avLst>
              <a:gd fmla="val 11354" name="adj"/>
            </a:avLst>
          </a:prstGeom>
          <a:solidFill>
            <a:srgbClr val="002A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4" name="Google Shape;144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7877" y="3957861"/>
            <a:ext cx="177180" cy="141759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0"/>
          <p:cNvSpPr/>
          <p:nvPr/>
        </p:nvSpPr>
        <p:spPr>
          <a:xfrm>
            <a:off x="956816" y="3953321"/>
            <a:ext cx="8006507" cy="184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Shared Foundation:</a:t>
            </a:r>
            <a:r>
              <a:rPr b="0" i="0" lang="en-US" sz="1100" u="none" cap="none" strike="noStrik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Same Questions → Same Parser → Same Step Generator → Different Interaction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"/>
          <p:cNvSpPr/>
          <p:nvPr/>
        </p:nvSpPr>
        <p:spPr>
          <a:xfrm>
            <a:off x="496119" y="494928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650"/>
              <a:buFont typeface="Geist"/>
              <a:buNone/>
            </a:pPr>
            <a:r>
              <a:rPr b="1" i="0" lang="en-US" sz="2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Playtest → Learn → Iterate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496119" y="1893317"/>
            <a:ext cx="2628230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The Problem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1"/>
          <p:cNvSpPr/>
          <p:nvPr/>
        </p:nvSpPr>
        <p:spPr>
          <a:xfrm>
            <a:off x="496119" y="2265387"/>
            <a:ext cx="2628230" cy="7369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Mathematically correct did </a:t>
            </a: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not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always mean pedagogically useful. Early procedural solutions sometimes contained: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/>
          <p:nvPr/>
        </p:nvSpPr>
        <p:spPr>
          <a:xfrm>
            <a:off x="496119" y="3129930"/>
            <a:ext cx="2628230" cy="8856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Unnatural decomposition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Redundant transformations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Unnecessary parentheses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Artificial intermediate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3474988" y="1309985"/>
            <a:ext cx="5177582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Design Response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3474988" y="1682055"/>
            <a:ext cx="5177582" cy="368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Stop optimizing for </a:t>
            </a:r>
            <a:r>
              <a:rPr b="0" i="1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minimum steps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. Instead, generate the </a:t>
            </a: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minimum number of meaningful, human-readable reasoning steps.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3474988" y="2245444"/>
            <a:ext cx="5177582" cy="19050"/>
          </a:xfrm>
          <a:prstGeom prst="roundRect">
            <a:avLst>
              <a:gd fmla="val 50000" name="adj"/>
            </a:avLst>
          </a:prstGeom>
          <a:solidFill>
            <a:srgbClr val="EBEDF0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8" name="Google Shape;15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988" y="2459385"/>
            <a:ext cx="5177582" cy="202971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1"/>
          <p:cNvSpPr/>
          <p:nvPr/>
        </p:nvSpPr>
        <p:spPr>
          <a:xfrm>
            <a:off x="3598973" y="2558926"/>
            <a:ext cx="947789" cy="1584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900"/>
              <a:buFont typeface="Geist"/>
              <a:buNone/>
            </a:pPr>
            <a:r>
              <a:rPr b="1" i="0" lang="en-US" sz="9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Build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1"/>
          <p:cNvSpPr/>
          <p:nvPr/>
        </p:nvSpPr>
        <p:spPr>
          <a:xfrm>
            <a:off x="7580701" y="2558926"/>
            <a:ext cx="947789" cy="1584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900"/>
              <a:buFont typeface="Geist"/>
              <a:buNone/>
            </a:pPr>
            <a:r>
              <a:rPr b="1" i="0" lang="en-US" sz="9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Play &amp; Observe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7580701" y="4231097"/>
            <a:ext cx="947789" cy="1584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900"/>
              <a:buFont typeface="Geist"/>
              <a:buNone/>
            </a:pPr>
            <a:r>
              <a:rPr b="1" i="0" lang="en-US" sz="9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Adjust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1"/>
          <p:cNvSpPr/>
          <p:nvPr/>
        </p:nvSpPr>
        <p:spPr>
          <a:xfrm>
            <a:off x="3598973" y="4231097"/>
            <a:ext cx="947789" cy="1584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900"/>
              <a:buFont typeface="Geist"/>
              <a:buNone/>
            </a:pPr>
            <a:r>
              <a:rPr b="1" i="0" lang="en-US" sz="90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Stabilize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2"/>
          <p:cNvSpPr/>
          <p:nvPr/>
        </p:nvSpPr>
        <p:spPr>
          <a:xfrm>
            <a:off x="496119" y="931441"/>
            <a:ext cx="1090166" cy="215354"/>
          </a:xfrm>
          <a:prstGeom prst="roundRect">
            <a:avLst>
              <a:gd fmla="val 22119" name="adj"/>
            </a:avLst>
          </a:prstGeom>
          <a:solidFill>
            <a:srgbClr val="0019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2"/>
          <p:cNvSpPr/>
          <p:nvPr/>
        </p:nvSpPr>
        <p:spPr>
          <a:xfrm>
            <a:off x="581174" y="973931"/>
            <a:ext cx="1377255" cy="130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850"/>
              <a:buFont typeface="Geist"/>
              <a:buNone/>
            </a:pPr>
            <a:r>
              <a:rPr b="0" i="0" lang="en-US" sz="8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M4 — COMPLETE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496119" y="1203499"/>
            <a:ext cx="8151763" cy="460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650"/>
              <a:buFont typeface="Geist"/>
              <a:buNone/>
            </a:pPr>
            <a:r>
              <a:rPr b="1" i="0" lang="en-US" sz="26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Persistence, Review &amp; Replay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496119" y="1876797"/>
            <a:ext cx="8608963" cy="184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Goal:</a:t>
            </a: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 Make player performance persist beyond a single Level and create reasons to review, improve, and replay.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496119" y="2220516"/>
            <a:ext cx="8151763" cy="1647825"/>
          </a:xfrm>
          <a:prstGeom prst="roundRect">
            <a:avLst>
              <a:gd fmla="val 3613" name="adj"/>
            </a:avLst>
          </a:prstGeom>
          <a:solidFill>
            <a:srgbClr val="101620"/>
          </a:solidFill>
          <a:ln cap="flat" cmpd="sng" w="14275">
            <a:solidFill>
              <a:srgbClr val="002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2"/>
          <p:cNvSpPr/>
          <p:nvPr/>
        </p:nvSpPr>
        <p:spPr>
          <a:xfrm>
            <a:off x="510406" y="2234803"/>
            <a:ext cx="4061594" cy="1619250"/>
          </a:xfrm>
          <a:custGeom>
            <a:rect b="b" l="l" r="r" t="t"/>
            <a:pathLst>
              <a:path extrusionOk="0" h="1619250" w="4061594">
                <a:moveTo>
                  <a:pt x="49619" y="0"/>
                </a:moveTo>
                <a:lnTo>
                  <a:pt x="4061594" y="0"/>
                </a:lnTo>
                <a:lnTo>
                  <a:pt x="4061594" y="1619250"/>
                </a:lnTo>
                <a:lnTo>
                  <a:pt x="49619" y="1619250"/>
                </a:lnTo>
                <a:cubicBezTo>
                  <a:pt x="22215" y="1619250"/>
                  <a:pt x="0" y="1597035"/>
                  <a:pt x="0" y="1569631"/>
                </a:cubicBezTo>
                <a:lnTo>
                  <a:pt x="0" y="49619"/>
                </a:lnTo>
                <a:cubicBezTo>
                  <a:pt x="0" y="22215"/>
                  <a:pt x="22215" y="0"/>
                  <a:pt x="49619" y="0"/>
                </a:cubicBezTo>
                <a:close/>
              </a:path>
            </a:pathLst>
          </a:custGeom>
          <a:solidFill>
            <a:srgbClr val="1016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"/>
          <p:cNvSpPr/>
          <p:nvPr/>
        </p:nvSpPr>
        <p:spPr>
          <a:xfrm>
            <a:off x="652165" y="2376562"/>
            <a:ext cx="3778076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Performance &amp; Review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52165" y="2691929"/>
            <a:ext cx="3778076" cy="8361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Question &amp; Level Score, 1–3 Star Rating, Limited Hints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Mistake Book with rule explanations &amp; correct solution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Random Mistake Practice mode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2"/>
          <p:cNvSpPr/>
          <p:nvPr/>
        </p:nvSpPr>
        <p:spPr>
          <a:xfrm>
            <a:off x="4572000" y="2234803"/>
            <a:ext cx="4061594" cy="1619250"/>
          </a:xfrm>
          <a:custGeom>
            <a:rect b="b" l="l" r="r" t="t"/>
            <a:pathLst>
              <a:path extrusionOk="0" h="1619250" w="4061594">
                <a:moveTo>
                  <a:pt x="0" y="0"/>
                </a:moveTo>
                <a:lnTo>
                  <a:pt x="4011975" y="0"/>
                </a:lnTo>
                <a:cubicBezTo>
                  <a:pt x="4025135" y="0"/>
                  <a:pt x="4037756" y="5228"/>
                  <a:pt x="4047061" y="14533"/>
                </a:cubicBezTo>
                <a:cubicBezTo>
                  <a:pt x="4056366" y="23838"/>
                  <a:pt x="4061594" y="36459"/>
                  <a:pt x="4061594" y="49619"/>
                </a:cubicBezTo>
                <a:lnTo>
                  <a:pt x="4061594" y="1569631"/>
                </a:lnTo>
                <a:cubicBezTo>
                  <a:pt x="4061594" y="1597035"/>
                  <a:pt x="4039379" y="1619250"/>
                  <a:pt x="4011975" y="1619250"/>
                </a:cubicBezTo>
                <a:lnTo>
                  <a:pt x="0" y="1619250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2"/>
          <p:cNvSpPr/>
          <p:nvPr/>
        </p:nvSpPr>
        <p:spPr>
          <a:xfrm>
            <a:off x="4572000" y="2234803"/>
            <a:ext cx="19050" cy="1619250"/>
          </a:xfrm>
          <a:prstGeom prst="roundRect">
            <a:avLst>
              <a:gd fmla="val 50000" name="adj"/>
            </a:avLst>
          </a:prstGeom>
          <a:solidFill>
            <a:srgbClr val="002A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2"/>
          <p:cNvSpPr/>
          <p:nvPr/>
        </p:nvSpPr>
        <p:spPr>
          <a:xfrm>
            <a:off x="4713759" y="2376562"/>
            <a:ext cx="3778076" cy="230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Persistence &amp; Replay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2"/>
          <p:cNvSpPr/>
          <p:nvPr/>
        </p:nvSpPr>
        <p:spPr>
          <a:xfrm>
            <a:off x="4713759" y="2691929"/>
            <a:ext cx="3778076" cy="10203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Versioned Local Save, Mode-specific progress, Best Scores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Zen Mode &amp; Survival Mode with persistent personal bests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3520" lvl="0" marL="22352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Char char="•"/>
            </a:pPr>
            <a:r>
              <a:rPr b="0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Settings, Language, Tutorial state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2"/>
          <p:cNvSpPr/>
          <p:nvPr/>
        </p:nvSpPr>
        <p:spPr>
          <a:xfrm>
            <a:off x="267519" y="4027810"/>
            <a:ext cx="8608963" cy="184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Play → Feedback → Results → Review → Practice → Improve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/>
          <p:nvPr/>
        </p:nvSpPr>
        <p:spPr>
          <a:xfrm>
            <a:off x="496119" y="416868"/>
            <a:ext cx="8151763" cy="446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550"/>
              <a:buFont typeface="Geist"/>
              <a:buNone/>
            </a:pPr>
            <a:r>
              <a:rPr b="1" i="0" lang="en-US" sz="25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The Final Build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3"/>
          <p:cNvSpPr/>
          <p:nvPr/>
        </p:nvSpPr>
        <p:spPr>
          <a:xfrm>
            <a:off x="496119" y="1197843"/>
            <a:ext cx="3992761" cy="4531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36 + 3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3"/>
          <p:cNvSpPr/>
          <p:nvPr/>
        </p:nvSpPr>
        <p:spPr>
          <a:xfrm>
            <a:off x="496119" y="1819349"/>
            <a:ext cx="3992761" cy="223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Levels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3"/>
          <p:cNvSpPr/>
          <p:nvPr/>
        </p:nvSpPr>
        <p:spPr>
          <a:xfrm>
            <a:off x="4655121" y="1197843"/>
            <a:ext cx="3992761" cy="4531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300+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3"/>
          <p:cNvSpPr/>
          <p:nvPr/>
        </p:nvSpPr>
        <p:spPr>
          <a:xfrm>
            <a:off x="4655121" y="1819349"/>
            <a:ext cx="3992761" cy="223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Questions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3"/>
          <p:cNvSpPr/>
          <p:nvPr/>
        </p:nvSpPr>
        <p:spPr>
          <a:xfrm>
            <a:off x="496119" y="2377157"/>
            <a:ext cx="3992761" cy="4531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3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3"/>
          <p:cNvSpPr/>
          <p:nvPr/>
        </p:nvSpPr>
        <p:spPr>
          <a:xfrm>
            <a:off x="496119" y="2998663"/>
            <a:ext cx="3992761" cy="223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Core Game Modes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3"/>
          <p:cNvSpPr/>
          <p:nvPr/>
        </p:nvSpPr>
        <p:spPr>
          <a:xfrm>
            <a:off x="4655121" y="2377157"/>
            <a:ext cx="3992761" cy="4531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2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3"/>
          <p:cNvSpPr/>
          <p:nvPr/>
        </p:nvSpPr>
        <p:spPr>
          <a:xfrm>
            <a:off x="4655121" y="2998663"/>
            <a:ext cx="3992761" cy="223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Replay Modes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3"/>
          <p:cNvSpPr/>
          <p:nvPr/>
        </p:nvSpPr>
        <p:spPr>
          <a:xfrm>
            <a:off x="496119" y="3556471"/>
            <a:ext cx="3992761" cy="4531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450"/>
              <a:buFont typeface="Geist"/>
              <a:buNone/>
            </a:pPr>
            <a:r>
              <a:rPr b="1" i="0" lang="en-US" sz="34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2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3"/>
          <p:cNvSpPr/>
          <p:nvPr/>
        </p:nvSpPr>
        <p:spPr>
          <a:xfrm>
            <a:off x="496119" y="4177978"/>
            <a:ext cx="3992761" cy="223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300"/>
              <a:buFont typeface="Geist"/>
              <a:buNone/>
            </a:pPr>
            <a:r>
              <a:rPr b="1" i="0" lang="en-US" sz="13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Languages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3"/>
          <p:cNvSpPr/>
          <p:nvPr/>
        </p:nvSpPr>
        <p:spPr>
          <a:xfrm>
            <a:off x="4655121" y="3556471"/>
            <a:ext cx="3992761" cy="4531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3400"/>
              <a:buFont typeface="Geist"/>
              <a:buNone/>
            </a:pPr>
            <a:r>
              <a:rPr b="1" i="0" lang="en-US" sz="34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1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3"/>
          <p:cNvSpPr/>
          <p:nvPr/>
        </p:nvSpPr>
        <p:spPr>
          <a:xfrm>
            <a:off x="4655121" y="4177978"/>
            <a:ext cx="3992761" cy="223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250"/>
              <a:buFont typeface="Geist"/>
              <a:buNone/>
            </a:pPr>
            <a:r>
              <a:rPr b="1" i="0" lang="en-US" sz="12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Shared Content Pipeline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267519" y="4550792"/>
            <a:ext cx="8608963" cy="175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050"/>
              <a:buFont typeface="Geist"/>
              <a:buNone/>
            </a:pPr>
            <a:r>
              <a:rPr b="0" i="0" lang="en-US" sz="105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Persistent Progress · Mistake Practice · Tutorials · Settings · Search &amp; Filters · Progressive Feedback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4"/>
          <p:cNvSpPr/>
          <p:nvPr/>
        </p:nvSpPr>
        <p:spPr>
          <a:xfrm>
            <a:off x="496119" y="440308"/>
            <a:ext cx="8151763" cy="38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F5FA"/>
              </a:buClr>
              <a:buSzPts val="2250"/>
              <a:buFont typeface="Geist"/>
              <a:buNone/>
            </a:pPr>
            <a:r>
              <a:rPr b="1" i="0" lang="en-US" sz="2250" u="none" cap="none" strike="noStrike">
                <a:solidFill>
                  <a:srgbClr val="F2F5FA"/>
                </a:solidFill>
                <a:latin typeface="Geist"/>
                <a:ea typeface="Geist"/>
                <a:cs typeface="Geist"/>
                <a:sym typeface="Geist"/>
              </a:rPr>
              <a:t>What I Learned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4"/>
          <p:cNvSpPr/>
          <p:nvPr/>
        </p:nvSpPr>
        <p:spPr>
          <a:xfrm>
            <a:off x="866105" y="1131243"/>
            <a:ext cx="3559969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Design for Iteration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4"/>
          <p:cNvSpPr/>
          <p:nvPr/>
        </p:nvSpPr>
        <p:spPr>
          <a:xfrm>
            <a:off x="866105" y="1426443"/>
            <a:ext cx="3559969" cy="143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Build the smallest complete experience, test it, then expand.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866105" y="1808857"/>
            <a:ext cx="3559969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Separate Content from Presentation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4"/>
          <p:cNvSpPr/>
          <p:nvPr/>
        </p:nvSpPr>
        <p:spPr>
          <a:xfrm>
            <a:off x="866105" y="2104058"/>
            <a:ext cx="3559969" cy="286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One mathematical content pipeline can support multiple gameplay experiences.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4"/>
          <p:cNvSpPr/>
          <p:nvPr/>
        </p:nvSpPr>
        <p:spPr>
          <a:xfrm>
            <a:off x="866105" y="2629719"/>
            <a:ext cx="3559969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Test Meaning, Not Only Correctness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866105" y="2924919"/>
            <a:ext cx="3559969" cy="286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 technically correct system can still produce a poor learning experience.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4"/>
          <p:cNvSpPr/>
          <p:nvPr/>
        </p:nvSpPr>
        <p:spPr>
          <a:xfrm>
            <a:off x="866105" y="3450580"/>
            <a:ext cx="3559969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Keep Every Milestone Playable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866105" y="3745781"/>
            <a:ext cx="3559969" cy="286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Each milestone should leave behind a stable, presentable build — not disconnected unfinished systems.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4722688" y="1081311"/>
            <a:ext cx="3929955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What's Next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4722688" y="1389087"/>
            <a:ext cx="239167" cy="155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 Ligh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 Light"/>
                <a:ea typeface="Geist Light"/>
                <a:cs typeface="Geist Light"/>
                <a:sym typeface="Geist Light"/>
              </a:rPr>
              <a:t>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4"/>
          <p:cNvSpPr/>
          <p:nvPr/>
        </p:nvSpPr>
        <p:spPr>
          <a:xfrm>
            <a:off x="4722688" y="1583978"/>
            <a:ext cx="3929955" cy="14288"/>
          </a:xfrm>
          <a:prstGeom prst="rect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4"/>
          <p:cNvSpPr/>
          <p:nvPr/>
        </p:nvSpPr>
        <p:spPr>
          <a:xfrm>
            <a:off x="4722688" y="1672307"/>
            <a:ext cx="3929955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4"/>
          <p:cNvSpPr/>
          <p:nvPr/>
        </p:nvSpPr>
        <p:spPr>
          <a:xfrm>
            <a:off x="4722688" y="1967508"/>
            <a:ext cx="3929955" cy="143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Analytics &amp; Adaptive Learning </a:t>
            </a:r>
            <a:r>
              <a:rPr lang="en-US" sz="90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(Behavior Tracking &amp; Personalized Practice)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4"/>
          <p:cNvSpPr/>
          <p:nvPr/>
        </p:nvSpPr>
        <p:spPr>
          <a:xfrm>
            <a:off x="4722688" y="2301329"/>
            <a:ext cx="239167" cy="155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 Ligh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 Light"/>
                <a:ea typeface="Geist Light"/>
                <a:cs typeface="Geist Light"/>
                <a:sym typeface="Geist Light"/>
              </a:rPr>
              <a:t>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722688" y="2484313"/>
            <a:ext cx="3929955" cy="14288"/>
          </a:xfrm>
          <a:prstGeom prst="rect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4"/>
          <p:cNvSpPr/>
          <p:nvPr/>
        </p:nvSpPr>
        <p:spPr>
          <a:xfrm>
            <a:off x="4722688" y="2584549"/>
            <a:ext cx="3929955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4"/>
          <p:cNvSpPr/>
          <p:nvPr/>
        </p:nvSpPr>
        <p:spPr>
          <a:xfrm>
            <a:off x="4722688" y="2879750"/>
            <a:ext cx="3929955" cy="143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Content Authoring Pipeline (CSV/</a:t>
            </a:r>
            <a:r>
              <a:rPr lang="en-US" sz="90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JSON Upload &amp; Visual Content Editor)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4"/>
          <p:cNvSpPr/>
          <p:nvPr/>
        </p:nvSpPr>
        <p:spPr>
          <a:xfrm>
            <a:off x="4722688" y="3213571"/>
            <a:ext cx="239167" cy="155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 Ligh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 Light"/>
                <a:ea typeface="Geist Light"/>
                <a:cs typeface="Geist Light"/>
                <a:sym typeface="Geist Light"/>
              </a:rPr>
              <a:t>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4"/>
          <p:cNvSpPr/>
          <p:nvPr/>
        </p:nvSpPr>
        <p:spPr>
          <a:xfrm>
            <a:off x="4722688" y="3384575"/>
            <a:ext cx="3929955" cy="14288"/>
          </a:xfrm>
          <a:prstGeom prst="rect">
            <a:avLst/>
          </a:prstGeom>
          <a:solidFill>
            <a:srgbClr val="487C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4"/>
          <p:cNvSpPr/>
          <p:nvPr/>
        </p:nvSpPr>
        <p:spPr>
          <a:xfrm>
            <a:off x="4722688" y="3496791"/>
            <a:ext cx="3929955" cy="194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1100"/>
              <a:buFont typeface="Geist"/>
              <a:buNone/>
            </a:pPr>
            <a:r>
              <a:rPr b="1" i="0" lang="en-US" sz="11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M7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"/>
          <p:cNvSpPr/>
          <p:nvPr/>
        </p:nvSpPr>
        <p:spPr>
          <a:xfrm>
            <a:off x="4722688" y="3791992"/>
            <a:ext cx="3929955" cy="143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DF0"/>
              </a:buClr>
              <a:buSzPts val="900"/>
              <a:buFont typeface="Geist"/>
              <a:buNone/>
            </a:pP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Guided Smart Tutor (AI Teaching Assistan</a:t>
            </a:r>
            <a:r>
              <a:rPr lang="en-US" sz="900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t</a:t>
            </a:r>
            <a:r>
              <a:rPr b="0" i="0" lang="en-US" sz="900" u="none" cap="none" strike="noStrike">
                <a:solidFill>
                  <a:srgbClr val="EBEDF0"/>
                </a:solidFill>
                <a:latin typeface="Geist"/>
                <a:ea typeface="Geist"/>
                <a:cs typeface="Geist"/>
                <a:sym typeface="Geist"/>
              </a:rPr>
              <a:t>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4722688" y="4132436"/>
            <a:ext cx="3929955" cy="14288"/>
          </a:xfrm>
          <a:prstGeom prst="roundRect">
            <a:avLst>
              <a:gd fmla="val 49998" name="adj"/>
            </a:avLst>
          </a:prstGeom>
          <a:solidFill>
            <a:srgbClr val="EBEDF0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4"/>
          <p:cNvSpPr/>
          <p:nvPr/>
        </p:nvSpPr>
        <p:spPr>
          <a:xfrm>
            <a:off x="4722688" y="4325838"/>
            <a:ext cx="3929955" cy="286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Geist"/>
              <a:buNone/>
            </a:pPr>
            <a:r>
              <a:rPr b="1" i="1" lang="en-US" sz="900" u="none" cap="none" strike="noStrike">
                <a:solidFill>
                  <a:srgbClr val="00D4FF"/>
                </a:solidFill>
                <a:latin typeface="Geist"/>
                <a:ea typeface="Geist"/>
                <a:cs typeface="Geist"/>
                <a:sym typeface="Geist"/>
              </a:rPr>
              <a:t>MathSmith was built as an extensible foundation — not a one-off prototype.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